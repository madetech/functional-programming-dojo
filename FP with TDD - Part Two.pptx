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Rubik" pitchFamily="34" charset="0"/>
      <p:regular r:id="rId24"/>
      <p:bold r:id="rId25"/>
    </p:embeddedFont>
    <p:embeddedFont>
      <p:font typeface="JetBrains Mono" panose="02000009000000000000" pitchFamily="49" charset="0"/>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from the break. Section numbers carry on from Part One, so “the Section 4 bug” means the bowling bug from this morning. Check that everyone has Node.js and Elm installed before starting; anyone blocked can pair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minutes of teaching plus a retro planned at 20 minutes (flex it between 15 and 30 depending on how the day has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is 20 minutes: 10 setup, 10 primer. Either language would work; for a first taste of FP in 90 minutes, having the compiler do the policing is a big advantage. If your apprentices’ employers use Elixir, you can swap in Elixir with ExUnit; the kata and discussions work unchanged, but budget extra setup time. Whichever you choose, test the setup on a locked-down machine before the day; a pre-configured Codespace or dev container is the best plan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Elm needs Node.js; on a Mac, brew install node is the easiest route and avoids npm permission problems. Ask learners to install Node before the day if you can: doing it in the room eats most of these 10 minutes and is the step most likely to be blocked on a work laptop. Early finishers: read the generated tests/Example.elm, then help someone who is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functions have no brackets, commas or return; the function is the expression. Names are bound once, so immutability is enforced. if is an expression that always returns a value, which is why else is mandatory. Maybe replaces None, so no “NoneType has no attribute” crashes. Lists hold one type: [ 1, 2 ]. ++ joins strings and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annotations like sumAll : List Int -&gt; Int read “takes a list of Ints, returns an Int”; optional but checked by the compiler. sumAll is the recursion from Section 2 with the base case spelled out. List.head returns a Maybe because an empty list has no head. Try it in elm repl: import Primer exposing (..), then doubleAll [ 1, 2, 3 ], sumAll [ 10, 20, 30 ], firstOrZero []. Discussion (2 min): what does Elm stop you doing that Python allows? Annoying, comforting, or both? Don’t teach more syntax than this: the kata only needs lists, tuples, case, recursion, String functions and the test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is 35 minutes: 5 briefing, 30 pairs. Why this kata: it’s a different shape from Bowling. No state, no game, just one pure function from a number to text, which suits a language where pure is the only option. No need to handle 0, negative numbers or anything above 3999.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programming is two people at one computer; ping-pong pairing suits TDD because the red-green rhythm decides whose turn it is. Swap the keyboard at every new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tests/RomanNumeralsTest.elm holds the helper and the first test only; src/RomanNumerals.elm holds the stub. The helper is a small FP example in itself: a function that returns a test, used like data in a list. Run elm-test from the roman-numerals folder; elm-test --watch re-runs on every save, which keeps ping-pong pairing quick. If elm-test isn’t found, npx elm-test works without a global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 at step 7: think of a list of pairs like ( 1000, "M" ), ( 900, "CM" ), largest first. Is the number at least as big as the first value? Write the symbol and subtract. If not, move down the table. Elm syntax hint: case table of [] -&gt; … ; ( value, symbol ) :: smallerEntries -&gt; … Pitfalls: forgetting else (Elm’s if always needs one); treating a compiler error as failure. The compiler is your first test: read its message aloud to your partner before touching anything. Stretch: fromRoman : String -&gt; Int, then check fromRoman (toRoman n) == n for 1 to 3999. Hold back the reference solution until pairs finish; a tested copy is in Part 8 - Roman Numericals.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only after pairs have finished or time is up. If you want to show the reference solution, it’s in the facilitator guide (Section 8) and as a tested project in Part 8 - Roman Numericals, with 16 passing tests. Ask pairs who stayed with special cases what they’d do next with another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per demo plus a minute of feedback, for up to 5 pairs. Model good feedback on the first demo. Evidence for S1: a photo of the screen, the feedback received, and two sentences on what they’d change about how they presented. In a bigger group, run a gallery walk instead: pairs rotate between laptops in 3-minute slots, same feedback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 is 10 minutes, mostly discussion. Neither column wins outright: the point is a decision rule for choosing. Learners’ evidence (K7, K20, K4) is their notes comparing the two and the rule they’d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question 3: Elm has no mutable shared list, so the shared-state bug itself couldn’t be written. But the compiler wouldn’t stop a wrong scoring rule, an off-by-one in the frame count or a misunderstood requirement; tests still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Supports S16, B2 and S14; the completed log entry is the evidence. Pitfall: “it was fine”. Push for specifics: which moment was hardest, and what did you do next? Sharing questions: when you were stuck on syntax, what did the tests give you? Would you have learned Elm faster or slower without TDD? What did you reach for that Elm didn’t have? Common answers: a small next step, a safety net while refactoring, proof the earlier cases still worked. If the room says TDD was slower, agree: for the first twenty minutes it often is. Ask whether it stayed slower once they’d found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the retro between 15 and 30 minutes depending on the day. Make “Stop” safe and thank people for criticism. Evidence for B1 and B2: a photo of the board and each person’s sentence “One thing I’ll do differently after this retro is…”. Discussion: what’s one practice from today your team would benefit from, and what would stop them adopting it? What did the group do well together, and what would you change about how we worked as a mob or in pairs? Write down whatever feedback you get on the session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to the KSB evidence table at the end of the workshop guide, so everyone knows what to save from today: commits, bug-hunt notes, photos and learning-log entries. Exercism’s tracks are free and test-driven, so they continue the TDD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21744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APPRENTICE WORKSHOP · PART TWO</a:t>
            </a:r>
            <a:endParaRPr lang="en-US" sz="1200" dirty="0"/>
          </a:p>
        </p:txBody>
      </p:sp>
      <p:sp>
        <p:nvSpPr>
          <p:cNvPr id="3" name="Text 1"/>
          <p:cNvSpPr/>
          <p:nvPr>
            <p:ph type="title"/>
          </p:nvPr>
        </p:nvSpPr>
        <p:spPr>
          <a:xfrm>
            <a:off x="812800" y="268476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BFAF6"/>
                </a:solidFill>
                <a:latin typeface="Rubik" pitchFamily="34" charset="0"/>
                <a:ea typeface="Rubik" pitchFamily="34" charset="-122"/>
                <a:cs typeface="Rubik" pitchFamily="34" charset="-120"/>
              </a:rPr>
              <a:t>A Functional Language</a:t>
            </a:r>
            <a:endParaRPr lang="en-US" sz="6000" dirty="0"/>
          </a:p>
        </p:txBody>
      </p:sp>
      <p:sp>
        <p:nvSpPr>
          <p:cNvPr id="4" name="Text 2"/>
          <p:cNvSpPr/>
          <p:nvPr/>
        </p:nvSpPr>
        <p:spPr>
          <a:xfrm>
            <a:off x="812800" y="373886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0E6"/>
                </a:solidFill>
                <a:latin typeface="Rubik" pitchFamily="34" charset="0"/>
                <a:ea typeface="Rubik" pitchFamily="34" charset="-122"/>
                <a:cs typeface="Rubik" pitchFamily="34" charset="-120"/>
              </a:rPr>
              <a:t>The same ideas in Elm, where the compiler enforces them.</a:t>
            </a:r>
            <a:endParaRPr lang="en-US" sz="2200" dirty="0"/>
          </a:p>
        </p:txBody>
      </p:sp>
      <p:sp>
        <p:nvSpPr>
          <p:cNvPr id="5" name="Text 3"/>
          <p:cNvSpPr/>
          <p:nvPr/>
        </p:nvSpPr>
        <p:spPr>
          <a:xfrm>
            <a:off x="812800" y="435600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1½ hours plus a retro · Sections 7–12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THIS SESSION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Five sections and a retro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3074690"/>
        </p:xfrm>
        <a:graphic>
          <a:graphicData uri="http://schemas.openxmlformats.org/drawingml/2006/table">
            <a:tbl>
              <a:tblPr/>
              <a:tblGrid>
                <a:gridCol w="1477518"/>
                <a:gridCol w="7176516"/>
                <a:gridCol w="1899666"/>
              </a:tblGrid>
              <a:tr h="439241">
                <a:tc>
                  <a:txBody>
                    <a:bodyPr/>
                    <a:lstStyle/>
                    <a:p>
                      <a:pPr indent="0" marL="0">
                        <a:lnSpc>
                          <a:spcPts val="2240"/>
                        </a:lnSpc>
                        <a:buNone/>
                      </a:pPr>
                      <a:r>
                        <a:rPr lang="en-US" sz="1600" b="1" dirty="0">
                          <a:solidFill>
                            <a:srgbClr val="3D4A5C"/>
                          </a:solidFill>
                          <a:latin typeface="Rubik" pitchFamily="34" charset="0"/>
                          <a:ea typeface="Rubik" pitchFamily="34" charset="-122"/>
                          <a:cs typeface="Rubik" pitchFamily="34" charset="-120"/>
                        </a:rPr>
                        <a:t>Section</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2240"/>
                        </a:lnSpc>
                        <a:buNone/>
                      </a:pPr>
                      <a:r>
                        <a:rPr lang="en-US" sz="1600" b="1" dirty="0">
                          <a:solidFill>
                            <a:srgbClr val="3D4A5C"/>
                          </a:solidFill>
                          <a:latin typeface="Rubik" pitchFamily="34" charset="0"/>
                          <a:ea typeface="Rubik" pitchFamily="34" charset="-122"/>
                          <a:cs typeface="Rubik" pitchFamily="34" charset="-120"/>
                        </a:rPr>
                        <a:t>What we’ll do</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algn="r" indent="0" marL="0">
                        <a:lnSpc>
                          <a:spcPts val="2240"/>
                        </a:lnSpc>
                        <a:buNone/>
                      </a:pPr>
                      <a:r>
                        <a:rPr lang="en-US" sz="1600" b="1" dirty="0">
                          <a:solidFill>
                            <a:srgbClr val="3D4A5C"/>
                          </a:solidFill>
                          <a:latin typeface="Rubik" pitchFamily="34" charset="0"/>
                          <a:ea typeface="Rubik" pitchFamily="34" charset="-122"/>
                          <a:cs typeface="Rubik" pitchFamily="34" charset="-120"/>
                        </a:rPr>
                        <a:t>Minutes</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7</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Meet Elm: setup and a syntax primer</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20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8</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Roman Numerals: a pair-programming TDD kata</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35</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9</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Show and tell</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15</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10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A functional language versus FP in Python</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10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11</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Reflection</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10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12</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Retrospective</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20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7 · MEET ELM</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Why Elm, not Elixir?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2315766"/>
        </p:xfrm>
        <a:graphic>
          <a:graphicData uri="http://schemas.openxmlformats.org/drawingml/2006/table">
            <a:tbl>
              <a:tblPr/>
              <a:tblGrid>
                <a:gridCol w="2321814"/>
                <a:gridCol w="4115943"/>
                <a:gridCol w="4115943"/>
              </a:tblGrid>
              <a:tr h="385961">
                <a:tc>
                  <a:txBody>
                    <a:bodyPr/>
                    <a:lstStyle/>
                    <a:p>
                      <a:pPr indent="0" marL="0">
                        <a:lnSpc>
                          <a:spcPts val="1960"/>
                        </a:lnSpc>
                        <a:buNone/>
                      </a:pP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Elm</a:t>
                      </a:r>
                      <a:endParaRPr lang="en-US" sz="1400" dirty="0">
                        <a:latin typeface="Rubik" charset="0"/>
                        <a:ea typeface="Rubik" charset="0"/>
                        <a:cs typeface="Rubik" charset="0"/>
                      </a:endParaRPr>
                    </a:p>
                  </a:txBody>
                  <a:tcPr marL="62230" marR="62230" marT="62230" marB="6223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Elixir</a:t>
                      </a:r>
                      <a:endParaRPr lang="en-US" sz="1400" dirty="0">
                        <a:latin typeface="Rubik" charset="0"/>
                        <a:ea typeface="Rubik" charset="0"/>
                        <a:cs typeface="Rubik" charset="0"/>
                      </a:endParaRPr>
                    </a:p>
                  </a:txBody>
                  <a:tcPr marL="62230" marR="62230" marT="62230" marB="6223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Setup</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Two npm packages, five minutes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Erlang, Elixir and a version manager</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Purity</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Enforced by the compiler</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Mostly; side effects are close by</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Types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Static: mistakes caught before running</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Dynamic</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Error messages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Famously friendly</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Good, but terser</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Downsides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Front-end focus, small ecosystem</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More to learn before FP clicks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5" name="Text 2"/>
          <p:cNvSpPr/>
          <p:nvPr/>
        </p:nvSpPr>
        <p:spPr>
          <a:xfrm>
            <a:off x="812800" y="4568627"/>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Elm is the “immutability is enforced, not a discipline” language from Section 5.</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ACTIVITY · SOLO, THEN HELP A NEIGHBOUR · 10 MINUTES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Set up Elm</a:t>
            </a:r>
            <a:endParaRPr lang="en-US" sz="3600" dirty="0"/>
          </a:p>
        </p:txBody>
      </p:sp>
      <p:sp>
        <p:nvSpPr>
          <p:cNvPr id="4" name="Text 2"/>
          <p:cNvSpPr/>
          <p:nvPr/>
        </p:nvSpPr>
        <p:spPr>
          <a:xfrm>
            <a:off x="812800" y="1884561"/>
            <a:ext cx="6256834" cy="2908300"/>
          </a:xfrm>
          <a:prstGeom prst="roundRect">
            <a:avLst>
              <a:gd name="adj" fmla="val 3493"/>
            </a:avLst>
          </a:prstGeom>
          <a:solidFill>
            <a:srgbClr val="14213D"/>
          </a:solidFill>
          <a:ln/>
        </p:spPr>
        <p:txBody>
          <a:bodyPr wrap="none" lIns="224242" tIns="224242" rIns="51777" bIns="198842" rtlCol="0" anchor="t">
            <a:normAutofit/>
          </a:bodyPr>
          <a:lstStyle/>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node --version</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npm install --global elm elm-test</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elm --version    # 0.19.something</a:t>
            </a:r>
            <a:endParaRPr lang="en-US" sz="1400" dirty="0"/>
          </a:p>
          <a:p>
            <a:pPr algn="l" indent="0" marL="0">
              <a:lnSpc>
                <a:spcPts val="2100"/>
              </a:lnSpc>
              <a:buNone/>
            </a:pP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mkdir roman-numerals</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cd roman-numerals</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elm init         # answer y</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elm-test init    # answer y</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elm-test</a:t>
            </a:r>
            <a:endParaRPr lang="en-US" sz="1400" dirty="0"/>
          </a:p>
        </p:txBody>
      </p:sp>
      <p:sp>
        <p:nvSpPr>
          <p:cNvPr id="5" name="Shape 3"/>
          <p:cNvSpPr/>
          <p:nvPr/>
        </p:nvSpPr>
        <p:spPr>
          <a:xfrm>
            <a:off x="7276009" y="1887736"/>
            <a:ext cx="4100016" cy="1301651"/>
          </a:xfrm>
          <a:prstGeom prst="roundRect">
            <a:avLst>
              <a:gd name="adj" fmla="val 7562"/>
            </a:avLst>
          </a:prstGeom>
          <a:solidFill>
            <a:srgbClr val="FFFEFB"/>
          </a:solidFill>
          <a:ln w="6350">
            <a:solidFill>
              <a:srgbClr val="D5DBE3"/>
            </a:solidFill>
            <a:prstDash val="solid"/>
          </a:ln>
        </p:spPr>
      </p:sp>
      <p:sp>
        <p:nvSpPr>
          <p:cNvPr id="6" name="Text 4"/>
          <p:cNvSpPr/>
          <p:nvPr/>
        </p:nvSpPr>
        <p:spPr>
          <a:xfrm>
            <a:off x="7482384" y="2094111"/>
            <a:ext cx="37978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You’re ready when</a:t>
            </a:r>
            <a:endParaRPr lang="en-US" sz="1600" dirty="0"/>
          </a:p>
        </p:txBody>
      </p:sp>
      <p:sp>
        <p:nvSpPr>
          <p:cNvPr id="7" name="Text 5"/>
          <p:cNvSpPr/>
          <p:nvPr/>
        </p:nvSpPr>
        <p:spPr>
          <a:xfrm>
            <a:off x="7482384" y="2414091"/>
            <a:ext cx="379788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You have src/, tests/ and elm.json, and elm-test runs.</a:t>
            </a:r>
            <a:endParaRPr lang="en-US" sz="1600" dirty="0"/>
          </a:p>
        </p:txBody>
      </p:sp>
      <p:sp>
        <p:nvSpPr>
          <p:cNvPr id="8" name="Shape 6"/>
          <p:cNvSpPr/>
          <p:nvPr/>
        </p:nvSpPr>
        <p:spPr>
          <a:xfrm>
            <a:off x="7272834" y="3344962"/>
            <a:ext cx="4106366" cy="1295301"/>
          </a:xfrm>
          <a:prstGeom prst="roundRect">
            <a:avLst>
              <a:gd name="adj" fmla="val 7844"/>
            </a:avLst>
          </a:prstGeom>
          <a:solidFill>
            <a:srgbClr val="FFF3E6"/>
          </a:solidFill>
          <a:ln/>
        </p:spPr>
      </p:sp>
      <p:sp>
        <p:nvSpPr>
          <p:cNvPr id="9" name="Shape 7"/>
          <p:cNvSpPr/>
          <p:nvPr/>
        </p:nvSpPr>
        <p:spPr>
          <a:xfrm>
            <a:off x="7272834" y="3344962"/>
            <a:ext cx="4106366" cy="1295301"/>
          </a:xfrm>
          <a:custGeom>
            <a:avLst/>
            <a:gdLst/>
            <a:ahLst/>
            <a:cxnLst/>
            <a:rect l="l" t="t" r="r" b="b"/>
            <a:pathLst>
              <a:path w="4106366" h="1295301">
                <a:moveTo>
                  <a:pt x="101600" y="1295301"/>
                </a:moveTo>
                <a:lnTo>
                  <a:pt x="101600" y="1295301"/>
                </a:lnTo>
                <a:arcTo hR="101600" wR="101600" stAng="5400000" swAng="5400000"/>
                <a:lnTo>
                  <a:pt x="0" y="101600"/>
                </a:lnTo>
                <a:arcTo hR="101600" wR="101600" stAng="10800000" swAng="5400000"/>
                <a:lnTo>
                  <a:pt x="101600" y="0"/>
                </a:lnTo>
                <a:arcTo hR="101600" wR="63500" stAng="16200000" swAng="-5400000"/>
                <a:lnTo>
                  <a:pt x="38100" y="1193701"/>
                </a:lnTo>
                <a:arcTo hR="101600" wR="63500" stAng="10800000" swAng="-5400000"/>
                <a:close/>
              </a:path>
            </a:pathLst>
          </a:custGeom>
          <a:solidFill>
            <a:srgbClr val="A84A14"/>
          </a:solidFill>
          <a:ln/>
        </p:spPr>
      </p:sp>
      <p:sp>
        <p:nvSpPr>
          <p:cNvPr id="10" name="Text 8"/>
          <p:cNvSpPr/>
          <p:nvPr/>
        </p:nvSpPr>
        <p:spPr>
          <a:xfrm>
            <a:off x="7514134" y="3548162"/>
            <a:ext cx="377172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A14"/>
                </a:solidFill>
                <a:latin typeface="Rubik" pitchFamily="34" charset="0"/>
                <a:ea typeface="Rubik" pitchFamily="34" charset="-122"/>
                <a:cs typeface="Rubik" pitchFamily="34" charset="-120"/>
              </a:rPr>
              <a:t>Permission errors?</a:t>
            </a:r>
            <a:endParaRPr lang="en-US" sz="1600" dirty="0"/>
          </a:p>
        </p:txBody>
      </p:sp>
      <p:sp>
        <p:nvSpPr>
          <p:cNvPr id="11" name="Text 9"/>
          <p:cNvSpPr/>
          <p:nvPr/>
        </p:nvSpPr>
        <p:spPr>
          <a:xfrm>
            <a:off x="7514134" y="3868142"/>
            <a:ext cx="377172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Don’t use sudo. Try npx elm-test and ask for help.</a:t>
            </a:r>
            <a:endParaRPr lang="en-US" sz="16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7 · SYNTAX PRIMER</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From Python to Elm</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3087688"/>
        </p:xfrm>
        <a:graphic>
          <a:graphicData uri="http://schemas.openxmlformats.org/drawingml/2006/table">
            <a:tbl>
              <a:tblPr/>
              <a:tblGrid>
                <a:gridCol w="5276850"/>
                <a:gridCol w="5276850"/>
              </a:tblGrid>
              <a:tr h="385961">
                <a:tc>
                  <a:txBody>
                    <a:bodyPr/>
                    <a:lstStyle/>
                    <a:p>
                      <a:pPr indent="0" marL="0">
                        <a:lnSpc>
                          <a:spcPts val="1960"/>
                        </a:lnSpc>
                        <a:buNone/>
                      </a:pPr>
                      <a:r>
                        <a:rPr lang="en-US" sz="1400" b="1" dirty="0">
                          <a:solidFill>
                            <a:srgbClr val="14213D"/>
                          </a:solidFill>
                          <a:latin typeface="JetBrains Mono" pitchFamily="49" charset="0"/>
                          <a:ea typeface="JetBrains Mono" pitchFamily="49" charset="-122"/>
                          <a:cs typeface="JetBrains Mono" pitchFamily="49" charset="-120"/>
                        </a:rPr>
                        <a:t>Python</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1960"/>
                        </a:lnSpc>
                        <a:buNone/>
                      </a:pPr>
                      <a:r>
                        <a:rPr lang="en-US" sz="1400" b="1" dirty="0">
                          <a:solidFill>
                            <a:srgbClr val="14213D"/>
                          </a:solidFill>
                          <a:latin typeface="JetBrains Mono" pitchFamily="49" charset="0"/>
                          <a:ea typeface="JetBrains Mono" pitchFamily="49" charset="-122"/>
                          <a:cs typeface="JetBrains Mono" pitchFamily="49" charset="-120"/>
                        </a:rPr>
                        <a:t>Elm</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r>
              <a:tr h="385961">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def add(a, b): return a + 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add a b = a + 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x = 5, later x = 6</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not allowed: bound once</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for / while</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List.map, List.filter, recursion</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if / else statements</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if … then … else (else required)</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None</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Maybe: Just 5 or Nothing</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"a" + "b"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"a" ++ "b"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 comment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 comment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5" name="Text 2"/>
          <p:cNvSpPr/>
          <p:nvPr/>
        </p:nvSpPr>
        <p:spPr>
          <a:xfrm>
            <a:off x="812800" y="5340548"/>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No loops, no reassignment, no null. Elm looks odd for ten minutes, then looks calm.</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7 · SYNTAX PRIMER</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Reading src/Primer.elm</a:t>
            </a:r>
            <a:endParaRPr lang="en-US" sz="3600" dirty="0"/>
          </a:p>
        </p:txBody>
      </p:sp>
      <p:sp>
        <p:nvSpPr>
          <p:cNvPr id="4" name="Text 2"/>
          <p:cNvSpPr/>
          <p:nvPr/>
        </p:nvSpPr>
        <p:spPr>
          <a:xfrm>
            <a:off x="812800" y="1884561"/>
            <a:ext cx="5181600" cy="2387600"/>
          </a:xfrm>
          <a:prstGeom prst="roundRect">
            <a:avLst>
              <a:gd name="adj" fmla="val 4255"/>
            </a:avLst>
          </a:prstGeom>
          <a:solidFill>
            <a:srgbClr val="14213D"/>
          </a:solidFill>
          <a:ln/>
        </p:spPr>
        <p:txBody>
          <a:bodyPr wrap="none" lIns="224242" tIns="173442" rIns="84034" bIns="148042" rtlCol="0" anchor="t">
            <a:normAutofit/>
          </a:bodyPr>
          <a:lstStyle/>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sumAll : List Int -&gt; Int</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sumAll numbers =</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case numbers of</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 -&gt;</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0</a:t>
            </a:r>
            <a:endParaRPr lang="en-US" sz="1300" dirty="0"/>
          </a:p>
          <a:p>
            <a:pPr algn="l" indent="0" marL="0">
              <a:lnSpc>
                <a:spcPts val="1950"/>
              </a:lnSpc>
              <a:buNone/>
            </a:pP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first :: rest -&gt;</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first + sumAll rest</a:t>
            </a:r>
            <a:endParaRPr lang="en-US" sz="1300" dirty="0"/>
          </a:p>
        </p:txBody>
      </p:sp>
      <p:sp>
        <p:nvSpPr>
          <p:cNvPr id="5" name="Text 3"/>
          <p:cNvSpPr/>
          <p:nvPr/>
        </p:nvSpPr>
        <p:spPr>
          <a:xfrm>
            <a:off x="6197600" y="1884561"/>
            <a:ext cx="5181600" cy="2387600"/>
          </a:xfrm>
          <a:prstGeom prst="roundRect">
            <a:avLst>
              <a:gd name="adj" fmla="val 4255"/>
            </a:avLst>
          </a:prstGeom>
          <a:solidFill>
            <a:srgbClr val="14213D"/>
          </a:solidFill>
          <a:ln/>
        </p:spPr>
        <p:txBody>
          <a:bodyPr wrap="none" lIns="224242" tIns="173442" rIns="84034" bIns="148042" rtlCol="0" anchor="t">
            <a:normAutofit/>
          </a:bodyPr>
          <a:lstStyle/>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doubleAll : List Int -&gt; List Int</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doubleAll numbers =</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List.map double numbers</a:t>
            </a:r>
            <a:endParaRPr lang="en-US" sz="1300" dirty="0"/>
          </a:p>
          <a:p>
            <a:pPr algn="l" indent="0" marL="0">
              <a:lnSpc>
                <a:spcPts val="1950"/>
              </a:lnSpc>
              <a:buNone/>
            </a:pP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firstOrZero : List Int -&gt; Int</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firstOrZero numbers =</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List.head numbers</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|&gt; Maybe.withDefault 0</a:t>
            </a:r>
            <a:endParaRPr lang="en-US" sz="1300" dirty="0"/>
          </a:p>
        </p:txBody>
      </p:sp>
      <p:sp>
        <p:nvSpPr>
          <p:cNvPr id="6" name="Text 4"/>
          <p:cNvSpPr/>
          <p:nvPr/>
        </p:nvSpPr>
        <p:spPr>
          <a:xfrm>
            <a:off x="812800" y="4526161"/>
            <a:ext cx="533704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D4A5C"/>
                </a:solidFill>
                <a:latin typeface="Rubik" pitchFamily="34" charset="0"/>
                <a:ea typeface="Rubik" pitchFamily="34" charset="-122"/>
                <a:cs typeface="Rubik" pitchFamily="34" charset="-120"/>
              </a:rPr>
              <a:t>case … of</a:t>
            </a:r>
            <a:r>
              <a:rPr lang="en-US" sz="1600" dirty="0">
                <a:solidFill>
                  <a:srgbClr val="3D4A5C"/>
                </a:solidFill>
                <a:latin typeface="Rubik" pitchFamily="34" charset="0"/>
                <a:ea typeface="Rubik" pitchFamily="34" charset="-122"/>
                <a:cs typeface="Rubik" pitchFamily="34" charset="-120"/>
              </a:rPr>
              <a:t> is pattern matching: empty list, or first and rest.</a:t>
            </a:r>
            <a:endParaRPr lang="en-US" sz="1600" dirty="0"/>
          </a:p>
        </p:txBody>
      </p:sp>
      <p:sp>
        <p:nvSpPr>
          <p:cNvPr id="7" name="Text 5"/>
          <p:cNvSpPr/>
          <p:nvPr/>
        </p:nvSpPr>
        <p:spPr>
          <a:xfrm>
            <a:off x="6197600" y="4526161"/>
            <a:ext cx="533704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D4A5C"/>
                </a:solidFill>
                <a:latin typeface="Rubik" pitchFamily="34" charset="0"/>
                <a:ea typeface="Rubik" pitchFamily="34" charset="-122"/>
                <a:cs typeface="Rubik" pitchFamily="34" charset="-120"/>
              </a:rPr>
              <a:t>|&gt;</a:t>
            </a:r>
            <a:r>
              <a:rPr lang="en-US" sz="1600" dirty="0">
                <a:solidFill>
                  <a:srgbClr val="3D4A5C"/>
                </a:solidFill>
                <a:latin typeface="Rubik" pitchFamily="34" charset="0"/>
                <a:ea typeface="Rubik" pitchFamily="34" charset="-122"/>
                <a:cs typeface="Rubik" pitchFamily="34" charset="-120"/>
              </a:rPr>
              <a:t> is the pipe: feed the left into the right. </a:t>
            </a:r>
            <a:r>
              <a:rPr lang="en-US" sz="1600" b="1" dirty="0">
                <a:solidFill>
                  <a:srgbClr val="3D4A5C"/>
                </a:solidFill>
                <a:latin typeface="Rubik" pitchFamily="34" charset="0"/>
                <a:ea typeface="Rubik" pitchFamily="34" charset="-122"/>
                <a:cs typeface="Rubik" pitchFamily="34" charset="-120"/>
              </a:rPr>
              <a:t>Maybe</a:t>
            </a:r>
            <a:r>
              <a:rPr lang="en-US" sz="1600" dirty="0">
                <a:solidFill>
                  <a:srgbClr val="3D4A5C"/>
                </a:solidFill>
                <a:latin typeface="Rubik" pitchFamily="34" charset="0"/>
                <a:ea typeface="Rubik" pitchFamily="34" charset="-122"/>
                <a:cs typeface="Rubik" pitchFamily="34" charset="-120"/>
              </a:rPr>
              <a:t> forces you to handle “no value”.</a:t>
            </a:r>
            <a:endParaRPr lang="en-US" sz="16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8 · PAIR-PROGRAMMING TDD KATA</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Roman Numerals: toRoman : Int -&gt; String</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2661"/>
          <a:ext cx="10553700" cy="878483"/>
        </p:xfrm>
        <a:graphic>
          <a:graphicData uri="http://schemas.openxmlformats.org/drawingml/2006/table">
            <a:tbl>
              <a:tblPr/>
              <a:tblGrid>
                <a:gridCol w="1688592"/>
                <a:gridCol w="1266444"/>
                <a:gridCol w="1266444"/>
                <a:gridCol w="1266444"/>
                <a:gridCol w="1266444"/>
                <a:gridCol w="1266444"/>
                <a:gridCol w="1266444"/>
                <a:gridCol w="1266444"/>
              </a:tblGrid>
              <a:tr h="439241">
                <a:tc>
                  <a:txBody>
                    <a:bodyPr/>
                    <a:lstStyle/>
                    <a:p>
                      <a:pPr indent="0" marL="0">
                        <a:lnSpc>
                          <a:spcPts val="2240"/>
                        </a:lnSpc>
                        <a:buNone/>
                      </a:pPr>
                      <a:r>
                        <a:rPr lang="en-US" sz="1600" b="1" dirty="0">
                          <a:solidFill>
                            <a:srgbClr val="14213D"/>
                          </a:solidFill>
                          <a:latin typeface="Rubik" pitchFamily="34" charset="0"/>
                          <a:ea typeface="Rubik" pitchFamily="34" charset="-122"/>
                          <a:cs typeface="Rubik" pitchFamily="34" charset="-120"/>
                        </a:rPr>
                        <a:t>Symbol</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algn="ctr" indent="0" marL="0">
                        <a:lnSpc>
                          <a:spcPts val="2240"/>
                        </a:lnSpc>
                        <a:buNone/>
                      </a:pPr>
                      <a:r>
                        <a:rPr lang="en-US" sz="1600" b="1" dirty="0">
                          <a:solidFill>
                            <a:srgbClr val="14213D"/>
                          </a:solidFill>
                          <a:latin typeface="Rubik" pitchFamily="34" charset="0"/>
                          <a:ea typeface="Rubik" pitchFamily="34" charset="-122"/>
                          <a:cs typeface="Rubik" pitchFamily="34" charset="-120"/>
                        </a:rPr>
                        <a:t>I</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algn="ctr" indent="0" marL="0">
                        <a:lnSpc>
                          <a:spcPts val="2240"/>
                        </a:lnSpc>
                        <a:buNone/>
                      </a:pPr>
                      <a:r>
                        <a:rPr lang="en-US" sz="1600" b="1" dirty="0">
                          <a:solidFill>
                            <a:srgbClr val="14213D"/>
                          </a:solidFill>
                          <a:latin typeface="Rubik" pitchFamily="34" charset="0"/>
                          <a:ea typeface="Rubik" pitchFamily="34" charset="-122"/>
                          <a:cs typeface="Rubik" pitchFamily="34" charset="-120"/>
                        </a:rPr>
                        <a:t>V</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algn="ctr" indent="0" marL="0">
                        <a:lnSpc>
                          <a:spcPts val="2240"/>
                        </a:lnSpc>
                        <a:buNone/>
                      </a:pPr>
                      <a:r>
                        <a:rPr lang="en-US" sz="1600" b="1" dirty="0">
                          <a:solidFill>
                            <a:srgbClr val="14213D"/>
                          </a:solidFill>
                          <a:latin typeface="Rubik" pitchFamily="34" charset="0"/>
                          <a:ea typeface="Rubik" pitchFamily="34" charset="-122"/>
                          <a:cs typeface="Rubik" pitchFamily="34" charset="-120"/>
                        </a:rPr>
                        <a:t>X</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algn="ctr" indent="0" marL="0">
                        <a:lnSpc>
                          <a:spcPts val="2240"/>
                        </a:lnSpc>
                        <a:buNone/>
                      </a:pPr>
                      <a:r>
                        <a:rPr lang="en-US" sz="1600" b="1" dirty="0">
                          <a:solidFill>
                            <a:srgbClr val="14213D"/>
                          </a:solidFill>
                          <a:latin typeface="Rubik" pitchFamily="34" charset="0"/>
                          <a:ea typeface="Rubik" pitchFamily="34" charset="-122"/>
                          <a:cs typeface="Rubik" pitchFamily="34" charset="-120"/>
                        </a:rPr>
                        <a:t>L</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algn="ctr" indent="0" marL="0">
                        <a:lnSpc>
                          <a:spcPts val="2240"/>
                        </a:lnSpc>
                        <a:buNone/>
                      </a:pPr>
                      <a:r>
                        <a:rPr lang="en-US" sz="1600" b="1" dirty="0">
                          <a:solidFill>
                            <a:srgbClr val="14213D"/>
                          </a:solidFill>
                          <a:latin typeface="Rubik" pitchFamily="34" charset="0"/>
                          <a:ea typeface="Rubik" pitchFamily="34" charset="-122"/>
                          <a:cs typeface="Rubik" pitchFamily="34" charset="-120"/>
                        </a:rPr>
                        <a:t>C</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algn="ctr" indent="0" marL="0">
                        <a:lnSpc>
                          <a:spcPts val="2240"/>
                        </a:lnSpc>
                        <a:buNone/>
                      </a:pPr>
                      <a:r>
                        <a:rPr lang="en-US" sz="1600" b="1" dirty="0">
                          <a:solidFill>
                            <a:srgbClr val="14213D"/>
                          </a:solidFill>
                          <a:latin typeface="Rubik" pitchFamily="34" charset="0"/>
                          <a:ea typeface="Rubik" pitchFamily="34" charset="-122"/>
                          <a:cs typeface="Rubik" pitchFamily="34" charset="-120"/>
                        </a:rPr>
                        <a:t>D</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algn="ctr" indent="0" marL="0">
                        <a:lnSpc>
                          <a:spcPts val="2240"/>
                        </a:lnSpc>
                        <a:buNone/>
                      </a:pPr>
                      <a:r>
                        <a:rPr lang="en-US" sz="1600" b="1" dirty="0">
                          <a:solidFill>
                            <a:srgbClr val="14213D"/>
                          </a:solidFill>
                          <a:latin typeface="Rubik" pitchFamily="34" charset="0"/>
                          <a:ea typeface="Rubik" pitchFamily="34" charset="-122"/>
                          <a:cs typeface="Rubik" pitchFamily="34" charset="-120"/>
                        </a:rPr>
                        <a:t>M</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r>
              <a:tr h="439241">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Value</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ctr" indent="0" marL="0">
                        <a:lnSpc>
                          <a:spcPts val="2240"/>
                        </a:lnSpc>
                        <a:buNone/>
                      </a:pPr>
                      <a:r>
                        <a:rPr lang="en-US" sz="1600" dirty="0">
                          <a:solidFill>
                            <a:srgbClr val="14213D"/>
                          </a:solidFill>
                          <a:latin typeface="Rubik" pitchFamily="34" charset="0"/>
                          <a:ea typeface="Rubik" pitchFamily="34" charset="-122"/>
                          <a:cs typeface="Rubik" pitchFamily="34" charset="-120"/>
                        </a:rPr>
                        <a:t>1</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ctr" indent="0" marL="0">
                        <a:lnSpc>
                          <a:spcPts val="2240"/>
                        </a:lnSpc>
                        <a:buNone/>
                      </a:pPr>
                      <a:r>
                        <a:rPr lang="en-US" sz="1600" dirty="0">
                          <a:solidFill>
                            <a:srgbClr val="14213D"/>
                          </a:solidFill>
                          <a:latin typeface="Rubik" pitchFamily="34" charset="0"/>
                          <a:ea typeface="Rubik" pitchFamily="34" charset="-122"/>
                          <a:cs typeface="Rubik" pitchFamily="34" charset="-120"/>
                        </a:rPr>
                        <a:t>5</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ctr" indent="0" marL="0">
                        <a:lnSpc>
                          <a:spcPts val="2240"/>
                        </a:lnSpc>
                        <a:buNone/>
                      </a:pPr>
                      <a:r>
                        <a:rPr lang="en-US" sz="1600" dirty="0">
                          <a:solidFill>
                            <a:srgbClr val="14213D"/>
                          </a:solidFill>
                          <a:latin typeface="Rubik" pitchFamily="34" charset="0"/>
                          <a:ea typeface="Rubik" pitchFamily="34" charset="-122"/>
                          <a:cs typeface="Rubik" pitchFamily="34" charset="-120"/>
                        </a:rPr>
                        <a:t>10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ctr" indent="0" marL="0">
                        <a:lnSpc>
                          <a:spcPts val="2240"/>
                        </a:lnSpc>
                        <a:buNone/>
                      </a:pPr>
                      <a:r>
                        <a:rPr lang="en-US" sz="1600" dirty="0">
                          <a:solidFill>
                            <a:srgbClr val="14213D"/>
                          </a:solidFill>
                          <a:latin typeface="Rubik" pitchFamily="34" charset="0"/>
                          <a:ea typeface="Rubik" pitchFamily="34" charset="-122"/>
                          <a:cs typeface="Rubik" pitchFamily="34" charset="-120"/>
                        </a:rPr>
                        <a:t>50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ctr" indent="0" marL="0">
                        <a:lnSpc>
                          <a:spcPts val="2240"/>
                        </a:lnSpc>
                        <a:buNone/>
                      </a:pPr>
                      <a:r>
                        <a:rPr lang="en-US" sz="1600" dirty="0">
                          <a:solidFill>
                            <a:srgbClr val="14213D"/>
                          </a:solidFill>
                          <a:latin typeface="Rubik" pitchFamily="34" charset="0"/>
                          <a:ea typeface="Rubik" pitchFamily="34" charset="-122"/>
                          <a:cs typeface="Rubik" pitchFamily="34" charset="-120"/>
                        </a:rPr>
                        <a:t>100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ctr" indent="0" marL="0">
                        <a:lnSpc>
                          <a:spcPts val="2240"/>
                        </a:lnSpc>
                        <a:buNone/>
                      </a:pPr>
                      <a:r>
                        <a:rPr lang="en-US" sz="1600" dirty="0">
                          <a:solidFill>
                            <a:srgbClr val="14213D"/>
                          </a:solidFill>
                          <a:latin typeface="Rubik" pitchFamily="34" charset="0"/>
                          <a:ea typeface="Rubik" pitchFamily="34" charset="-122"/>
                          <a:cs typeface="Rubik" pitchFamily="34" charset="-120"/>
                        </a:rPr>
                        <a:t>500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ctr" indent="0" marL="0">
                        <a:lnSpc>
                          <a:spcPts val="2240"/>
                        </a:lnSpc>
                        <a:buNone/>
                      </a:pPr>
                      <a:r>
                        <a:rPr lang="en-US" sz="1600" dirty="0">
                          <a:solidFill>
                            <a:srgbClr val="14213D"/>
                          </a:solidFill>
                          <a:latin typeface="Rubik" pitchFamily="34" charset="0"/>
                          <a:ea typeface="Rubik" pitchFamily="34" charset="-122"/>
                          <a:cs typeface="Rubik" pitchFamily="34" charset="-120"/>
                        </a:rPr>
                        <a:t>1000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5" name="Shape 2"/>
          <p:cNvSpPr/>
          <p:nvPr/>
        </p:nvSpPr>
        <p:spPr>
          <a:xfrm>
            <a:off x="815975" y="3083719"/>
            <a:ext cx="3414117" cy="1017191"/>
          </a:xfrm>
          <a:prstGeom prst="roundRect">
            <a:avLst>
              <a:gd name="adj" fmla="val 9676"/>
            </a:avLst>
          </a:prstGeom>
          <a:solidFill>
            <a:srgbClr val="FFFEFB"/>
          </a:solidFill>
          <a:ln w="6350">
            <a:solidFill>
              <a:srgbClr val="E2DED5"/>
            </a:solidFill>
            <a:prstDash val="solid"/>
          </a:ln>
        </p:spPr>
      </p:sp>
      <p:sp>
        <p:nvSpPr>
          <p:cNvPr id="6" name="Text 3"/>
          <p:cNvSpPr/>
          <p:nvPr/>
        </p:nvSpPr>
        <p:spPr>
          <a:xfrm>
            <a:off x="1022350" y="3290094"/>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Add, largest first</a:t>
            </a:r>
            <a:endParaRPr lang="en-US" sz="1600" dirty="0"/>
          </a:p>
        </p:txBody>
      </p:sp>
      <p:sp>
        <p:nvSpPr>
          <p:cNvPr id="7" name="Text 4"/>
          <p:cNvSpPr/>
          <p:nvPr/>
        </p:nvSpPr>
        <p:spPr>
          <a:xfrm>
            <a:off x="1022350" y="3610074"/>
            <a:ext cx="30914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VIII = 5 + 1 + 1 + 1 = 8</a:t>
            </a:r>
            <a:endParaRPr lang="en-US" sz="1600" dirty="0"/>
          </a:p>
        </p:txBody>
      </p:sp>
      <p:sp>
        <p:nvSpPr>
          <p:cNvPr id="8" name="Shape 5"/>
          <p:cNvSpPr/>
          <p:nvPr/>
        </p:nvSpPr>
        <p:spPr>
          <a:xfrm>
            <a:off x="4388842" y="3083719"/>
            <a:ext cx="3414216" cy="1017191"/>
          </a:xfrm>
          <a:prstGeom prst="roundRect">
            <a:avLst>
              <a:gd name="adj" fmla="val 9676"/>
            </a:avLst>
          </a:prstGeom>
          <a:solidFill>
            <a:srgbClr val="FFFEFB"/>
          </a:solidFill>
          <a:ln w="6350">
            <a:solidFill>
              <a:srgbClr val="E2DED5"/>
            </a:solidFill>
            <a:prstDash val="solid"/>
          </a:ln>
        </p:spPr>
      </p:sp>
      <p:sp>
        <p:nvSpPr>
          <p:cNvPr id="9" name="Text 6"/>
          <p:cNvSpPr/>
          <p:nvPr/>
        </p:nvSpPr>
        <p:spPr>
          <a:xfrm>
            <a:off x="4595217" y="3290094"/>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Three in a row, at most</a:t>
            </a:r>
            <a:endParaRPr lang="en-US" sz="1600" dirty="0"/>
          </a:p>
        </p:txBody>
      </p:sp>
      <p:sp>
        <p:nvSpPr>
          <p:cNvPr id="10" name="Text 7"/>
          <p:cNvSpPr/>
          <p:nvPr/>
        </p:nvSpPr>
        <p:spPr>
          <a:xfrm>
            <a:off x="4595217" y="3610074"/>
            <a:ext cx="30915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III is 3, but 4 is never IIII</a:t>
            </a:r>
            <a:endParaRPr lang="en-US" sz="1600" dirty="0"/>
          </a:p>
        </p:txBody>
      </p:sp>
      <p:sp>
        <p:nvSpPr>
          <p:cNvPr id="11" name="Shape 8"/>
          <p:cNvSpPr/>
          <p:nvPr/>
        </p:nvSpPr>
        <p:spPr>
          <a:xfrm>
            <a:off x="7961809" y="3083719"/>
            <a:ext cx="3414216" cy="1017191"/>
          </a:xfrm>
          <a:prstGeom prst="roundRect">
            <a:avLst>
              <a:gd name="adj" fmla="val 9676"/>
            </a:avLst>
          </a:prstGeom>
          <a:solidFill>
            <a:srgbClr val="FFFEFB"/>
          </a:solidFill>
          <a:ln w="6350">
            <a:solidFill>
              <a:srgbClr val="E2DED5"/>
            </a:solidFill>
            <a:prstDash val="solid"/>
          </a:ln>
        </p:spPr>
      </p:sp>
      <p:sp>
        <p:nvSpPr>
          <p:cNvPr id="12" name="Text 9"/>
          <p:cNvSpPr/>
          <p:nvPr/>
        </p:nvSpPr>
        <p:spPr>
          <a:xfrm>
            <a:off x="8168184" y="3290094"/>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Six pairs subtract</a:t>
            </a:r>
            <a:endParaRPr lang="en-US" sz="1600" dirty="0"/>
          </a:p>
        </p:txBody>
      </p:sp>
      <p:sp>
        <p:nvSpPr>
          <p:cNvPr id="13" name="Text 10"/>
          <p:cNvSpPr/>
          <p:nvPr/>
        </p:nvSpPr>
        <p:spPr>
          <a:xfrm>
            <a:off x="8168184" y="3610074"/>
            <a:ext cx="30915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IV, IX, XL, XC, CD, CM</a:t>
            </a:r>
            <a:endParaRPr lang="en-US" sz="1600" dirty="0"/>
          </a:p>
        </p:txBody>
      </p:sp>
      <p:sp>
        <p:nvSpPr>
          <p:cNvPr id="14" name="Text 11"/>
          <p:cNvSpPr/>
          <p:nvPr/>
        </p:nvSpPr>
        <p:spPr>
          <a:xfrm>
            <a:off x="812800" y="4383484"/>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Example: 1994 = 1000 + 900 + 90 + 4 = </a:t>
            </a:r>
            <a:r>
              <a:rPr lang="en-US" sz="1600" b="1" dirty="0">
                <a:solidFill>
                  <a:srgbClr val="3D4A5C"/>
                </a:solidFill>
                <a:latin typeface="Rubik" pitchFamily="34" charset="0"/>
                <a:ea typeface="Rubik" pitchFamily="34" charset="-122"/>
                <a:cs typeface="Rubik" pitchFamily="34" charset="-120"/>
              </a:rPr>
              <a:t>MCMXCIV</a:t>
            </a:r>
            <a:r>
              <a:rPr lang="en-US" sz="1600" dirty="0">
                <a:solidFill>
                  <a:srgbClr val="3D4A5C"/>
                </a:solidFill>
                <a:latin typeface="Rubik" pitchFamily="34" charset="0"/>
                <a:ea typeface="Rubik" pitchFamily="34" charset="-122"/>
                <a:cs typeface="Rubik" pitchFamily="34" charset="-120"/>
              </a:rPr>
              <a:t>. Numbers 1 to 3999 only.</a:t>
            </a:r>
            <a:endParaRPr lang="en-US" sz="16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8 · HOW TO PAIR</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Ping-pong pairing</a:t>
            </a:r>
            <a:endParaRPr lang="en-US" sz="3600" dirty="0"/>
          </a:p>
        </p:txBody>
      </p:sp>
      <p:sp>
        <p:nvSpPr>
          <p:cNvPr id="4" name="Shape 2"/>
          <p:cNvSpPr/>
          <p:nvPr/>
        </p:nvSpPr>
        <p:spPr>
          <a:xfrm>
            <a:off x="815975" y="1938536"/>
            <a:ext cx="3143250" cy="1641971"/>
          </a:xfrm>
          <a:prstGeom prst="roundRect">
            <a:avLst>
              <a:gd name="adj" fmla="val 5994"/>
            </a:avLst>
          </a:prstGeom>
          <a:solidFill>
            <a:srgbClr val="FFFEFB"/>
          </a:solidFill>
          <a:ln w="6350">
            <a:solidFill>
              <a:srgbClr val="E2DED5"/>
            </a:solidFill>
            <a:prstDash val="solid"/>
          </a:ln>
        </p:spPr>
      </p:sp>
      <p:sp>
        <p:nvSpPr>
          <p:cNvPr id="5" name="Text 3"/>
          <p:cNvSpPr/>
          <p:nvPr/>
        </p:nvSpPr>
        <p:spPr>
          <a:xfrm>
            <a:off x="1047750" y="2170311"/>
            <a:ext cx="27600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A14"/>
                </a:solidFill>
                <a:latin typeface="Rubik" pitchFamily="34" charset="0"/>
                <a:ea typeface="Rubik" pitchFamily="34" charset="-122"/>
                <a:cs typeface="Rubik" pitchFamily="34" charset="-120"/>
              </a:rPr>
              <a:t>1 · PERSON A</a:t>
            </a:r>
            <a:endParaRPr lang="en-US" sz="1200" dirty="0"/>
          </a:p>
        </p:txBody>
      </p:sp>
      <p:sp>
        <p:nvSpPr>
          <p:cNvPr id="6" name="Text 4"/>
          <p:cNvSpPr/>
          <p:nvPr/>
        </p:nvSpPr>
        <p:spPr>
          <a:xfrm>
            <a:off x="1047750" y="2459831"/>
            <a:ext cx="27600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Red</a:t>
            </a:r>
            <a:endParaRPr lang="en-US" sz="1600" dirty="0"/>
          </a:p>
        </p:txBody>
      </p:sp>
      <p:sp>
        <p:nvSpPr>
          <p:cNvPr id="7" name="Text 5"/>
          <p:cNvSpPr/>
          <p:nvPr/>
        </p:nvSpPr>
        <p:spPr>
          <a:xfrm>
            <a:off x="1047750" y="2779812"/>
            <a:ext cx="276009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Writes a failing test and passes the keyboard.</a:t>
            </a:r>
            <a:endParaRPr lang="en-US" sz="1600" dirty="0"/>
          </a:p>
        </p:txBody>
      </p:sp>
      <p:pic>
        <p:nvPicPr>
          <p:cNvPr id="8" name="Image 0" descr="arrow-right">    </p:cNvPr>
          <p:cNvPicPr>
            <a:picLocks noChangeAspect="1"/>
          </p:cNvPicPr>
          <p:nvPr/>
        </p:nvPicPr>
        <p:blipFill>
          <a:blip r:embed="rId1"/>
          <a:srcRect l="0" r="0" t="0" b="0"/>
          <a:stretch/>
        </p:blipFill>
        <p:spPr>
          <a:xfrm>
            <a:off x="4064000" y="2670572"/>
            <a:ext cx="355600" cy="177800"/>
          </a:xfrm>
          <a:prstGeom prst="rect">
            <a:avLst/>
          </a:prstGeom>
        </p:spPr>
      </p:pic>
      <p:sp>
        <p:nvSpPr>
          <p:cNvPr id="9" name="Shape 6"/>
          <p:cNvSpPr/>
          <p:nvPr/>
        </p:nvSpPr>
        <p:spPr>
          <a:xfrm>
            <a:off x="4524375" y="1938536"/>
            <a:ext cx="3143250" cy="1641971"/>
          </a:xfrm>
          <a:prstGeom prst="roundRect">
            <a:avLst>
              <a:gd name="adj" fmla="val 5994"/>
            </a:avLst>
          </a:prstGeom>
          <a:solidFill>
            <a:srgbClr val="FFFEFB"/>
          </a:solidFill>
          <a:ln w="6350">
            <a:solidFill>
              <a:srgbClr val="E2DED5"/>
            </a:solidFill>
            <a:prstDash val="solid"/>
          </a:ln>
        </p:spPr>
      </p:sp>
      <p:sp>
        <p:nvSpPr>
          <p:cNvPr id="10" name="Text 7"/>
          <p:cNvSpPr/>
          <p:nvPr/>
        </p:nvSpPr>
        <p:spPr>
          <a:xfrm>
            <a:off x="4756150" y="2170311"/>
            <a:ext cx="27600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A14"/>
                </a:solidFill>
                <a:latin typeface="Rubik" pitchFamily="34" charset="0"/>
                <a:ea typeface="Rubik" pitchFamily="34" charset="-122"/>
                <a:cs typeface="Rubik" pitchFamily="34" charset="-120"/>
              </a:rPr>
              <a:t>2 · PERSON B</a:t>
            </a:r>
            <a:endParaRPr lang="en-US" sz="1200" dirty="0"/>
          </a:p>
        </p:txBody>
      </p:sp>
      <p:sp>
        <p:nvSpPr>
          <p:cNvPr id="11" name="Text 8"/>
          <p:cNvSpPr/>
          <p:nvPr/>
        </p:nvSpPr>
        <p:spPr>
          <a:xfrm>
            <a:off x="4756150" y="2459831"/>
            <a:ext cx="27600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Green, then refactor</a:t>
            </a:r>
            <a:endParaRPr lang="en-US" sz="1600" dirty="0"/>
          </a:p>
        </p:txBody>
      </p:sp>
      <p:sp>
        <p:nvSpPr>
          <p:cNvPr id="12" name="Text 9"/>
          <p:cNvSpPr/>
          <p:nvPr/>
        </p:nvSpPr>
        <p:spPr>
          <a:xfrm>
            <a:off x="4756150" y="2779812"/>
            <a:ext cx="276009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Smallest change to pass. Then tidy up together.</a:t>
            </a:r>
            <a:endParaRPr lang="en-US" sz="1600" dirty="0"/>
          </a:p>
        </p:txBody>
      </p:sp>
      <p:pic>
        <p:nvPicPr>
          <p:cNvPr id="13" name="Image 1" descr="arrow-right">    </p:cNvPr>
          <p:cNvPicPr>
            <a:picLocks noChangeAspect="1"/>
          </p:cNvPicPr>
          <p:nvPr/>
        </p:nvPicPr>
        <p:blipFill>
          <a:blip r:embed="rId2"/>
          <a:srcRect l="0" r="0" t="0" b="0"/>
          <a:stretch/>
        </p:blipFill>
        <p:spPr>
          <a:xfrm>
            <a:off x="7772400" y="2670572"/>
            <a:ext cx="355600" cy="177800"/>
          </a:xfrm>
          <a:prstGeom prst="rect">
            <a:avLst/>
          </a:prstGeom>
        </p:spPr>
      </p:pic>
      <p:sp>
        <p:nvSpPr>
          <p:cNvPr id="14" name="Shape 10"/>
          <p:cNvSpPr/>
          <p:nvPr/>
        </p:nvSpPr>
        <p:spPr>
          <a:xfrm>
            <a:off x="8232775" y="1938536"/>
            <a:ext cx="3143250" cy="1641971"/>
          </a:xfrm>
          <a:prstGeom prst="roundRect">
            <a:avLst>
              <a:gd name="adj" fmla="val 5994"/>
            </a:avLst>
          </a:prstGeom>
          <a:solidFill>
            <a:srgbClr val="FFFEFB"/>
          </a:solidFill>
          <a:ln w="6350">
            <a:solidFill>
              <a:srgbClr val="E2DED5"/>
            </a:solidFill>
            <a:prstDash val="solid"/>
          </a:ln>
        </p:spPr>
      </p:sp>
      <p:sp>
        <p:nvSpPr>
          <p:cNvPr id="15" name="Text 11"/>
          <p:cNvSpPr/>
          <p:nvPr/>
        </p:nvSpPr>
        <p:spPr>
          <a:xfrm>
            <a:off x="8464550" y="2170311"/>
            <a:ext cx="27600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A14"/>
                </a:solidFill>
                <a:latin typeface="Rubik" pitchFamily="34" charset="0"/>
                <a:ea typeface="Rubik" pitchFamily="34" charset="-122"/>
                <a:cs typeface="Rubik" pitchFamily="34" charset="-120"/>
              </a:rPr>
              <a:t>3 · PERSON B</a:t>
            </a:r>
            <a:endParaRPr lang="en-US" sz="1200" dirty="0"/>
          </a:p>
        </p:txBody>
      </p:sp>
      <p:sp>
        <p:nvSpPr>
          <p:cNvPr id="16" name="Text 12"/>
          <p:cNvSpPr/>
          <p:nvPr/>
        </p:nvSpPr>
        <p:spPr>
          <a:xfrm>
            <a:off x="8464550" y="2459831"/>
            <a:ext cx="27600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Red again</a:t>
            </a:r>
            <a:endParaRPr lang="en-US" sz="1600" dirty="0"/>
          </a:p>
        </p:txBody>
      </p:sp>
      <p:sp>
        <p:nvSpPr>
          <p:cNvPr id="17" name="Text 13"/>
          <p:cNvSpPr/>
          <p:nvPr/>
        </p:nvSpPr>
        <p:spPr>
          <a:xfrm>
            <a:off x="8464550" y="2779812"/>
            <a:ext cx="276009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Writes the next failing test. The keyboard goes back.</a:t>
            </a:r>
            <a:endParaRPr lang="en-US" sz="1600" dirty="0"/>
          </a:p>
        </p:txBody>
      </p:sp>
      <p:sp>
        <p:nvSpPr>
          <p:cNvPr id="18" name="Text 14"/>
          <p:cNvSpPr/>
          <p:nvPr/>
        </p:nvSpPr>
        <p:spPr>
          <a:xfrm>
            <a:off x="812800" y="3888482"/>
            <a:ext cx="10883392"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4213D"/>
                </a:solidFill>
                <a:latin typeface="Rubik" pitchFamily="34" charset="0"/>
                <a:ea typeface="Rubik" pitchFamily="34" charset="-122"/>
                <a:cs typeface="Rubik" pitchFamily="34" charset="-120"/>
              </a:rPr>
              <a:t>Talk constantly. Silent pairing is just taking turns.</a:t>
            </a:r>
            <a:endParaRPr lang="en-US" sz="2200" dirty="0"/>
          </a:p>
        </p:txBody>
      </p:sp>
      <p:sp>
        <p:nvSpPr>
          <p:cNvPr id="19"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8 · GETTING STARTED</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One helper, one line per test</a:t>
            </a:r>
            <a:endParaRPr lang="en-US" sz="3600" dirty="0"/>
          </a:p>
        </p:txBody>
      </p:sp>
      <p:sp>
        <p:nvSpPr>
          <p:cNvPr id="4" name="Text 2"/>
          <p:cNvSpPr/>
          <p:nvPr/>
        </p:nvSpPr>
        <p:spPr>
          <a:xfrm>
            <a:off x="812800" y="1884561"/>
            <a:ext cx="6572746" cy="3130550"/>
          </a:xfrm>
          <a:prstGeom prst="roundRect">
            <a:avLst>
              <a:gd name="adj" fmla="val 3245"/>
            </a:avLst>
          </a:prstGeom>
          <a:solidFill>
            <a:srgbClr val="14213D"/>
          </a:solidFill>
          <a:ln/>
        </p:spPr>
        <p:txBody>
          <a:bodyPr wrap="none" lIns="224242" tIns="173442" rIns="42300" bIns="148042" rtlCol="0" anchor="t">
            <a:normAutofit/>
          </a:bodyPr>
          <a:lstStyle/>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expectRoman : Int -&gt; String -&gt; Test</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expectRoman number expected =</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test (String.fromInt number ++ " is " ++ expected) &lt;|</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\_ -&gt;</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Expect.equal expected (toRoman number)</a:t>
            </a:r>
            <a:endParaRPr lang="en-US" sz="1300" dirty="0"/>
          </a:p>
          <a:p>
            <a:pPr algn="l" indent="0" marL="0">
              <a:lnSpc>
                <a:spcPts val="1950"/>
              </a:lnSpc>
              <a:buNone/>
            </a:pP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suite : Test</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suite =</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describe "toRoman"</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 expectRoman 1 "I"</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a:t>
            </a:r>
            <a:endParaRPr lang="en-US" sz="1300" dirty="0"/>
          </a:p>
        </p:txBody>
      </p:sp>
      <p:sp>
        <p:nvSpPr>
          <p:cNvPr id="5" name="Text 3"/>
          <p:cNvSpPr/>
          <p:nvPr/>
        </p:nvSpPr>
        <p:spPr>
          <a:xfrm>
            <a:off x="7588746" y="1884561"/>
            <a:ext cx="390416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D4A5C"/>
                </a:solidFill>
                <a:latin typeface="Rubik" pitchFamily="34" charset="0"/>
                <a:ea typeface="Rubik" pitchFamily="34" charset="-122"/>
                <a:cs typeface="Rubik" pitchFamily="34" charset="-120"/>
              </a:rPr>
              <a:t>expectRoman</a:t>
            </a:r>
            <a:r>
              <a:rPr lang="en-US" sz="1600" dirty="0">
                <a:solidFill>
                  <a:srgbClr val="3D4A5C"/>
                </a:solidFill>
                <a:latin typeface="Rubik" pitchFamily="34" charset="0"/>
                <a:ea typeface="Rubik" pitchFamily="34" charset="-122"/>
                <a:cs typeface="Rubik" pitchFamily="34" charset="-120"/>
              </a:rPr>
              <a:t> turns a number and its numeral into a named test.</a:t>
            </a:r>
            <a:endParaRPr lang="en-US" sz="1600" dirty="0"/>
          </a:p>
        </p:txBody>
      </p:sp>
      <p:sp>
        <p:nvSpPr>
          <p:cNvPr id="6" name="Text 4"/>
          <p:cNvSpPr/>
          <p:nvPr/>
        </p:nvSpPr>
        <p:spPr>
          <a:xfrm>
            <a:off x="7588746" y="2605881"/>
            <a:ext cx="390416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Each new test is one more line, like </a:t>
            </a:r>
            <a:r>
              <a:rPr lang="en-US" sz="1600" b="1" dirty="0">
                <a:solidFill>
                  <a:srgbClr val="3D4A5C"/>
                </a:solidFill>
                <a:latin typeface="Rubik" pitchFamily="34" charset="0"/>
                <a:ea typeface="Rubik" pitchFamily="34" charset="-122"/>
                <a:cs typeface="Rubik" pitchFamily="34" charset="-120"/>
              </a:rPr>
              <a:t>, expectRoman 4 "IV"</a:t>
            </a:r>
            <a:endParaRPr lang="en-US" sz="1600" dirty="0"/>
          </a:p>
        </p:txBody>
      </p:sp>
      <p:sp>
        <p:nvSpPr>
          <p:cNvPr id="7" name="Shape 5"/>
          <p:cNvSpPr/>
          <p:nvPr/>
        </p:nvSpPr>
        <p:spPr>
          <a:xfrm>
            <a:off x="7588746" y="3327202"/>
            <a:ext cx="3790454" cy="1295301"/>
          </a:xfrm>
          <a:prstGeom prst="roundRect">
            <a:avLst>
              <a:gd name="adj" fmla="val 7844"/>
            </a:avLst>
          </a:prstGeom>
          <a:solidFill>
            <a:srgbClr val="FFF3E6"/>
          </a:solidFill>
          <a:ln/>
        </p:spPr>
      </p:sp>
      <p:sp>
        <p:nvSpPr>
          <p:cNvPr id="8" name="Shape 6"/>
          <p:cNvSpPr/>
          <p:nvPr/>
        </p:nvSpPr>
        <p:spPr>
          <a:xfrm>
            <a:off x="7588746" y="3327202"/>
            <a:ext cx="3790454" cy="1295301"/>
          </a:xfrm>
          <a:custGeom>
            <a:avLst/>
            <a:gdLst/>
            <a:ahLst/>
            <a:cxnLst/>
            <a:rect l="l" t="t" r="r" b="b"/>
            <a:pathLst>
              <a:path w="3790454" h="1295301">
                <a:moveTo>
                  <a:pt x="101600" y="1295301"/>
                </a:moveTo>
                <a:lnTo>
                  <a:pt x="101600" y="1295301"/>
                </a:lnTo>
                <a:arcTo hR="101600" wR="101600" stAng="5400000" swAng="5400000"/>
                <a:lnTo>
                  <a:pt x="0" y="101600"/>
                </a:lnTo>
                <a:arcTo hR="101600" wR="101600" stAng="10800000" swAng="5400000"/>
                <a:lnTo>
                  <a:pt x="101600" y="0"/>
                </a:lnTo>
                <a:arcTo hR="101600" wR="63500" stAng="16200000" swAng="-5400000"/>
                <a:lnTo>
                  <a:pt x="38100" y="1193701"/>
                </a:lnTo>
                <a:arcTo hR="101600" wR="63500" stAng="10800000" swAng="-5400000"/>
                <a:close/>
              </a:path>
            </a:pathLst>
          </a:custGeom>
          <a:solidFill>
            <a:srgbClr val="A84A14"/>
          </a:solidFill>
          <a:ln/>
        </p:spPr>
      </p:sp>
      <p:sp>
        <p:nvSpPr>
          <p:cNvPr id="9" name="Text 7"/>
          <p:cNvSpPr/>
          <p:nvPr/>
        </p:nvSpPr>
        <p:spPr>
          <a:xfrm>
            <a:off x="7830046" y="3530402"/>
            <a:ext cx="34463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A14"/>
                </a:solidFill>
                <a:latin typeface="Rubik" pitchFamily="34" charset="0"/>
                <a:ea typeface="Rubik" pitchFamily="34" charset="-122"/>
                <a:cs typeface="Rubik" pitchFamily="34" charset="-120"/>
              </a:rPr>
              <a:t>Start with a stub</a:t>
            </a:r>
            <a:endParaRPr lang="en-US" sz="1600" dirty="0"/>
          </a:p>
        </p:txBody>
      </p:sp>
      <p:sp>
        <p:nvSpPr>
          <p:cNvPr id="10" name="Text 8"/>
          <p:cNvSpPr/>
          <p:nvPr/>
        </p:nvSpPr>
        <p:spPr>
          <a:xfrm>
            <a:off x="7830046" y="3850382"/>
            <a:ext cx="344633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toRoman _ = "" so your first failure is a test, not a compile error.</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ACTIVITY · PAIRS · 30 MINUTES · COMMIT AFTER EVERY GREEN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One test at a time, in this order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2701727"/>
        </p:xfrm>
        <a:graphic>
          <a:graphicData uri="http://schemas.openxmlformats.org/drawingml/2006/table">
            <a:tbl>
              <a:tblPr/>
              <a:tblGrid>
                <a:gridCol w="1266444"/>
                <a:gridCol w="3166110"/>
                <a:gridCol w="6121146"/>
              </a:tblGrid>
              <a:tr h="385961">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Step</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New test</a:t>
                      </a:r>
                      <a:endParaRPr lang="en-US" sz="1400" dirty="0">
                        <a:latin typeface="Rubik" charset="0"/>
                        <a:ea typeface="Rubik" charset="0"/>
                        <a:cs typeface="Rubik" charset="0"/>
                      </a:endParaRPr>
                    </a:p>
                  </a:txBody>
                  <a:tcPr marL="62230" marR="62230" marT="62230" marB="62230"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Smallest change</a:t>
                      </a:r>
                      <a:endParaRPr lang="en-US" sz="1400" dirty="0">
                        <a:latin typeface="Rubik" charset="0"/>
                        <a:ea typeface="Rubik" charset="0"/>
                        <a:cs typeface="Rubik" charset="0"/>
                      </a:endParaRPr>
                    </a:p>
                  </a:txBody>
                  <a:tcPr marL="62230" marR="62230" marT="62230" marB="62230"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1</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1 is I</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toRoman _ = "I" (a deliberate cheat)</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2–3</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2 is II, 3 is III</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String.repeat number "I"</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4–5</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4 is IV, 5 is V, 6 is VI</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Special cases. Ugly, but honest</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6</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9, 10, 14</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More special cases. Stop and look for the pattern</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7</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Refactor, all green</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A table of value and symbol pairs, largest first</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8–9</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40, 49, 90 … 3999</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Already green: they’re just more rows in the table</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2073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AFTER THE KATA</a:t>
            </a:r>
            <a:endParaRPr lang="en-US" sz="1200" dirty="0"/>
          </a:p>
        </p:txBody>
      </p:sp>
      <p:sp>
        <p:nvSpPr>
          <p:cNvPr id="3" name="Text 1"/>
          <p:cNvSpPr/>
          <p:nvPr>
            <p:ph type="title"/>
          </p:nvPr>
        </p:nvSpPr>
        <p:spPr>
          <a:xfrm>
            <a:off x="812800" y="2725440"/>
            <a:ext cx="10883392" cy="107692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BFAF6"/>
                </a:solidFill>
                <a:latin typeface="Rubik" pitchFamily="34" charset="0"/>
                <a:ea typeface="Rubik" pitchFamily="34" charset="-122"/>
                <a:cs typeface="Rubik" pitchFamily="34" charset="-120"/>
              </a:rPr>
              <a:t>The numerals are data. The function is just a walk over them.</a:t>
            </a:r>
            <a:endParaRPr lang="en-US" sz="3600" dirty="0"/>
          </a:p>
        </p:txBody>
      </p:sp>
      <p:sp>
        <p:nvSpPr>
          <p:cNvPr id="4" name="Text 2"/>
          <p:cNvSpPr/>
          <p:nvPr/>
        </p:nvSpPr>
        <p:spPr>
          <a:xfrm>
            <a:off x="812800" y="408176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The tricky pairs like CM and IV are simply rows in the table, so the algorithm has no special cases at all. That’s the declarative idea from Section 1 again: describe the what, let recursion do the how.</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9 · SHOW AND TELL · 15 MINUTES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Two minutes per pair, just the interesting bit</a:t>
            </a:r>
            <a:endParaRPr lang="en-US" sz="3600" dirty="0"/>
          </a:p>
        </p:txBody>
      </p:sp>
      <p:sp>
        <p:nvSpPr>
          <p:cNvPr id="4" name="Shape 2"/>
          <p:cNvSpPr/>
          <p:nvPr/>
        </p:nvSpPr>
        <p:spPr>
          <a:xfrm>
            <a:off x="815975" y="1938536"/>
            <a:ext cx="5175250" cy="2353171"/>
          </a:xfrm>
          <a:prstGeom prst="roundRect">
            <a:avLst>
              <a:gd name="adj" fmla="val 4183"/>
            </a:avLst>
          </a:prstGeom>
          <a:solidFill>
            <a:srgbClr val="FFFEFB"/>
          </a:solidFill>
          <a:ln w="6350">
            <a:solidFill>
              <a:srgbClr val="D5DBE3"/>
            </a:solidFill>
            <a:prstDash val="solid"/>
          </a:ln>
        </p:spPr>
      </p:sp>
      <p:sp>
        <p:nvSpPr>
          <p:cNvPr id="5" name="Text 3"/>
          <p:cNvSpPr/>
          <p:nvPr/>
        </p:nvSpPr>
        <p:spPr>
          <a:xfrm>
            <a:off x="1073150" y="219571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Presenters show</a:t>
            </a:r>
            <a:endParaRPr lang="en-US" sz="1600" dirty="0"/>
          </a:p>
        </p:txBody>
      </p:sp>
      <p:sp>
        <p:nvSpPr>
          <p:cNvPr id="6" name="Text 4"/>
          <p:cNvSpPr/>
          <p:nvPr/>
        </p:nvSpPr>
        <p:spPr>
          <a:xfrm>
            <a:off x="1100435" y="2566491"/>
            <a:ext cx="4765822" cy="939800"/>
          </a:xfrm>
          <a:prstGeom prst="rect">
            <a:avLst/>
          </a:prstGeom>
          <a:noFill/>
          <a:ln/>
        </p:spPr>
        <p:txBody>
          <a:bodyPr wrap="square" lIns="0" tIns="0" rIns="0" bIns="0" rtlCol="0" anchor="t">
            <a:normAutofit/>
          </a:bodyPr>
          <a:lstStyle/>
          <a:p>
            <a:pPr algn="l" marL="226715" indent="-226715">
              <a:lnSpc>
                <a:spcPts val="2400"/>
              </a:lnSpc>
              <a:buSzPct val="100000"/>
              <a:buFontTx/>
              <a:buAutoNum type="arabicPeriod" startAt="1"/>
            </a:pPr>
            <a:r>
              <a:rPr lang="en-US" sz="1600" dirty="0">
                <a:solidFill>
                  <a:srgbClr val="3D4A5C"/>
                </a:solidFill>
                <a:latin typeface="Rubik" pitchFamily="34" charset="0"/>
                <a:ea typeface="Rubik" pitchFamily="34" charset="-122"/>
                <a:cs typeface="Rubik" pitchFamily="34" charset="-120"/>
              </a:rPr>
              <a:t>The shape of your solution</a:t>
            </a:r>
            <a:endParaRPr lang="en-US" sz="1600" dirty="0"/>
          </a:p>
          <a:p>
            <a:pPr algn="l" marL="226715" indent="-226715">
              <a:lnSpc>
                <a:spcPts val="2400"/>
              </a:lnSpc>
              <a:buSzPct val="100000"/>
              <a:buFontTx/>
              <a:buAutoNum type="arabicPeriod" startAt="1"/>
            </a:pPr>
            <a:r>
              <a:rPr lang="en-US" sz="1600" dirty="0">
                <a:solidFill>
                  <a:srgbClr val="3D4A5C"/>
                </a:solidFill>
                <a:latin typeface="Rubik" pitchFamily="34" charset="0"/>
                <a:ea typeface="Rubik" pitchFamily="34" charset="-122"/>
                <a:cs typeface="Rubik" pitchFamily="34" charset="-120"/>
              </a:rPr>
              <a:t>One thing that surprised you</a:t>
            </a:r>
            <a:endParaRPr lang="en-US" sz="1600" dirty="0"/>
          </a:p>
          <a:p>
            <a:pPr algn="l" marL="226715" indent="-226715">
              <a:lnSpc>
                <a:spcPts val="2400"/>
              </a:lnSpc>
              <a:buSzPct val="100000"/>
              <a:buFontTx/>
              <a:buAutoNum type="arabicPeriod" startAt="1"/>
            </a:pPr>
            <a:r>
              <a:rPr lang="en-US" sz="1600" dirty="0">
                <a:solidFill>
                  <a:srgbClr val="3D4A5C"/>
                </a:solidFill>
                <a:latin typeface="Rubik" pitchFamily="34" charset="0"/>
                <a:ea typeface="Rubik" pitchFamily="34" charset="-122"/>
                <a:cs typeface="Rubik" pitchFamily="34" charset="-120"/>
              </a:rPr>
              <a:t>One test you’re proud of</a:t>
            </a:r>
            <a:endParaRPr lang="en-US" sz="1600" dirty="0"/>
          </a:p>
        </p:txBody>
      </p:sp>
      <p:sp>
        <p:nvSpPr>
          <p:cNvPr id="7" name="Text 5"/>
          <p:cNvSpPr/>
          <p:nvPr/>
        </p:nvSpPr>
        <p:spPr>
          <a:xfrm>
            <a:off x="1073150" y="3607891"/>
            <a:ext cx="48007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Say what the code does before how. Skip the apology; just show it.</a:t>
            </a:r>
            <a:endParaRPr lang="en-US" sz="1200" dirty="0"/>
          </a:p>
        </p:txBody>
      </p:sp>
      <p:sp>
        <p:nvSpPr>
          <p:cNvPr id="8" name="Shape 6"/>
          <p:cNvSpPr/>
          <p:nvPr/>
        </p:nvSpPr>
        <p:spPr>
          <a:xfrm>
            <a:off x="6200775" y="1938536"/>
            <a:ext cx="5175250" cy="2353171"/>
          </a:xfrm>
          <a:prstGeom prst="roundRect">
            <a:avLst>
              <a:gd name="adj" fmla="val 4183"/>
            </a:avLst>
          </a:prstGeom>
          <a:solidFill>
            <a:srgbClr val="FFFEFB"/>
          </a:solidFill>
          <a:ln w="6350">
            <a:solidFill>
              <a:srgbClr val="D5DBE3"/>
            </a:solidFill>
            <a:prstDash val="solid"/>
          </a:ln>
        </p:spPr>
      </p:sp>
      <p:sp>
        <p:nvSpPr>
          <p:cNvPr id="9" name="Text 7"/>
          <p:cNvSpPr/>
          <p:nvPr/>
        </p:nvSpPr>
        <p:spPr>
          <a:xfrm>
            <a:off x="6457950" y="219571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Audience gives two stars and a wish</a:t>
            </a:r>
            <a:endParaRPr lang="en-US" sz="1600" dirty="0"/>
          </a:p>
        </p:txBody>
      </p:sp>
      <p:pic>
        <p:nvPicPr>
          <p:cNvPr id="10" name="Image 0" descr="Star">    </p:cNvPr>
          <p:cNvPicPr>
            <a:picLocks noChangeAspect="1"/>
          </p:cNvPicPr>
          <p:nvPr/>
        </p:nvPicPr>
        <p:blipFill>
          <a:blip r:embed="rId1"/>
          <a:srcRect l="0" r="0" t="0" b="0"/>
          <a:stretch/>
        </p:blipFill>
        <p:spPr>
          <a:xfrm>
            <a:off x="6457950" y="2581672"/>
            <a:ext cx="254000" cy="254000"/>
          </a:xfrm>
          <a:prstGeom prst="rect">
            <a:avLst/>
          </a:prstGeom>
        </p:spPr>
      </p:pic>
      <p:sp>
        <p:nvSpPr>
          <p:cNvPr id="11" name="Text 8"/>
          <p:cNvSpPr/>
          <p:nvPr/>
        </p:nvSpPr>
        <p:spPr>
          <a:xfrm>
            <a:off x="6813550" y="2566491"/>
            <a:ext cx="443445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Star: one thing that worked</a:t>
            </a:r>
            <a:endParaRPr lang="en-US" sz="1600" dirty="0"/>
          </a:p>
        </p:txBody>
      </p:sp>
      <p:pic>
        <p:nvPicPr>
          <p:cNvPr id="12" name="Image 1" descr="Star">    </p:cNvPr>
          <p:cNvPicPr>
            <a:picLocks noChangeAspect="1"/>
          </p:cNvPicPr>
          <p:nvPr/>
        </p:nvPicPr>
        <p:blipFill>
          <a:blip r:embed="rId2"/>
          <a:srcRect l="0" r="0" t="0" b="0"/>
          <a:stretch/>
        </p:blipFill>
        <p:spPr>
          <a:xfrm>
            <a:off x="6457950" y="2993132"/>
            <a:ext cx="254000" cy="254000"/>
          </a:xfrm>
          <a:prstGeom prst="rect">
            <a:avLst/>
          </a:prstGeom>
        </p:spPr>
      </p:pic>
      <p:sp>
        <p:nvSpPr>
          <p:cNvPr id="13" name="Text 9"/>
          <p:cNvSpPr/>
          <p:nvPr/>
        </p:nvSpPr>
        <p:spPr>
          <a:xfrm>
            <a:off x="6813550" y="2977952"/>
            <a:ext cx="443445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Star: another thing that worked</a:t>
            </a:r>
            <a:endParaRPr lang="en-US" sz="1600" dirty="0"/>
          </a:p>
        </p:txBody>
      </p:sp>
      <p:pic>
        <p:nvPicPr>
          <p:cNvPr id="14" name="Image 2" descr="Lightbulb">    </p:cNvPr>
          <p:cNvPicPr>
            <a:picLocks noChangeAspect="1"/>
          </p:cNvPicPr>
          <p:nvPr/>
        </p:nvPicPr>
        <p:blipFill>
          <a:blip r:embed="rId3"/>
          <a:srcRect l="0" r="0" t="0" b="0"/>
          <a:stretch/>
        </p:blipFill>
        <p:spPr>
          <a:xfrm>
            <a:off x="6457950" y="3404592"/>
            <a:ext cx="254000" cy="254000"/>
          </a:xfrm>
          <a:prstGeom prst="rect">
            <a:avLst/>
          </a:prstGeom>
        </p:spPr>
      </p:pic>
      <p:sp>
        <p:nvSpPr>
          <p:cNvPr id="15" name="Text 10"/>
          <p:cNvSpPr/>
          <p:nvPr/>
        </p:nvSpPr>
        <p:spPr>
          <a:xfrm>
            <a:off x="6813550" y="3389412"/>
            <a:ext cx="443445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Wish: one question or idea</a:t>
            </a:r>
            <a:endParaRPr lang="en-US" sz="16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10 · DISCUSSION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A discipline, or a guarantee?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3087688"/>
        </p:xfrm>
        <a:graphic>
          <a:graphicData uri="http://schemas.openxmlformats.org/drawingml/2006/table">
            <a:tbl>
              <a:tblPr/>
              <a:tblGrid>
                <a:gridCol w="2321814"/>
                <a:gridCol w="4115943"/>
                <a:gridCol w="4115943"/>
              </a:tblGrid>
              <a:tr h="385961">
                <a:tc>
                  <a:txBody>
                    <a:bodyPr/>
                    <a:lstStyle/>
                    <a:p>
                      <a:pPr indent="0" marL="0">
                        <a:lnSpc>
                          <a:spcPts val="1960"/>
                        </a:lnSpc>
                        <a:buNone/>
                      </a:pP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FP techniques in Python</a:t>
                      </a:r>
                      <a:endParaRPr lang="en-US" sz="1400" dirty="0">
                        <a:latin typeface="Rubik" charset="0"/>
                        <a:ea typeface="Rubik" charset="0"/>
                        <a:cs typeface="Rubik" charset="0"/>
                      </a:endParaRPr>
                    </a:p>
                  </a:txBody>
                  <a:tcPr marL="62230" marR="62230" marT="62230" marB="6223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A language like Elm</a:t>
                      </a:r>
                      <a:endParaRPr lang="en-US" sz="1400" dirty="0">
                        <a:latin typeface="Rubik" charset="0"/>
                        <a:ea typeface="Rubik" charset="0"/>
                        <a:cs typeface="Rubik" charset="0"/>
                      </a:endParaRPr>
                    </a:p>
                  </a:txBody>
                  <a:tcPr marL="62230" marR="62230" marT="62230" marB="6223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Purity</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A habit; nothing stops a slip</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Guaranteed by the compiler</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Mutation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list.append is one keystroke away</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Doesn’t exist</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Guard-rails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Tests, code review, linters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The compiler, plus tests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Recursion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Limited by Python’s depth</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Tail calls optimised</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Team skills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Everyone already knows Python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A narrower talent pool</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Ecosystem</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Enormous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Smaller, more focused</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Where it bites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Section 4’s bug can still happen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Learning curve, fewer places to use it</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DISCUSSION · 10 MINUTES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Help or friction?</a:t>
            </a:r>
            <a:endParaRPr lang="en-US" sz="3600" dirty="0"/>
          </a:p>
        </p:txBody>
      </p:sp>
      <p:sp>
        <p:nvSpPr>
          <p:cNvPr id="4" name="Shape 2"/>
          <p:cNvSpPr/>
          <p:nvPr/>
        </p:nvSpPr>
        <p:spPr>
          <a:xfrm>
            <a:off x="815975" y="1938536"/>
            <a:ext cx="10560050" cy="981670"/>
          </a:xfrm>
          <a:prstGeom prst="roundRect">
            <a:avLst>
              <a:gd name="adj" fmla="val 10026"/>
            </a:avLst>
          </a:prstGeom>
          <a:solidFill>
            <a:srgbClr val="FFFEFB"/>
          </a:solidFill>
          <a:ln w="6350">
            <a:solidFill>
              <a:srgbClr val="D5DBE3"/>
            </a:solidFill>
            <a:prstDash val="solid"/>
          </a:ln>
        </p:spPr>
      </p:sp>
      <p:sp>
        <p:nvSpPr>
          <p:cNvPr id="5" name="Text 3"/>
          <p:cNvSpPr/>
          <p:nvPr/>
        </p:nvSpPr>
        <p:spPr>
          <a:xfrm>
            <a:off x="1073150" y="2144911"/>
            <a:ext cx="18484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4A14"/>
                </a:solidFill>
                <a:latin typeface="Rubik" pitchFamily="34" charset="0"/>
                <a:ea typeface="Rubik" pitchFamily="34" charset="-122"/>
                <a:cs typeface="Rubik" pitchFamily="34" charset="-120"/>
              </a:rPr>
              <a:t>1</a:t>
            </a:r>
            <a:endParaRPr lang="en-US" sz="2200" dirty="0"/>
          </a:p>
        </p:txBody>
      </p:sp>
      <p:sp>
        <p:nvSpPr>
          <p:cNvPr id="6" name="Text 4"/>
          <p:cNvSpPr/>
          <p:nvPr/>
        </p:nvSpPr>
        <p:spPr>
          <a:xfrm>
            <a:off x="1410395" y="2144911"/>
            <a:ext cx="999970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Elm refused to compile code Python would happily run. Did that feel like help or friction? Did it change over the session?</a:t>
            </a:r>
            <a:endParaRPr lang="en-US" sz="1600" dirty="0"/>
          </a:p>
        </p:txBody>
      </p:sp>
      <p:sp>
        <p:nvSpPr>
          <p:cNvPr id="7" name="Shape 5"/>
          <p:cNvSpPr/>
          <p:nvPr/>
        </p:nvSpPr>
        <p:spPr>
          <a:xfrm>
            <a:off x="815975" y="3078956"/>
            <a:ext cx="10560050" cy="981670"/>
          </a:xfrm>
          <a:prstGeom prst="roundRect">
            <a:avLst>
              <a:gd name="adj" fmla="val 10026"/>
            </a:avLst>
          </a:prstGeom>
          <a:solidFill>
            <a:srgbClr val="FFFEFB"/>
          </a:solidFill>
          <a:ln w="6350">
            <a:solidFill>
              <a:srgbClr val="D5DBE3"/>
            </a:solidFill>
            <a:prstDash val="solid"/>
          </a:ln>
        </p:spPr>
      </p:sp>
      <p:sp>
        <p:nvSpPr>
          <p:cNvPr id="8" name="Text 6"/>
          <p:cNvSpPr/>
          <p:nvPr/>
        </p:nvSpPr>
        <p:spPr>
          <a:xfrm>
            <a:off x="1073150" y="3285331"/>
            <a:ext cx="22790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4A14"/>
                </a:solidFill>
                <a:latin typeface="Rubik" pitchFamily="34" charset="0"/>
                <a:ea typeface="Rubik" pitchFamily="34" charset="-122"/>
                <a:cs typeface="Rubik" pitchFamily="34" charset="-120"/>
              </a:rPr>
              <a:t>2</a:t>
            </a:r>
            <a:endParaRPr lang="en-US" sz="2200" dirty="0"/>
          </a:p>
        </p:txBody>
      </p:sp>
      <p:sp>
        <p:nvSpPr>
          <p:cNvPr id="9" name="Text 7"/>
          <p:cNvSpPr/>
          <p:nvPr/>
        </p:nvSpPr>
        <p:spPr>
          <a:xfrm>
            <a:off x="1453455" y="3285331"/>
            <a:ext cx="995535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Starting a brand-new project, what would make you pick a dedicated functional language? What would make you refuse?</a:t>
            </a:r>
            <a:endParaRPr lang="en-US" sz="1600" dirty="0"/>
          </a:p>
        </p:txBody>
      </p:sp>
      <p:sp>
        <p:nvSpPr>
          <p:cNvPr id="10" name="Shape 8"/>
          <p:cNvSpPr/>
          <p:nvPr/>
        </p:nvSpPr>
        <p:spPr>
          <a:xfrm>
            <a:off x="815975" y="4219377"/>
            <a:ext cx="10560050" cy="697210"/>
          </a:xfrm>
          <a:prstGeom prst="roundRect">
            <a:avLst>
              <a:gd name="adj" fmla="val 14117"/>
            </a:avLst>
          </a:prstGeom>
          <a:solidFill>
            <a:srgbClr val="FFFEFB"/>
          </a:solidFill>
          <a:ln w="6350">
            <a:solidFill>
              <a:srgbClr val="D5DBE3"/>
            </a:solidFill>
            <a:prstDash val="solid"/>
          </a:ln>
        </p:spPr>
      </p:sp>
      <p:sp>
        <p:nvSpPr>
          <p:cNvPr id="11" name="Text 9"/>
          <p:cNvSpPr/>
          <p:nvPr/>
        </p:nvSpPr>
        <p:spPr>
          <a:xfrm>
            <a:off x="1073150" y="4425752"/>
            <a:ext cx="230783"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4A14"/>
                </a:solidFill>
                <a:latin typeface="Rubik" pitchFamily="34" charset="0"/>
                <a:ea typeface="Rubik" pitchFamily="34" charset="-122"/>
                <a:cs typeface="Rubik" pitchFamily="34" charset="-120"/>
              </a:rPr>
              <a:t>3</a:t>
            </a:r>
            <a:endParaRPr lang="en-US" sz="2200" dirty="0"/>
          </a:p>
        </p:txBody>
      </p:sp>
      <p:sp>
        <p:nvSpPr>
          <p:cNvPr id="12" name="Text 10"/>
          <p:cNvSpPr/>
          <p:nvPr/>
        </p:nvSpPr>
        <p:spPr>
          <a:xfrm>
            <a:off x="1456333" y="4425752"/>
            <a:ext cx="995239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Which moment of the Section 4 bug hunt would the Elm compiler have prevented? Which would it not?</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11 · REFLECTION · 5 MIN WRITING, 5 MIN SHARING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In your learning log</a:t>
            </a:r>
            <a:endParaRPr lang="en-US" sz="3600" dirty="0"/>
          </a:p>
        </p:txBody>
      </p:sp>
      <p:sp>
        <p:nvSpPr>
          <p:cNvPr id="4" name="Shape 2"/>
          <p:cNvSpPr/>
          <p:nvPr/>
        </p:nvSpPr>
        <p:spPr>
          <a:xfrm>
            <a:off x="815975" y="1938536"/>
            <a:ext cx="5200650" cy="1301651"/>
          </a:xfrm>
          <a:prstGeom prst="roundRect">
            <a:avLst>
              <a:gd name="adj" fmla="val 7562"/>
            </a:avLst>
          </a:prstGeom>
          <a:solidFill>
            <a:srgbClr val="FFFEFB"/>
          </a:solidFill>
          <a:ln w="6350">
            <a:solidFill>
              <a:srgbClr val="E2DED5"/>
            </a:solidFill>
            <a:prstDash val="solid"/>
          </a:ln>
        </p:spPr>
      </p:sp>
      <p:sp>
        <p:nvSpPr>
          <p:cNvPr id="5" name="Text 3"/>
          <p:cNvSpPr/>
          <p:nvPr/>
        </p:nvSpPr>
        <p:spPr>
          <a:xfrm>
            <a:off x="1073150" y="2144911"/>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1 · How hard was it?</a:t>
            </a:r>
            <a:endParaRPr lang="en-US" sz="1600" dirty="0"/>
          </a:p>
        </p:txBody>
      </p:sp>
      <p:sp>
        <p:nvSpPr>
          <p:cNvPr id="6" name="Text 4"/>
          <p:cNvSpPr/>
          <p:nvPr/>
        </p:nvSpPr>
        <p:spPr>
          <a:xfrm>
            <a:off x="1073150" y="2464891"/>
            <a:ext cx="482688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Applying what you knew to a new language, from 1 to 5, and why.</a:t>
            </a:r>
            <a:endParaRPr lang="en-US" sz="1600" dirty="0"/>
          </a:p>
        </p:txBody>
      </p:sp>
      <p:sp>
        <p:nvSpPr>
          <p:cNvPr id="7" name="Shape 5"/>
          <p:cNvSpPr/>
          <p:nvPr/>
        </p:nvSpPr>
        <p:spPr>
          <a:xfrm>
            <a:off x="6175375" y="1938536"/>
            <a:ext cx="5200650" cy="1301651"/>
          </a:xfrm>
          <a:prstGeom prst="roundRect">
            <a:avLst>
              <a:gd name="adj" fmla="val 7562"/>
            </a:avLst>
          </a:prstGeom>
          <a:solidFill>
            <a:srgbClr val="FFFEFB"/>
          </a:solidFill>
          <a:ln w="6350">
            <a:solidFill>
              <a:srgbClr val="E2DED5"/>
            </a:solidFill>
            <a:prstDash val="solid"/>
          </a:ln>
        </p:spPr>
      </p:sp>
      <p:sp>
        <p:nvSpPr>
          <p:cNvPr id="8" name="Text 6"/>
          <p:cNvSpPr/>
          <p:nvPr/>
        </p:nvSpPr>
        <p:spPr>
          <a:xfrm>
            <a:off x="6432550" y="2144911"/>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2 · What transferred?</a:t>
            </a:r>
            <a:endParaRPr lang="en-US" sz="1600" dirty="0"/>
          </a:p>
        </p:txBody>
      </p:sp>
      <p:sp>
        <p:nvSpPr>
          <p:cNvPr id="9" name="Text 7"/>
          <p:cNvSpPr/>
          <p:nvPr/>
        </p:nvSpPr>
        <p:spPr>
          <a:xfrm>
            <a:off x="6432550" y="2464891"/>
            <a:ext cx="482688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What from Python or this morning carried straight over?</a:t>
            </a:r>
            <a:endParaRPr lang="en-US" sz="1600" dirty="0"/>
          </a:p>
        </p:txBody>
      </p:sp>
      <p:sp>
        <p:nvSpPr>
          <p:cNvPr id="10" name="Shape 8"/>
          <p:cNvSpPr/>
          <p:nvPr/>
        </p:nvSpPr>
        <p:spPr>
          <a:xfrm>
            <a:off x="815975" y="3398937"/>
            <a:ext cx="5200650" cy="1301651"/>
          </a:xfrm>
          <a:prstGeom prst="roundRect">
            <a:avLst>
              <a:gd name="adj" fmla="val 7562"/>
            </a:avLst>
          </a:prstGeom>
          <a:solidFill>
            <a:srgbClr val="FFFEFB"/>
          </a:solidFill>
          <a:ln w="6350">
            <a:solidFill>
              <a:srgbClr val="E2DED5"/>
            </a:solidFill>
            <a:prstDash val="solid"/>
          </a:ln>
        </p:spPr>
      </p:sp>
      <p:sp>
        <p:nvSpPr>
          <p:cNvPr id="11" name="Text 9"/>
          <p:cNvSpPr/>
          <p:nvPr/>
        </p:nvSpPr>
        <p:spPr>
          <a:xfrm>
            <a:off x="1073150" y="3605312"/>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3 · How did TDD help?</a:t>
            </a:r>
            <a:endParaRPr lang="en-US" sz="1600" dirty="0"/>
          </a:p>
        </p:txBody>
      </p:sp>
      <p:sp>
        <p:nvSpPr>
          <p:cNvPr id="12" name="Text 10"/>
          <p:cNvSpPr/>
          <p:nvPr/>
        </p:nvSpPr>
        <p:spPr>
          <a:xfrm>
            <a:off x="1073150" y="3925292"/>
            <a:ext cx="482688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Especially when the syntax or the compiler confused you.</a:t>
            </a:r>
            <a:endParaRPr lang="en-US" sz="1600" dirty="0"/>
          </a:p>
        </p:txBody>
      </p:sp>
      <p:sp>
        <p:nvSpPr>
          <p:cNvPr id="13" name="Shape 11"/>
          <p:cNvSpPr/>
          <p:nvPr/>
        </p:nvSpPr>
        <p:spPr>
          <a:xfrm>
            <a:off x="6175375" y="3398937"/>
            <a:ext cx="5200650" cy="1301651"/>
          </a:xfrm>
          <a:prstGeom prst="roundRect">
            <a:avLst>
              <a:gd name="adj" fmla="val 7562"/>
            </a:avLst>
          </a:prstGeom>
          <a:solidFill>
            <a:srgbClr val="FFFEFB"/>
          </a:solidFill>
          <a:ln w="6350">
            <a:solidFill>
              <a:srgbClr val="E2DED5"/>
            </a:solidFill>
            <a:prstDash val="solid"/>
          </a:ln>
        </p:spPr>
      </p:sp>
      <p:sp>
        <p:nvSpPr>
          <p:cNvPr id="14" name="Text 12"/>
          <p:cNvSpPr/>
          <p:nvPr/>
        </p:nvSpPr>
        <p:spPr>
          <a:xfrm>
            <a:off x="6432550" y="3605312"/>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4 · What next?</a:t>
            </a:r>
            <a:endParaRPr lang="en-US" sz="1600" dirty="0"/>
          </a:p>
        </p:txBody>
      </p:sp>
      <p:sp>
        <p:nvSpPr>
          <p:cNvPr id="15" name="Text 13"/>
          <p:cNvSpPr/>
          <p:nvPr/>
        </p:nvSpPr>
        <p:spPr>
          <a:xfrm>
            <a:off x="6432550" y="3925292"/>
            <a:ext cx="482688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One thing to try at work in two weeks, and one to read or practise.</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12 · RETROSPECTIVE · 20 MINUTES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Start, stop, continue</a:t>
            </a:r>
            <a:endParaRPr lang="en-US" sz="3600" dirty="0"/>
          </a:p>
        </p:txBody>
      </p:sp>
      <p:sp>
        <p:nvSpPr>
          <p:cNvPr id="4" name="Shape 2"/>
          <p:cNvSpPr/>
          <p:nvPr/>
        </p:nvSpPr>
        <p:spPr>
          <a:xfrm>
            <a:off x="815975" y="1938536"/>
            <a:ext cx="3414117" cy="1494730"/>
          </a:xfrm>
          <a:prstGeom prst="roundRect">
            <a:avLst>
              <a:gd name="adj" fmla="val 6585"/>
            </a:avLst>
          </a:prstGeom>
          <a:solidFill>
            <a:srgbClr val="FFFEFB"/>
          </a:solidFill>
          <a:ln w="6350">
            <a:solidFill>
              <a:srgbClr val="D5DBE3"/>
            </a:solidFill>
            <a:prstDash val="solid"/>
          </a:ln>
        </p:spPr>
      </p:sp>
      <p:sp>
        <p:nvSpPr>
          <p:cNvPr id="5" name="Text 3"/>
          <p:cNvSpPr/>
          <p:nvPr/>
        </p:nvSpPr>
        <p:spPr>
          <a:xfrm>
            <a:off x="1073150" y="2195711"/>
            <a:ext cx="29867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E5C86"/>
                </a:solidFill>
                <a:latin typeface="Rubik" pitchFamily="34" charset="0"/>
                <a:ea typeface="Rubik" pitchFamily="34" charset="-122"/>
                <a:cs typeface="Rubik" pitchFamily="34" charset="-120"/>
              </a:rPr>
              <a:t>Start</a:t>
            </a:r>
            <a:endParaRPr lang="en-US" sz="2200" dirty="0"/>
          </a:p>
        </p:txBody>
      </p:sp>
      <p:sp>
        <p:nvSpPr>
          <p:cNvPr id="6" name="Text 4"/>
          <p:cNvSpPr/>
          <p:nvPr/>
        </p:nvSpPr>
        <p:spPr>
          <a:xfrm>
            <a:off x="1073150" y="2607171"/>
            <a:ext cx="298676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Something we should try next time</a:t>
            </a:r>
            <a:endParaRPr lang="en-US" sz="1600" dirty="0"/>
          </a:p>
        </p:txBody>
      </p:sp>
      <p:sp>
        <p:nvSpPr>
          <p:cNvPr id="7" name="Shape 5"/>
          <p:cNvSpPr/>
          <p:nvPr/>
        </p:nvSpPr>
        <p:spPr>
          <a:xfrm>
            <a:off x="4388842" y="1938536"/>
            <a:ext cx="3414216" cy="1494730"/>
          </a:xfrm>
          <a:prstGeom prst="roundRect">
            <a:avLst>
              <a:gd name="adj" fmla="val 6585"/>
            </a:avLst>
          </a:prstGeom>
          <a:solidFill>
            <a:srgbClr val="FFFEFB"/>
          </a:solidFill>
          <a:ln w="6350">
            <a:solidFill>
              <a:srgbClr val="D5DBE3"/>
            </a:solidFill>
            <a:prstDash val="solid"/>
          </a:ln>
        </p:spPr>
      </p:sp>
      <p:sp>
        <p:nvSpPr>
          <p:cNvPr id="8" name="Text 6"/>
          <p:cNvSpPr/>
          <p:nvPr/>
        </p:nvSpPr>
        <p:spPr>
          <a:xfrm>
            <a:off x="4646017" y="219571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A84A14"/>
                </a:solidFill>
                <a:latin typeface="Rubik" pitchFamily="34" charset="0"/>
                <a:ea typeface="Rubik" pitchFamily="34" charset="-122"/>
                <a:cs typeface="Rubik" pitchFamily="34" charset="-120"/>
              </a:rPr>
              <a:t>Stop</a:t>
            </a:r>
            <a:endParaRPr lang="en-US" sz="2200" dirty="0"/>
          </a:p>
        </p:txBody>
      </p:sp>
      <p:sp>
        <p:nvSpPr>
          <p:cNvPr id="9" name="Text 7"/>
          <p:cNvSpPr/>
          <p:nvPr/>
        </p:nvSpPr>
        <p:spPr>
          <a:xfrm>
            <a:off x="4646017" y="2607171"/>
            <a:ext cx="298686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Something that didn’t help</a:t>
            </a:r>
            <a:endParaRPr lang="en-US" sz="1600" dirty="0"/>
          </a:p>
        </p:txBody>
      </p:sp>
      <p:sp>
        <p:nvSpPr>
          <p:cNvPr id="10" name="Shape 8"/>
          <p:cNvSpPr/>
          <p:nvPr/>
        </p:nvSpPr>
        <p:spPr>
          <a:xfrm>
            <a:off x="7961809" y="1938536"/>
            <a:ext cx="3414216" cy="1494730"/>
          </a:xfrm>
          <a:prstGeom prst="roundRect">
            <a:avLst>
              <a:gd name="adj" fmla="val 6585"/>
            </a:avLst>
          </a:prstGeom>
          <a:solidFill>
            <a:srgbClr val="FFFEFB"/>
          </a:solidFill>
          <a:ln w="6350">
            <a:solidFill>
              <a:srgbClr val="D5DBE3"/>
            </a:solidFill>
            <a:prstDash val="solid"/>
          </a:ln>
        </p:spPr>
      </p:sp>
      <p:sp>
        <p:nvSpPr>
          <p:cNvPr id="11" name="Text 9"/>
          <p:cNvSpPr/>
          <p:nvPr/>
        </p:nvSpPr>
        <p:spPr>
          <a:xfrm>
            <a:off x="8218984" y="219571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Continue</a:t>
            </a:r>
            <a:endParaRPr lang="en-US" sz="2200" dirty="0"/>
          </a:p>
        </p:txBody>
      </p:sp>
      <p:sp>
        <p:nvSpPr>
          <p:cNvPr id="12" name="Text 10"/>
          <p:cNvSpPr/>
          <p:nvPr/>
        </p:nvSpPr>
        <p:spPr>
          <a:xfrm>
            <a:off x="8218984" y="2607171"/>
            <a:ext cx="298686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Something to keep doing</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753941"/>
          <a:ext cx="10553700" cy="1929805"/>
        </p:xfrm>
        <a:graphic>
          <a:graphicData uri="http://schemas.openxmlformats.org/drawingml/2006/table">
            <a:tbl>
              <a:tblPr/>
              <a:tblGrid>
                <a:gridCol w="1477518"/>
                <a:gridCol w="9076182"/>
              </a:tblGrid>
              <a:tr h="385961">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Minutes</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What happens</a:t>
                      </a:r>
                      <a:endParaRPr lang="en-US" sz="1400" dirty="0">
                        <a:latin typeface="Rubik" charset="0"/>
                        <a:ea typeface="Rubik" charset="0"/>
                        <a:cs typeface="Rubik" charset="0"/>
                      </a:endParaRPr>
                    </a:p>
                  </a:txBody>
                  <a:tcPr marL="62230" marR="62230" marT="62230" marB="62230"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3</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Set the scene: we’re reviewing the session, not each other</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5</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Silent writing on sticky notes, one idea per note</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7</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Group the notes and talk through the biggest cluster in each column</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5</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Choose one action and give it an owner</a:t>
                      </a:r>
                      <a:endParaRPr lang="en-US" sz="1400" dirty="0">
                        <a:latin typeface="Rubik" charset="0"/>
                        <a:ea typeface="Rubik" charset="0"/>
                        <a:cs typeface="Rubik"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bl>
          </a:graphicData>
        </a:graphic>
      </p:graphicFrame>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Two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63204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THANK YOU</a:t>
            </a:r>
            <a:endParaRPr lang="en-US" sz="1200" dirty="0"/>
          </a:p>
        </p:txBody>
      </p:sp>
      <p:sp>
        <p:nvSpPr>
          <p:cNvPr id="3" name="Text 1"/>
          <p:cNvSpPr/>
          <p:nvPr>
            <p:ph type="title"/>
          </p:nvPr>
        </p:nvSpPr>
        <p:spPr>
          <a:xfrm>
            <a:off x="812800" y="2200970"/>
            <a:ext cx="10883392" cy="16026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BFAF6"/>
                </a:solidFill>
                <a:latin typeface="Rubik" pitchFamily="34" charset="0"/>
                <a:ea typeface="Rubik" pitchFamily="34" charset="-122"/>
                <a:cs typeface="Rubik" pitchFamily="34" charset="-120"/>
              </a:rPr>
              <a:t>Small pure functions, data you don’t change, and tests that tell you the next step. In any language.</a:t>
            </a:r>
            <a:endParaRPr lang="en-US" sz="3600" dirty="0"/>
          </a:p>
        </p:txBody>
      </p:sp>
      <p:sp>
        <p:nvSpPr>
          <p:cNvPr id="4" name="Shape 2"/>
          <p:cNvSpPr/>
          <p:nvPr/>
        </p:nvSpPr>
        <p:spPr>
          <a:xfrm>
            <a:off x="812800" y="4146550"/>
            <a:ext cx="5130800" cy="0"/>
          </a:xfrm>
          <a:prstGeom prst="line">
            <a:avLst/>
          </a:prstGeom>
          <a:noFill/>
          <a:ln w="25400">
            <a:solidFill>
              <a:srgbClr val="F2A65A"/>
            </a:solidFill>
            <a:prstDash val="solid"/>
          </a:ln>
        </p:spPr>
      </p:sp>
      <p:sp>
        <p:nvSpPr>
          <p:cNvPr id="5" name="Text 3"/>
          <p:cNvSpPr/>
          <p:nvPr/>
        </p:nvSpPr>
        <p:spPr>
          <a:xfrm>
            <a:off x="812800" y="4337050"/>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Rubik" pitchFamily="34" charset="0"/>
                <a:ea typeface="Rubik" pitchFamily="34" charset="-122"/>
                <a:cs typeface="Rubik" pitchFamily="34" charset="-120"/>
              </a:rPr>
              <a:t>Keep practising</a:t>
            </a:r>
            <a:endParaRPr lang="en-US" sz="1600" dirty="0"/>
          </a:p>
        </p:txBody>
      </p:sp>
      <p:sp>
        <p:nvSpPr>
          <p:cNvPr id="6" name="Text 4"/>
          <p:cNvSpPr/>
          <p:nvPr/>
        </p:nvSpPr>
        <p:spPr>
          <a:xfrm>
            <a:off x="812800" y="4657030"/>
            <a:ext cx="528472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guide.elm-lang.org, and the Elm and Elixir tracks on exercism.org</a:t>
            </a:r>
            <a:endParaRPr lang="en-US" sz="1600" dirty="0"/>
          </a:p>
        </p:txBody>
      </p:sp>
      <p:sp>
        <p:nvSpPr>
          <p:cNvPr id="7" name="Shape 5"/>
          <p:cNvSpPr/>
          <p:nvPr/>
        </p:nvSpPr>
        <p:spPr>
          <a:xfrm>
            <a:off x="6248400" y="4146550"/>
            <a:ext cx="5130800" cy="0"/>
          </a:xfrm>
          <a:prstGeom prst="line">
            <a:avLst/>
          </a:prstGeom>
          <a:noFill/>
          <a:ln w="25400">
            <a:solidFill>
              <a:srgbClr val="F2A65A"/>
            </a:solidFill>
            <a:prstDash val="solid"/>
          </a:ln>
        </p:spPr>
      </p:sp>
      <p:sp>
        <p:nvSpPr>
          <p:cNvPr id="8" name="Text 6"/>
          <p:cNvSpPr/>
          <p:nvPr/>
        </p:nvSpPr>
        <p:spPr>
          <a:xfrm>
            <a:off x="6248400" y="4337050"/>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Rubik" pitchFamily="34" charset="0"/>
                <a:ea typeface="Rubik" pitchFamily="34" charset="-122"/>
                <a:cs typeface="Rubik" pitchFamily="34" charset="-120"/>
              </a:rPr>
              <a:t>Capture your evidence</a:t>
            </a:r>
            <a:endParaRPr lang="en-US" sz="1600" dirty="0"/>
          </a:p>
        </p:txBody>
      </p:sp>
      <p:sp>
        <p:nvSpPr>
          <p:cNvPr id="9" name="Text 7"/>
          <p:cNvSpPr/>
          <p:nvPr/>
        </p:nvSpPr>
        <p:spPr>
          <a:xfrm>
            <a:off x="6248400" y="4657030"/>
            <a:ext cx="528472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Check the KSB mapping table for what to keep from today.</a:t>
            </a:r>
            <a:endParaRPr lang="en-US" sz="1600" dirty="0"/>
          </a:p>
        </p:txBody>
      </p:sp>
    </p:spTree>
  </p:cSld>
  <p:clrMapOvr>
    <a:masterClrMapping/>
  </p:clrMapOvr>
</p:sld>
</file>

<file path=ppt/theme/theme1.xml><?xml version="1.0" encoding="utf-8"?>
<a:theme xmlns:a="http://schemas.openxmlformats.org/drawingml/2006/main" name="FP with TDD - Part Two">
  <a:themeElements>
    <a:clrScheme name="FP with TDD - Part Two">
      <a:dk1>
        <a:srgbClr val="14213D"/>
      </a:dk1>
      <a:lt1>
        <a:srgbClr val="FBFAF6"/>
      </a:lt1>
      <a:dk2>
        <a:srgbClr val="4E576B"/>
      </a:dk2>
      <a:lt2>
        <a:srgbClr val="E4E4E4"/>
      </a:lt2>
      <a:accent1>
        <a:srgbClr val="A84A14"/>
      </a:accent1>
      <a:accent2>
        <a:srgbClr val="F2A65A"/>
      </a:accent2>
      <a:accent3>
        <a:srgbClr val="BFD0E6"/>
      </a:accent3>
      <a:accent4>
        <a:srgbClr val="3E5C86"/>
      </a:accent4>
      <a:accent5>
        <a:srgbClr val="3D4A5C"/>
      </a:accent5>
      <a:accent6>
        <a:srgbClr val="6B7585"/>
      </a:accent6>
      <a:hlink>
        <a:srgbClr val="0563C1"/>
      </a:hlink>
      <a:folHlink>
        <a:srgbClr val="954F72"/>
      </a:folHlink>
    </a:clrScheme>
    <a:fontScheme name="FP with TDD - Part Two">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 with TDD - Part Two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2026-10-27T12:06:50Z</dcterms:created>
  <dcterms:modified xsi:type="dcterms:W3CDTF">2026-10-27T12:06:50Z</dcterms:modified>
</cp:coreProperties>
</file>