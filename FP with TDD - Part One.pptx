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Rubik" pitchFamily="34" charset="0"/>
      <p:regular r:id="rId31"/>
      <p:bold r:id="rId32"/>
      <p:italic r:id="rId33"/>
      <p:boldItalic r:id="rId34"/>
    </p:embeddedFont>
    <p:embeddedFont>
      <p:font typeface="JetBrains Mono" panose="02000009000000000000" pitchFamily="49" charset="0"/>
      <p:regular r:id="rId35"/>
      <p:bold r:id="rId3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font" Target="fonts/font1.fntdata"/><Relationship Id="rId32" Type="http://schemas.openxmlformats.org/officeDocument/2006/relationships/font" Target="fonts/font2.fntdata"/><Relationship Id="rId33" Type="http://schemas.openxmlformats.org/officeDocument/2006/relationships/font" Target="fonts/font3.fntdata"/><Relationship Id="rId34" Type="http://schemas.openxmlformats.org/officeDocument/2006/relationships/font" Target="fonts/font4.fntdata"/><Relationship Id="rId35" Type="http://schemas.openxmlformats.org/officeDocument/2006/relationships/font" Target="fonts/font5.fntdata"/><Relationship Id="rId36"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Part One runs for two and a half hours in Python; Part Two, after a 10-minute break, switches to Elm. Prerequisites: basic Python only. No FP knowledge assumed. Each section has discussion gaps on purpose: when you ask a question, count to ten in your head before rescuing anyone.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 minutes of teaching time. Hold a 10-minute comfort break between Part One and Part Two; it isn’t in these timings, so start 10 minutes early or trim a minute here and there. Each section names the KSBs it supports, and the KSB mapping at the end of Part Two says what evidence to capture.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is 20 minutes: 10 talk, 5 activity, 5 discussion. Definitions so nobody has to pretend: imperative code is a sequence of instructions that change the program’s state (the values it’s remembering right now). Declarative code describes the result you want and leaves the steps to the language, library or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give [4, 16, 36] for numbers 1 to 6. is_even and square are small named pure functions, so the declarative line reads almost like the requirement. A functional programmer might also write list(map(square, filter(is_even, numbers))), which previews Elm’s List.map in Part Two. Mention that map and filter are lazy, hence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Few languages sit at one extreme, and Python lets you mix styles. Analogies: OOP is a kitchen of staff each with their own notebook; FP is a recipe card (same ingredients in, same meal out); IaC (Terraform, Kubernetes manifests) is ordering a room layout rather than carrying the furniture; SQL is asking a librarian for “all books about sharks since 2020”; HTML is a blueprint. Expect the pushback “isn’t OOP declarative if I just call order.total()?” Good instinct: the call site reads declaratively, but inside it’s usually step-by-step state changes. Spectrum, not binary. Don’t spend more than two minutes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question 2, steer towards: you gain less code for bugs to hide in, intent you can read at a glance, easier changes, no half-built state, and tools (SQL engines, Terraform, browsers) that do the how better than you. You lose control over performance, step-through debugging, visibility of what happens underneath, and readability once a comprehension gets clever. Some problems really are step-by-step (retries, UI flows). If the room is quiet: “Have you ever had a SQL query that was correct but far too slow? Whose fault was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is 35 minutes: 10 talk, 15 activity, 10 discussion and wrap-up. Reassure the room: these sound like a maths textbook, but each is a very ordinary idea, and by the end of the section they’ll be using all three without noticing. Everyone creates fibonacci.py now and builds it up through the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perfectly good Python function. Optional one-minute pairs challenge: delete next_number and write “previous = current” then “current = previous + current”. They’ll get the wrong answer, because previous has already changed when the second line runs. With mutable state, the order of lines matters: a tiny version of the Section 4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A side effect is anything a function does besides returning a value: changing a variable outside itself, printing, writing a file, calling an API. A pure function (1) always gives the same output for the same input and (2) has no side effects. The impure version returns 1, then 2, then 3 for the same (empty) input, and modifies a list that lives outside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len is pure. randint is impure (different output each time). datetime.now() is impure. sorted(numbers) is pure (returns a new list). numbers.sort() is impure (mutates the list and returns None). print is impure (side effect: writes to the screen). The sorted versus sort pair is the best bridge to the next idea, immutability.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Immutable means it can’t be changed after it’s created. In FP, instead of editing a thing you make a new thing. Ask the room to keep the whiteboard analogy handy: it comes back in Section 4, where a value gets changed and nobody can tell who did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Recursion: a function solves a problem by calling itself on a smaller version, until the problem is so small the answer is obvious (the base case). The code reads like the definition: no loop, nothing reassigned. Pure, immutable and recursive in one. There’s also a faster accumulator style, fibonacci_with_accumulator(position, previous=0, current=1), which passes running totals along as arguments; it comes back in Section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name to suggest: test_negative_position_is_rejected. Pitfall: fibonacci_recursive(-1) doesn’t crash; it quietly returns -1, because -1 is less than 2. Silent wrongness is worse than a crash. Stretch 2: time fibonacci_recursive(30) against the accumulator version with timeit, predicting first (on a laptop it’s roughly 0.05 seconds against a few microseconds). The naive version recomputes the same values exponentially many times; tie that to “performance” in Section 3. Don’t rescue pairs who find it themselves. Solutions are in Part 1 - Examples. Then 7 minutes of discussion: which version was easiest to read, and to trust? Where did you want to “just add a variable”?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is 15 minutes: 8 talk, 7 discussion. Be honest and don’t oversell. Python does not optimise tail calls (a recursive call as the very last step); Elm and Elixir do, which is one reason to use them for recursion-heavy FP. Demo: Part 3 - Strengths &amp; Weaknesses/test_fibonacci_acc.py proves the recursion limit with four tests; run python -m pytest -v -s to print the limit. The strongest pitch for FP is “here is the bug class it removes”, which Sections 4 and 5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tests check one small piece on its own, in milliseconds, and point straight at what broke. Integration tests check several parts together, such as your code and a real database, and need setup. End-to-end tests drive the whole system like a user and are brittle: they fail for reasons that aren’t bugs (slow network, a moved button, changed test data). Turn the pyramid upside down and you get slow feedback and flaky tests people learn to ignore.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unit test should check one piece on its own, but real code reads databases, sends emails and checks the time. Using the real thing is slow, may not be available, could email real customers, or gives a different answer each run. So we swap in a stand-in, named after film stunt doubles. Many people just say “mock” for all three. Doubles cost setup lines, tie tests to how the code works inside, and can behave differently from the real thing. A pure function needs none: everything it needs arrives as arguments. In the Good morning example the rule is the same; reading the clock just moved outside the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can’t make a whole program pure: it has to read input, save data and show things, and that’s what makes it useful. The trick is pushing side effects to the edges. You can check a recipe in the kitchen without a single customer; front-of-house checks are about whether orders get through. Every Fibonacci function in Section 2 was a core with no shell; Section 5 builds another, and Section 6 shows a discount rule with a thin shell. Business value (K4): fast, trustworthy tests mean teams ship sooner and chase fewer bugs. Say that when presenting work, not just “it’s cleaner”. Discussion (7 min): think of a test that used a mock; could the logic have been a pure function? Which cost worries you most, and which benefit tempts you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is 35 minutes: 5 rules and code tour, 20 bug hunt, 10 reveal and debrief. A kata is a small practice exercise you repeat to build skill, like scales on a piano. A game is 10 frames of up to two rolls at 10 pins. The code doesn’t need to validate impossible games. Hand out bowling_oop/bowling.py and test_bowling.py, then run python -m pytest -v live on the projector before explaining anything. Expected: 1 passed, 4 failed. Don’t mention the bug. Say only: “The scoring rules look right to me. Someone tell me why these are red.” Then run python -m pytest -v -k all_ones and watch faces when it goes green. The answer key is in the facilitator guide, Section 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Hypothesis-driven problem solving means resisting “poke it until it works”. bug-hunt-notes.md is the learners’ KSB evidence (S11). Release hints on a timer. After 5 minutes: what differs between running -k all_ones and running the whole file? After 10: add print(id(game.rolls), len(game.rolls)) at the start of score(). After 15: where is rolls created, and how many times does that line run? Pitfall to name: “the scoring logic is wrong”. It isn’t; each test passes alone, which is a strong clue. Stretch: after fixing, write a regression test; why does it need two Game objects? Discussion (10 min, includes the reveal): which hypothesis did you reject, and what rejected it? How long would this take in 50,000 lines with no tests? Could code review have caught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is 35 minutes: 5 briefing, 24 mobbing in six 4-minute turns, 6 debrief. Analogy: a pub quiz team, where one person writes and the whole table works out the answer. Mobs of 4 to 6 work best; with 12 people run two mobs on two screens. Confident talkers hog the navigator seat, so let the rotation timer referee (mob_timer.py, e.g. python mob_timer.py Ana Ben Cat Dev --minutes 4 --turns 6). Quiet apprentices often shine as navigators because they have to say the plan aloud: notice it and praise it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Someone other than the driver writes down one thing the mob learned at each rotation, for the debrief. Hint if stuck on step 3: score the first frame, then add score(everything after that frame). How many rolls does the frame use, and how many does it peek at? Hint if stuck on recursion: write the base case first. Pitfall: a strike uses one roll but looks at the next two, which stay in the list for the next frame. Pitfall: reaching for rolls.pop(0) or a running total; ask “can we return a new value instead?” Stretch: validate impossible rolls; write a pure frame_scores(rolls). Hold back the reference solution until the mob finishes or time is up; it’s a comparison point, not the right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FP makes this bug much less likely, not impossible. Python will happily accept a list instead of a tuple, or a function that mutates a global. In Python, immutability is a discipline, helped by tuples, frozen dataclasses and code review. In Elm the compiler enforces it, which previews Part Two. The tests does_not_change_its_input and twice_gives_the_same_answer turn the discipline into something executable. Debrief (3 min): what was it like to drive, and to navigate? When did the mob disagree, and how did you settle it? Did the tests stop you taking a shortcut?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is 10 minutes: 3 talk, 7 discussion. You don’t need a new language to benefit; these are moves for the next pull request. Example from the guide: apply_discount(order_total, is_premium_customer) is a pure rule tested with two one-line tests; the shell loads the order, calls it and saves the result. The rule is the part the business changes most and where errors cost real money (K4). Discussion: where in your current project would FP techniques help most, and where would they be a bad idea? How would you introduce a new style to a team that doesn’t know it? When is “good enough, mutable, and finished” the right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sticky-note activity supports S16 and B2: one function from their current work that could be pure, and what they’d have to move out of it. Learners keep it in their learning log. Then the comfort break; Part Two needs Node.js and Elm installed, so check laptops during the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A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Rubik" pitchFamily="34" charset="0"/>
                <a:ea typeface="Rubik" pitchFamily="34" charset="-122"/>
                <a:cs typeface="Rubi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361"/>
            <a:ext cx="10566400" cy="410983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Rubik" pitchFamily="34" charset="0"/>
                <a:ea typeface="Rubik" pitchFamily="34" charset="-122"/>
                <a:cs typeface="Rubik"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A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Rubik" pitchFamily="34" charset="0"/>
                <a:ea typeface="Rubik" pitchFamily="34" charset="-122"/>
                <a:cs typeface="Rubi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361"/>
            <a:ext cx="10566400" cy="410983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Rubik" pitchFamily="34" charset="0"/>
                <a:ea typeface="Rubik" pitchFamily="34" charset="-122"/>
                <a:cs typeface="Rubik"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2.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181739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65A"/>
                </a:solidFill>
                <a:latin typeface="Rubik" pitchFamily="34" charset="0"/>
                <a:ea typeface="Rubik" pitchFamily="34" charset="-122"/>
                <a:cs typeface="Rubik" pitchFamily="34" charset="-120"/>
              </a:rPr>
              <a:t>APPRENTICE WORKSHOP · PART ONE</a:t>
            </a:r>
            <a:endParaRPr lang="en-US" sz="1200" dirty="0"/>
          </a:p>
        </p:txBody>
      </p:sp>
      <p:sp>
        <p:nvSpPr>
          <p:cNvPr id="3" name="Text 1"/>
          <p:cNvSpPr/>
          <p:nvPr>
            <p:ph type="title"/>
          </p:nvPr>
        </p:nvSpPr>
        <p:spPr>
          <a:xfrm>
            <a:off x="812800" y="228471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BFAF6"/>
                </a:solidFill>
                <a:latin typeface="Rubik" pitchFamily="34" charset="0"/>
                <a:ea typeface="Rubik" pitchFamily="34" charset="-122"/>
                <a:cs typeface="Rubik" pitchFamily="34" charset="-120"/>
              </a:rPr>
              <a:t>Functional Programming with TDD</a:t>
            </a:r>
            <a:endParaRPr lang="en-US" sz="6000" dirty="0"/>
          </a:p>
        </p:txBody>
      </p:sp>
      <p:sp>
        <p:nvSpPr>
          <p:cNvPr id="4" name="Text 2"/>
          <p:cNvSpPr/>
          <p:nvPr/>
        </p:nvSpPr>
        <p:spPr>
          <a:xfrm>
            <a:off x="812800" y="4138910"/>
            <a:ext cx="11379200" cy="38854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BFD0E6"/>
                </a:solidFill>
                <a:latin typeface="Rubik" pitchFamily="34" charset="0"/>
                <a:ea typeface="Rubik" pitchFamily="34" charset="-122"/>
                <a:cs typeface="Rubik" pitchFamily="34" charset="-120"/>
              </a:rPr>
              <a:t>The basics, in Python: pure functions, immutability, recursion and a bowling bug.</a:t>
            </a:r>
            <a:endParaRPr lang="en-US" sz="2200" dirty="0"/>
          </a:p>
        </p:txBody>
      </p:sp>
      <p:sp>
        <p:nvSpPr>
          <p:cNvPr id="5" name="Text 3"/>
          <p:cNvSpPr/>
          <p:nvPr/>
        </p:nvSpPr>
        <p:spPr>
          <a:xfrm>
            <a:off x="812800" y="475605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FD0E6"/>
                </a:solidFill>
                <a:latin typeface="Rubik" pitchFamily="34" charset="0"/>
                <a:ea typeface="Rubik" pitchFamily="34" charset="-122"/>
                <a:cs typeface="Rubik" pitchFamily="34" charset="-120"/>
              </a:rPr>
              <a:t>2½ hours · Sections 1–6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A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A14"/>
                </a:solidFill>
                <a:latin typeface="Rubik" pitchFamily="34" charset="0"/>
                <a:ea typeface="Rubik" pitchFamily="34" charset="-122"/>
                <a:cs typeface="Rubik" pitchFamily="34" charset="-120"/>
              </a:rPr>
              <a:t>TODAY</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Six sections, two and a half hours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8061"/>
          <a:ext cx="10553700" cy="3074690"/>
        </p:xfrm>
        <a:graphic>
          <a:graphicData uri="http://schemas.openxmlformats.org/drawingml/2006/table">
            <a:tbl>
              <a:tblPr/>
              <a:tblGrid>
                <a:gridCol w="1477518"/>
                <a:gridCol w="7176516"/>
                <a:gridCol w="1899666"/>
              </a:tblGrid>
              <a:tr h="439241">
                <a:tc>
                  <a:txBody>
                    <a:bodyPr/>
                    <a:lstStyle/>
                    <a:p>
                      <a:pPr indent="0" marL="0">
                        <a:lnSpc>
                          <a:spcPts val="2240"/>
                        </a:lnSpc>
                        <a:buNone/>
                      </a:pPr>
                      <a:r>
                        <a:rPr lang="en-US" sz="1600" b="1" dirty="0">
                          <a:solidFill>
                            <a:srgbClr val="3D4A5C"/>
                          </a:solidFill>
                          <a:latin typeface="Rubik" pitchFamily="34" charset="0"/>
                          <a:ea typeface="Rubik" pitchFamily="34" charset="-122"/>
                          <a:cs typeface="Rubik" pitchFamily="34" charset="-120"/>
                        </a:rPr>
                        <a:t>Section</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BAB9B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AB9B6"/>
                      </a:solidFill>
                      <a:prstDash val="solid"/>
                      <a:round/>
                      <a:headEnd type="none" w="med" len="med"/>
                      <a:tailEnd type="none" w="med" len="med"/>
                    </a:lnB>
                    <a:solidFill>
                      <a:srgbClr val="E9E8E4"/>
                    </a:solidFill>
                  </a:tcPr>
                </a:tc>
                <a:tc>
                  <a:txBody>
                    <a:bodyPr/>
                    <a:lstStyle/>
                    <a:p>
                      <a:pPr indent="0" marL="0">
                        <a:lnSpc>
                          <a:spcPts val="2240"/>
                        </a:lnSpc>
                        <a:buNone/>
                      </a:pPr>
                      <a:r>
                        <a:rPr lang="en-US" sz="1600" b="1" dirty="0">
                          <a:solidFill>
                            <a:srgbClr val="3D4A5C"/>
                          </a:solidFill>
                          <a:latin typeface="Rubik" pitchFamily="34" charset="0"/>
                          <a:ea typeface="Rubik" pitchFamily="34" charset="-122"/>
                          <a:cs typeface="Rubik" pitchFamily="34" charset="-120"/>
                        </a:rPr>
                        <a:t>What we’ll do</a:t>
                      </a:r>
                      <a:endParaRPr lang="en-US" sz="1600" dirty="0">
                        <a:latin typeface="Rubik" charset="0"/>
                        <a:ea typeface="Rubik" charset="0"/>
                        <a:cs typeface="Rubik" charset="0"/>
                      </a:endParaRPr>
                    </a:p>
                  </a:txBody>
                  <a:tcPr marL="71120" marR="71120" marT="71120" marB="71120" anchor="t">
                    <a:lnL w="12700" cap="flat" cmpd="sng" algn="ctr">
                      <a:solidFill>
                        <a:srgbClr val="BAB9B6"/>
                      </a:solidFill>
                      <a:prstDash val="solid"/>
                      <a:round/>
                      <a:headEnd type="none" w="med" len="med"/>
                      <a:tailEnd type="none" w="med" len="med"/>
                    </a:lnL>
                    <a:lnR w="12700" cap="flat" cmpd="sng" algn="ctr">
                      <a:solidFill>
                        <a:srgbClr val="BAB9B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AB9B6"/>
                      </a:solidFill>
                      <a:prstDash val="solid"/>
                      <a:round/>
                      <a:headEnd type="none" w="med" len="med"/>
                      <a:tailEnd type="none" w="med" len="med"/>
                    </a:lnB>
                    <a:solidFill>
                      <a:srgbClr val="E9E8E4"/>
                    </a:solidFill>
                  </a:tcPr>
                </a:tc>
                <a:tc>
                  <a:txBody>
                    <a:bodyPr/>
                    <a:lstStyle/>
                    <a:p>
                      <a:pPr algn="r" indent="0" marL="0">
                        <a:lnSpc>
                          <a:spcPts val="2240"/>
                        </a:lnSpc>
                        <a:buNone/>
                      </a:pPr>
                      <a:r>
                        <a:rPr lang="en-US" sz="1600" b="1" dirty="0">
                          <a:solidFill>
                            <a:srgbClr val="3D4A5C"/>
                          </a:solidFill>
                          <a:latin typeface="Rubik" pitchFamily="34" charset="0"/>
                          <a:ea typeface="Rubik" pitchFamily="34" charset="-122"/>
                          <a:cs typeface="Rubik" pitchFamily="34" charset="-120"/>
                        </a:rPr>
                        <a:t>Minutes</a:t>
                      </a:r>
                      <a:endParaRPr lang="en-US" sz="1600" dirty="0">
                        <a:latin typeface="Rubik" charset="0"/>
                        <a:ea typeface="Rubik" charset="0"/>
                        <a:cs typeface="Rubik" charset="0"/>
                      </a:endParaRPr>
                    </a:p>
                  </a:txBody>
                  <a:tcPr marL="71120" marR="71120" marT="71120" marB="71120" anchor="t">
                    <a:lnL w="12700" cap="flat" cmpd="sng" algn="ctr">
                      <a:solidFill>
                        <a:srgbClr val="BAB9B6"/>
                      </a:solidFill>
                      <a:prstDash val="solid"/>
                      <a:round/>
                      <a:headEnd type="none" w="med" len="med"/>
                      <a:tailEnd type="none" w="med" len="med"/>
                    </a:lnL>
                    <a:lnR w="12700" cap="flat" cmpd="sng" algn="ctr">
                      <a:solidFill>
                        <a:srgbClr val="BAB9B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AB9B6"/>
                      </a:solidFill>
                      <a:prstDash val="solid"/>
                      <a:round/>
                      <a:headEnd type="none" w="med" len="med"/>
                      <a:tailEnd type="none" w="med" len="med"/>
                    </a:lnB>
                    <a:solidFill>
                      <a:srgbClr val="E9E8E4"/>
                    </a:solidFill>
                  </a:tcPr>
                </a:tc>
              </a:tr>
              <a:tr h="439241">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1</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What is functional programming?</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2240"/>
                        </a:lnSpc>
                        <a:buNone/>
                      </a:pPr>
                      <a:r>
                        <a:rPr lang="en-US" sz="1600" dirty="0">
                          <a:solidFill>
                            <a:srgbClr val="3D4A5C"/>
                          </a:solidFill>
                          <a:latin typeface="Rubik" pitchFamily="34" charset="0"/>
                          <a:ea typeface="Rubik" pitchFamily="34" charset="-122"/>
                          <a:cs typeface="Rubik" pitchFamily="34" charset="-120"/>
                        </a:rPr>
                        <a:t>20</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439241">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2</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Core concepts through Fibonacci</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2240"/>
                        </a:lnSpc>
                        <a:buNone/>
                      </a:pPr>
                      <a:r>
                        <a:rPr lang="en-US" sz="1600" dirty="0">
                          <a:solidFill>
                            <a:srgbClr val="3D4A5C"/>
                          </a:solidFill>
                          <a:latin typeface="Rubik" pitchFamily="34" charset="0"/>
                          <a:ea typeface="Rubik" pitchFamily="34" charset="-122"/>
                          <a:cs typeface="Rubik" pitchFamily="34" charset="-120"/>
                        </a:rPr>
                        <a:t>35</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439241">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3</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Strengths and weaknesses</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2240"/>
                        </a:lnSpc>
                        <a:buNone/>
                      </a:pPr>
                      <a:r>
                        <a:rPr lang="en-US" sz="1600" dirty="0">
                          <a:solidFill>
                            <a:srgbClr val="3D4A5C"/>
                          </a:solidFill>
                          <a:latin typeface="Rubik" pitchFamily="34" charset="0"/>
                          <a:ea typeface="Rubik" pitchFamily="34" charset="-122"/>
                          <a:cs typeface="Rubik" pitchFamily="34" charset="-120"/>
                        </a:rPr>
                        <a:t>15</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439241">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4</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The Bowling Kata bug hunt</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2240"/>
                        </a:lnSpc>
                        <a:buNone/>
                      </a:pPr>
                      <a:r>
                        <a:rPr lang="en-US" sz="1600" dirty="0">
                          <a:solidFill>
                            <a:srgbClr val="3D4A5C"/>
                          </a:solidFill>
                          <a:latin typeface="Rubik" pitchFamily="34" charset="0"/>
                          <a:ea typeface="Rubik" pitchFamily="34" charset="-122"/>
                          <a:cs typeface="Rubik" pitchFamily="34" charset="-120"/>
                        </a:rPr>
                        <a:t>35</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439241">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5</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Mob programming the Bowling Kata, functionally</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2240"/>
                        </a:lnSpc>
                        <a:buNone/>
                      </a:pPr>
                      <a:r>
                        <a:rPr lang="en-US" sz="1600" dirty="0">
                          <a:solidFill>
                            <a:srgbClr val="3D4A5C"/>
                          </a:solidFill>
                          <a:latin typeface="Rubik" pitchFamily="34" charset="0"/>
                          <a:ea typeface="Rubik" pitchFamily="34" charset="-122"/>
                          <a:cs typeface="Rubik" pitchFamily="34" charset="-120"/>
                        </a:rPr>
                        <a:t>35</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439241">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6</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FP on real projects</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2240"/>
                        </a:lnSpc>
                        <a:buNone/>
                      </a:pPr>
                      <a:r>
                        <a:rPr lang="en-US" sz="1600" dirty="0">
                          <a:solidFill>
                            <a:srgbClr val="3D4A5C"/>
                          </a:solidFill>
                          <a:latin typeface="Rubik" pitchFamily="34" charset="0"/>
                          <a:ea typeface="Rubik" pitchFamily="34" charset="-122"/>
                          <a:cs typeface="Rubik" pitchFamily="34" charset="-120"/>
                        </a:rPr>
                        <a:t>10</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85"/>
                </a:solidFill>
                <a:latin typeface="Rubik" pitchFamily="34" charset="0"/>
                <a:ea typeface="Rubik" pitchFamily="34" charset="-122"/>
                <a:cs typeface="Rubik" pitchFamily="34" charset="-120"/>
              </a:rPr>
              <a:t>Functional Programming with TDD · Part One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A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A14"/>
                </a:solidFill>
                <a:latin typeface="Rubik" pitchFamily="34" charset="0"/>
                <a:ea typeface="Rubik" pitchFamily="34" charset="-122"/>
                <a:cs typeface="Rubik" pitchFamily="34" charset="-120"/>
              </a:rPr>
              <a:t>SECTION 1 · WHAT IS FUNCTIONAL PROGRAMMING?</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Telling versus asking</a:t>
            </a:r>
            <a:endParaRPr lang="en-US" sz="3600" dirty="0"/>
          </a:p>
        </p:txBody>
      </p:sp>
      <p:sp>
        <p:nvSpPr>
          <p:cNvPr id="4" name="Shape 2"/>
          <p:cNvSpPr/>
          <p:nvPr/>
        </p:nvSpPr>
        <p:spPr>
          <a:xfrm>
            <a:off x="815975" y="1938536"/>
            <a:ext cx="5175250" cy="2398911"/>
          </a:xfrm>
          <a:prstGeom prst="roundRect">
            <a:avLst>
              <a:gd name="adj" fmla="val 4103"/>
            </a:avLst>
          </a:prstGeom>
          <a:solidFill>
            <a:srgbClr val="FFFEFB"/>
          </a:solidFill>
          <a:ln w="6350">
            <a:solidFill>
              <a:srgbClr val="E2DED5"/>
            </a:solidFill>
            <a:prstDash val="solid"/>
          </a:ln>
        </p:spPr>
      </p:sp>
      <p:sp>
        <p:nvSpPr>
          <p:cNvPr id="5" name="Text 3"/>
          <p:cNvSpPr/>
          <p:nvPr/>
        </p:nvSpPr>
        <p:spPr>
          <a:xfrm>
            <a:off x="1123950" y="2246511"/>
            <a:ext cx="469607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4A14"/>
                </a:solidFill>
                <a:latin typeface="Rubik" pitchFamily="34" charset="0"/>
                <a:ea typeface="Rubik" pitchFamily="34" charset="-122"/>
                <a:cs typeface="Rubik" pitchFamily="34" charset="-120"/>
              </a:rPr>
              <a:t>IMPERATIVE</a:t>
            </a:r>
            <a:endParaRPr lang="en-US" sz="1200" dirty="0"/>
          </a:p>
        </p:txBody>
      </p:sp>
      <p:sp>
        <p:nvSpPr>
          <p:cNvPr id="6" name="Text 4"/>
          <p:cNvSpPr/>
          <p:nvPr/>
        </p:nvSpPr>
        <p:spPr>
          <a:xfrm>
            <a:off x="1123950" y="2586831"/>
            <a:ext cx="4696079"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Rubik" pitchFamily="34" charset="0"/>
                <a:ea typeface="Rubik" pitchFamily="34" charset="-122"/>
                <a:cs typeface="Rubik" pitchFamily="34" charset="-120"/>
              </a:rPr>
              <a:t>Give directions</a:t>
            </a:r>
            <a:endParaRPr lang="en-US" sz="2200" dirty="0"/>
          </a:p>
        </p:txBody>
      </p:sp>
      <p:sp>
        <p:nvSpPr>
          <p:cNvPr id="7" name="Text 5"/>
          <p:cNvSpPr/>
          <p:nvPr/>
        </p:nvSpPr>
        <p:spPr>
          <a:xfrm>
            <a:off x="1123950" y="3049091"/>
            <a:ext cx="4696079" cy="594320"/>
          </a:xfrm>
          <a:prstGeom prst="rect">
            <a:avLst/>
          </a:prstGeom>
          <a:noFill/>
          <a:ln/>
        </p:spPr>
        <p:txBody>
          <a:bodyPr wrap="square" lIns="0" tIns="0" rIns="0" bIns="0" rtlCol="0" anchor="t">
            <a:normAutofit/>
          </a:bodyPr>
          <a:lstStyle/>
          <a:p>
            <a:pPr algn="l" indent="0" marL="0">
              <a:lnSpc>
                <a:spcPts val="2240"/>
              </a:lnSpc>
              <a:buNone/>
            </a:pPr>
            <a:r>
              <a:rPr lang="en-US" sz="1600" i="1" dirty="0">
                <a:solidFill>
                  <a:srgbClr val="3D4A5C"/>
                </a:solidFill>
                <a:latin typeface="Rubik" pitchFamily="34" charset="0"/>
                <a:ea typeface="Rubik" pitchFamily="34" charset="-122"/>
                <a:cs typeface="Rubik" pitchFamily="34" charset="-120"/>
              </a:rPr>
              <a:t>“Turn left at the chippy, straight on for 400 metres, take the second right.”</a:t>
            </a:r>
            <a:endParaRPr lang="en-US" sz="1600" dirty="0"/>
          </a:p>
        </p:txBody>
      </p:sp>
      <p:sp>
        <p:nvSpPr>
          <p:cNvPr id="8" name="Text 6"/>
          <p:cNvSpPr/>
          <p:nvPr/>
        </p:nvSpPr>
        <p:spPr>
          <a:xfrm>
            <a:off x="1123950" y="3745012"/>
            <a:ext cx="4696079"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You spell out </a:t>
            </a:r>
            <a:r>
              <a:rPr lang="en-US" sz="1600" b="1" dirty="0">
                <a:solidFill>
                  <a:srgbClr val="3D4A5C"/>
                </a:solidFill>
                <a:latin typeface="Rubik" pitchFamily="34" charset="0"/>
                <a:ea typeface="Rubik" pitchFamily="34" charset="-122"/>
                <a:cs typeface="Rubik" pitchFamily="34" charset="-120"/>
              </a:rPr>
              <a:t>how</a:t>
            </a:r>
            <a:r>
              <a:rPr lang="en-US" sz="1600" dirty="0">
                <a:solidFill>
                  <a:srgbClr val="3D4A5C"/>
                </a:solidFill>
                <a:latin typeface="Rubik" pitchFamily="34" charset="0"/>
                <a:ea typeface="Rubik" pitchFamily="34" charset="-122"/>
                <a:cs typeface="Rubik" pitchFamily="34" charset="-120"/>
              </a:rPr>
              <a:t>, step by step.</a:t>
            </a:r>
            <a:endParaRPr lang="en-US" sz="1600" dirty="0"/>
          </a:p>
        </p:txBody>
      </p:sp>
      <p:sp>
        <p:nvSpPr>
          <p:cNvPr id="9" name="Shape 7"/>
          <p:cNvSpPr/>
          <p:nvPr/>
        </p:nvSpPr>
        <p:spPr>
          <a:xfrm>
            <a:off x="6200775" y="1938536"/>
            <a:ext cx="5175250" cy="2398911"/>
          </a:xfrm>
          <a:prstGeom prst="roundRect">
            <a:avLst>
              <a:gd name="adj" fmla="val 4103"/>
            </a:avLst>
          </a:prstGeom>
          <a:solidFill>
            <a:srgbClr val="FFFEFB"/>
          </a:solidFill>
          <a:ln w="6350">
            <a:solidFill>
              <a:srgbClr val="E2DED5"/>
            </a:solidFill>
            <a:prstDash val="solid"/>
          </a:ln>
        </p:spPr>
      </p:sp>
      <p:sp>
        <p:nvSpPr>
          <p:cNvPr id="10" name="Text 8"/>
          <p:cNvSpPr/>
          <p:nvPr/>
        </p:nvSpPr>
        <p:spPr>
          <a:xfrm>
            <a:off x="6508750" y="2246511"/>
            <a:ext cx="469607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4A14"/>
                </a:solidFill>
                <a:latin typeface="Rubik" pitchFamily="34" charset="0"/>
                <a:ea typeface="Rubik" pitchFamily="34" charset="-122"/>
                <a:cs typeface="Rubik" pitchFamily="34" charset="-120"/>
              </a:rPr>
              <a:t>DECLARATIVE</a:t>
            </a:r>
            <a:endParaRPr lang="en-US" sz="1200" dirty="0"/>
          </a:p>
        </p:txBody>
      </p:sp>
      <p:sp>
        <p:nvSpPr>
          <p:cNvPr id="11" name="Text 9"/>
          <p:cNvSpPr/>
          <p:nvPr/>
        </p:nvSpPr>
        <p:spPr>
          <a:xfrm>
            <a:off x="6508750" y="2586831"/>
            <a:ext cx="4696079"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Rubik" pitchFamily="34" charset="0"/>
                <a:ea typeface="Rubik" pitchFamily="34" charset="-122"/>
                <a:cs typeface="Rubik" pitchFamily="34" charset="-120"/>
              </a:rPr>
              <a:t>Type in the postcode</a:t>
            </a:r>
            <a:endParaRPr lang="en-US" sz="2200" dirty="0"/>
          </a:p>
        </p:txBody>
      </p:sp>
      <p:sp>
        <p:nvSpPr>
          <p:cNvPr id="12" name="Text 10"/>
          <p:cNvSpPr/>
          <p:nvPr/>
        </p:nvSpPr>
        <p:spPr>
          <a:xfrm>
            <a:off x="6508750" y="3049091"/>
            <a:ext cx="4696079" cy="309860"/>
          </a:xfrm>
          <a:prstGeom prst="rect">
            <a:avLst/>
          </a:prstGeom>
          <a:noFill/>
          <a:ln/>
        </p:spPr>
        <p:txBody>
          <a:bodyPr wrap="square" lIns="0" tIns="0" rIns="0" bIns="0" rtlCol="0" anchor="t">
            <a:normAutofit/>
          </a:bodyPr>
          <a:lstStyle/>
          <a:p>
            <a:pPr algn="l" indent="0" marL="0">
              <a:lnSpc>
                <a:spcPts val="2240"/>
              </a:lnSpc>
              <a:buNone/>
            </a:pPr>
            <a:r>
              <a:rPr lang="en-US" sz="1600" i="1" dirty="0">
                <a:solidFill>
                  <a:srgbClr val="3D4A5C"/>
                </a:solidFill>
                <a:latin typeface="Rubik" pitchFamily="34" charset="0"/>
                <a:ea typeface="Rubik" pitchFamily="34" charset="-122"/>
                <a:cs typeface="Rubik" pitchFamily="34" charset="-120"/>
              </a:rPr>
              <a:t>“Take me to LE11 3TU.”</a:t>
            </a:r>
            <a:endParaRPr lang="en-US" sz="1600" dirty="0"/>
          </a:p>
        </p:txBody>
      </p:sp>
      <p:sp>
        <p:nvSpPr>
          <p:cNvPr id="13" name="Text 11"/>
          <p:cNvSpPr/>
          <p:nvPr/>
        </p:nvSpPr>
        <p:spPr>
          <a:xfrm>
            <a:off x="6508750" y="3460552"/>
            <a:ext cx="4696079"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You say </a:t>
            </a:r>
            <a:r>
              <a:rPr lang="en-US" sz="1600" b="1" dirty="0">
                <a:solidFill>
                  <a:srgbClr val="3D4A5C"/>
                </a:solidFill>
                <a:latin typeface="Rubik" pitchFamily="34" charset="0"/>
                <a:ea typeface="Rubik" pitchFamily="34" charset="-122"/>
                <a:cs typeface="Rubik" pitchFamily="34" charset="-120"/>
              </a:rPr>
              <a:t>what</a:t>
            </a:r>
            <a:r>
              <a:rPr lang="en-US" sz="1600" dirty="0">
                <a:solidFill>
                  <a:srgbClr val="3D4A5C"/>
                </a:solidFill>
                <a:latin typeface="Rubik" pitchFamily="34" charset="0"/>
                <a:ea typeface="Rubik" pitchFamily="34" charset="-122"/>
                <a:cs typeface="Rubik" pitchFamily="34" charset="-120"/>
              </a:rPr>
              <a:t> you want, and something else works out how.</a:t>
            </a:r>
            <a:endParaRPr lang="en-US" sz="16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85"/>
                </a:solidFill>
                <a:latin typeface="Rubik" pitchFamily="34" charset="0"/>
                <a:ea typeface="Rubik" pitchFamily="34" charset="-122"/>
                <a:cs typeface="Rubik" pitchFamily="34" charset="-120"/>
              </a:rPr>
              <a:t>Functional Programming with TDD · Part One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A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A14"/>
                </a:solidFill>
                <a:latin typeface="Rubik" pitchFamily="34" charset="0"/>
                <a:ea typeface="Rubik" pitchFamily="34" charset="-122"/>
                <a:cs typeface="Rubik" pitchFamily="34" charset="-120"/>
              </a:rPr>
              <a:t>SECTION 1 · WHAT IS FUNCTIONAL PROGRAMMING?</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Same answer, two mindsets</a:t>
            </a:r>
            <a:endParaRPr lang="en-US" sz="3600" dirty="0"/>
          </a:p>
        </p:txBody>
      </p:sp>
      <p:sp>
        <p:nvSpPr>
          <p:cNvPr id="4" name="Text 2"/>
          <p:cNvSpPr/>
          <p:nvPr/>
        </p:nvSpPr>
        <p:spPr>
          <a:xfrm>
            <a:off x="812800" y="1935361"/>
            <a:ext cx="5337048"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Rubik" pitchFamily="34" charset="0"/>
                <a:ea typeface="Rubik" pitchFamily="34" charset="-122"/>
                <a:cs typeface="Rubik" pitchFamily="34" charset="-120"/>
              </a:rPr>
              <a:t>Imperative</a:t>
            </a:r>
            <a:endParaRPr lang="en-US" sz="2200" dirty="0"/>
          </a:p>
        </p:txBody>
      </p:sp>
      <p:sp>
        <p:nvSpPr>
          <p:cNvPr id="5" name="Text 3"/>
          <p:cNvSpPr/>
          <p:nvPr/>
        </p:nvSpPr>
        <p:spPr>
          <a:xfrm>
            <a:off x="812800" y="2397621"/>
            <a:ext cx="5181600" cy="1574800"/>
          </a:xfrm>
          <a:prstGeom prst="roundRect">
            <a:avLst>
              <a:gd name="adj" fmla="val 6452"/>
            </a:avLst>
          </a:prstGeom>
          <a:solidFill>
            <a:srgbClr val="14213D"/>
          </a:solidFill>
          <a:ln/>
        </p:spPr>
        <p:txBody>
          <a:bodyPr wrap="none" lIns="224242" tIns="224242" rIns="84034" bIns="198842" rtlCol="0" anchor="t">
            <a:normAutofit/>
          </a:bodyPr>
          <a:lstStyle/>
          <a:p>
            <a:pPr algn="l" indent="0" marL="0">
              <a:lnSpc>
                <a:spcPts val="2100"/>
              </a:lnSpc>
              <a:buNone/>
            </a:pPr>
            <a:r>
              <a:rPr lang="en-US" sz="1400" dirty="0">
                <a:solidFill>
                  <a:srgbClr val="E9EDF3"/>
                </a:solidFill>
                <a:latin typeface="JetBrains Mono" pitchFamily="49" charset="0"/>
                <a:ea typeface="JetBrains Mono" pitchFamily="49" charset="-122"/>
                <a:cs typeface="JetBrains Mono" pitchFamily="49" charset="-120"/>
              </a:rPr>
              <a:t>squares = []</a:t>
            </a:r>
            <a:endParaRPr lang="en-US" sz="1400" dirty="0"/>
          </a:p>
          <a:p>
            <a:pPr algn="l" indent="0" marL="0">
              <a:lnSpc>
                <a:spcPts val="2100"/>
              </a:lnSpc>
              <a:buNone/>
            </a:pPr>
            <a:r>
              <a:rPr lang="en-US" sz="1400" dirty="0">
                <a:solidFill>
                  <a:srgbClr val="E9EDF3"/>
                </a:solidFill>
                <a:latin typeface="JetBrains Mono" pitchFamily="49" charset="0"/>
                <a:ea typeface="JetBrains Mono" pitchFamily="49" charset="-122"/>
                <a:cs typeface="JetBrains Mono" pitchFamily="49" charset="-120"/>
              </a:rPr>
              <a:t>for number in numbers:</a:t>
            </a:r>
            <a:endParaRPr lang="en-US" sz="1400" dirty="0"/>
          </a:p>
          <a:p>
            <a:pPr algn="l" indent="0" marL="0">
              <a:lnSpc>
                <a:spcPts val="2100"/>
              </a:lnSpc>
              <a:buNone/>
            </a:pPr>
            <a:r>
              <a:rPr lang="en-US" sz="1400" dirty="0">
                <a:solidFill>
                  <a:srgbClr val="E9EDF3"/>
                </a:solidFill>
                <a:latin typeface="JetBrains Mono" pitchFamily="49" charset="0"/>
                <a:ea typeface="JetBrains Mono" pitchFamily="49" charset="-122"/>
                <a:cs typeface="JetBrains Mono" pitchFamily="49" charset="-120"/>
              </a:rPr>
              <a:t>    if is_even(number):</a:t>
            </a:r>
            <a:endParaRPr lang="en-US" sz="1400" dirty="0"/>
          </a:p>
          <a:p>
            <a:pPr algn="l" indent="0" marL="0">
              <a:lnSpc>
                <a:spcPts val="2100"/>
              </a:lnSpc>
              <a:buNone/>
            </a:pPr>
            <a:r>
              <a:rPr lang="en-US" sz="1400" dirty="0">
                <a:solidFill>
                  <a:srgbClr val="E9EDF3"/>
                </a:solidFill>
                <a:latin typeface="JetBrains Mono" pitchFamily="49" charset="0"/>
                <a:ea typeface="JetBrains Mono" pitchFamily="49" charset="-122"/>
                <a:cs typeface="JetBrains Mono" pitchFamily="49" charset="-120"/>
              </a:rPr>
              <a:t>        squares.append(square(number))</a:t>
            </a:r>
            <a:endParaRPr lang="en-US" sz="1400" dirty="0"/>
          </a:p>
        </p:txBody>
      </p:sp>
      <p:sp>
        <p:nvSpPr>
          <p:cNvPr id="6" name="Text 4"/>
          <p:cNvSpPr/>
          <p:nvPr/>
        </p:nvSpPr>
        <p:spPr>
          <a:xfrm>
            <a:off x="812800" y="4099421"/>
            <a:ext cx="533704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“Make an empty box, loop, check, add.”</a:t>
            </a:r>
            <a:endParaRPr lang="en-US" sz="1600" dirty="0"/>
          </a:p>
        </p:txBody>
      </p:sp>
      <p:sp>
        <p:nvSpPr>
          <p:cNvPr id="7" name="Text 5"/>
          <p:cNvSpPr/>
          <p:nvPr/>
        </p:nvSpPr>
        <p:spPr>
          <a:xfrm>
            <a:off x="6197600" y="1935361"/>
            <a:ext cx="5337048"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Rubik" pitchFamily="34" charset="0"/>
                <a:ea typeface="Rubik" pitchFamily="34" charset="-122"/>
                <a:cs typeface="Rubik" pitchFamily="34" charset="-120"/>
              </a:rPr>
              <a:t>Declarative</a:t>
            </a:r>
            <a:endParaRPr lang="en-US" sz="2200" dirty="0"/>
          </a:p>
        </p:txBody>
      </p:sp>
      <p:sp>
        <p:nvSpPr>
          <p:cNvPr id="8" name="Text 6"/>
          <p:cNvSpPr/>
          <p:nvPr/>
        </p:nvSpPr>
        <p:spPr>
          <a:xfrm>
            <a:off x="6197600" y="2397621"/>
            <a:ext cx="5181600" cy="1308100"/>
          </a:xfrm>
          <a:prstGeom prst="roundRect">
            <a:avLst>
              <a:gd name="adj" fmla="val 7767"/>
            </a:avLst>
          </a:prstGeom>
          <a:solidFill>
            <a:srgbClr val="14213D"/>
          </a:solidFill>
          <a:ln/>
        </p:spPr>
        <p:txBody>
          <a:bodyPr wrap="none" lIns="224242" tIns="224242" rIns="84034" bIns="198842" rtlCol="0" anchor="t">
            <a:normAutofit/>
          </a:bodyPr>
          <a:lstStyle/>
          <a:p>
            <a:pPr algn="l" indent="0" marL="0">
              <a:lnSpc>
                <a:spcPts val="2100"/>
              </a:lnSpc>
              <a:buNone/>
            </a:pPr>
            <a:r>
              <a:rPr lang="en-US" sz="1400" dirty="0">
                <a:solidFill>
                  <a:srgbClr val="E9EDF3"/>
                </a:solidFill>
                <a:latin typeface="JetBrains Mono" pitchFamily="49" charset="0"/>
                <a:ea typeface="JetBrains Mono" pitchFamily="49" charset="-122"/>
                <a:cs typeface="JetBrains Mono" pitchFamily="49" charset="-120"/>
              </a:rPr>
              <a:t>squares = [square(number)</a:t>
            </a:r>
            <a:endParaRPr lang="en-US" sz="1400" dirty="0"/>
          </a:p>
          <a:p>
            <a:pPr algn="l" indent="0" marL="0">
              <a:lnSpc>
                <a:spcPts val="2100"/>
              </a:lnSpc>
              <a:buNone/>
            </a:pPr>
            <a:r>
              <a:rPr lang="en-US" sz="1400" dirty="0">
                <a:solidFill>
                  <a:srgbClr val="E9EDF3"/>
                </a:solidFill>
                <a:latin typeface="JetBrains Mono" pitchFamily="49" charset="0"/>
                <a:ea typeface="JetBrains Mono" pitchFamily="49" charset="-122"/>
                <a:cs typeface="JetBrains Mono" pitchFamily="49" charset="-120"/>
              </a:rPr>
              <a:t>           for number in numbers</a:t>
            </a:r>
            <a:endParaRPr lang="en-US" sz="1400" dirty="0"/>
          </a:p>
          <a:p>
            <a:pPr algn="l" indent="0" marL="0">
              <a:lnSpc>
                <a:spcPts val="2100"/>
              </a:lnSpc>
              <a:buNone/>
            </a:pPr>
            <a:r>
              <a:rPr lang="en-US" sz="1400" dirty="0">
                <a:solidFill>
                  <a:srgbClr val="E9EDF3"/>
                </a:solidFill>
                <a:latin typeface="JetBrains Mono" pitchFamily="49" charset="0"/>
                <a:ea typeface="JetBrains Mono" pitchFamily="49" charset="-122"/>
                <a:cs typeface="JetBrains Mono" pitchFamily="49" charset="-120"/>
              </a:rPr>
              <a:t>           if is_even(number)]</a:t>
            </a:r>
            <a:endParaRPr lang="en-US" sz="1400" dirty="0"/>
          </a:p>
        </p:txBody>
      </p:sp>
      <p:sp>
        <p:nvSpPr>
          <p:cNvPr id="9" name="Text 7"/>
          <p:cNvSpPr/>
          <p:nvPr/>
        </p:nvSpPr>
        <p:spPr>
          <a:xfrm>
            <a:off x="6197600" y="3832721"/>
            <a:ext cx="533704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“I want the squares of the even numbers.”</a:t>
            </a:r>
            <a:endParaRPr lang="en-US" sz="1600" dirty="0"/>
          </a:p>
        </p:txBody>
      </p:sp>
      <p:sp>
        <p:nvSpPr>
          <p:cNvPr id="10"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85"/>
                </a:solidFill>
                <a:latin typeface="Rubik" pitchFamily="34" charset="0"/>
                <a:ea typeface="Rubik" pitchFamily="34" charset="-122"/>
                <a:cs typeface="Rubik" pitchFamily="34" charset="-120"/>
              </a:rPr>
              <a:t>Functional Programming with TDD · Part One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A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A14"/>
                </a:solidFill>
                <a:latin typeface="Rubik" pitchFamily="34" charset="0"/>
                <a:ea typeface="Rubik" pitchFamily="34" charset="-122"/>
                <a:cs typeface="Rubik" pitchFamily="34" charset="-120"/>
              </a:rPr>
              <a:t>SECTION 1 · WHAT IS FUNCTIONAL PROGRAMMING?</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A spectrum, not a switch</a:t>
            </a:r>
            <a:endParaRPr lang="en-US" sz="3600" dirty="0"/>
          </a:p>
        </p:txBody>
      </p:sp>
      <p:sp>
        <p:nvSpPr>
          <p:cNvPr id="4" name="Text 2"/>
          <p:cNvSpPr/>
          <p:nvPr/>
        </p:nvSpPr>
        <p:spPr>
          <a:xfrm>
            <a:off x="812800" y="1935361"/>
            <a:ext cx="1916311"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A84A14"/>
                </a:solidFill>
                <a:latin typeface="Rubik" pitchFamily="34" charset="0"/>
                <a:ea typeface="Rubik" pitchFamily="34" charset="-122"/>
                <a:cs typeface="Rubik" pitchFamily="34" charset="-120"/>
              </a:rPr>
              <a:t>Imperative: how</a:t>
            </a:r>
            <a:endParaRPr lang="en-US" sz="1600" dirty="0"/>
          </a:p>
        </p:txBody>
      </p:sp>
      <p:sp>
        <p:nvSpPr>
          <p:cNvPr id="5" name="Text 3"/>
          <p:cNvSpPr/>
          <p:nvPr/>
        </p:nvSpPr>
        <p:spPr>
          <a:xfrm>
            <a:off x="9287748" y="1935361"/>
            <a:ext cx="2091452" cy="309860"/>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14213D"/>
                </a:solidFill>
                <a:latin typeface="Rubik" pitchFamily="34" charset="0"/>
                <a:ea typeface="Rubik" pitchFamily="34" charset="-122"/>
                <a:cs typeface="Rubik" pitchFamily="34" charset="-120"/>
              </a:rPr>
              <a:t>Declarative: what</a:t>
            </a:r>
            <a:endParaRPr lang="en-US" sz="1600" dirty="0"/>
          </a:p>
        </p:txBody>
      </p:sp>
      <p:sp>
        <p:nvSpPr>
          <p:cNvPr id="6" name="Shape 4"/>
          <p:cNvSpPr/>
          <p:nvPr/>
        </p:nvSpPr>
        <p:spPr>
          <a:xfrm>
            <a:off x="812800" y="2372221"/>
            <a:ext cx="10566400" cy="101600"/>
          </a:xfrm>
          <a:prstGeom prst="roundRect">
            <a:avLst>
              <a:gd name="adj" fmla="val 50000"/>
            </a:avLst>
          </a:prstGeom>
          <a:gradFill rotWithShape="1">
            <a:gsLst>
              <a:gs pos="0">
                <a:srgbClr val="A84A14"/>
              </a:gs>
              <a:gs pos="100000">
                <a:srgbClr val="14213D"/>
              </a:gs>
            </a:gsLst>
            <a:lin ang="0" scaled="0"/>
          </a:gradFill>
          <a:ln/>
        </p:spPr>
      </p:sp>
      <p:sp>
        <p:nvSpPr>
          <p:cNvPr id="7" name="Shape 5"/>
          <p:cNvSpPr/>
          <p:nvPr/>
        </p:nvSpPr>
        <p:spPr>
          <a:xfrm>
            <a:off x="815975" y="2629396"/>
            <a:ext cx="1667867" cy="1321891"/>
          </a:xfrm>
          <a:prstGeom prst="roundRect">
            <a:avLst>
              <a:gd name="adj" fmla="val 7446"/>
            </a:avLst>
          </a:prstGeom>
          <a:solidFill>
            <a:srgbClr val="FFFEFB"/>
          </a:solidFill>
          <a:ln w="6350">
            <a:solidFill>
              <a:srgbClr val="E2DED5"/>
            </a:solidFill>
            <a:prstDash val="solid"/>
          </a:ln>
        </p:spPr>
      </p:sp>
      <p:sp>
        <p:nvSpPr>
          <p:cNvPr id="8" name="Text 6"/>
          <p:cNvSpPr/>
          <p:nvPr/>
        </p:nvSpPr>
        <p:spPr>
          <a:xfrm>
            <a:off x="996950" y="2810371"/>
            <a:ext cx="135671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C, scripts</a:t>
            </a:r>
            <a:endParaRPr lang="en-US" sz="1600" dirty="0"/>
          </a:p>
        </p:txBody>
      </p:sp>
      <p:sp>
        <p:nvSpPr>
          <p:cNvPr id="9" name="Text 7"/>
          <p:cNvSpPr/>
          <p:nvPr/>
        </p:nvSpPr>
        <p:spPr>
          <a:xfrm>
            <a:off x="996950" y="3130352"/>
            <a:ext cx="135671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Rubik" pitchFamily="34" charset="0"/>
                <a:ea typeface="Rubik" pitchFamily="34" charset="-122"/>
                <a:cs typeface="Rubik" pitchFamily="34" charset="-120"/>
              </a:rPr>
              <a:t>Every step spelled out</a:t>
            </a:r>
            <a:endParaRPr lang="en-US" sz="1200" dirty="0"/>
          </a:p>
        </p:txBody>
      </p:sp>
      <p:sp>
        <p:nvSpPr>
          <p:cNvPr id="10" name="Shape 8"/>
          <p:cNvSpPr/>
          <p:nvPr/>
        </p:nvSpPr>
        <p:spPr>
          <a:xfrm>
            <a:off x="2591792" y="2629396"/>
            <a:ext cx="1667966" cy="1321891"/>
          </a:xfrm>
          <a:prstGeom prst="roundRect">
            <a:avLst>
              <a:gd name="adj" fmla="val 7446"/>
            </a:avLst>
          </a:prstGeom>
          <a:solidFill>
            <a:srgbClr val="FFFEFB"/>
          </a:solidFill>
          <a:ln w="6350">
            <a:solidFill>
              <a:srgbClr val="E2DED5"/>
            </a:solidFill>
            <a:prstDash val="solid"/>
          </a:ln>
        </p:spPr>
      </p:sp>
      <p:sp>
        <p:nvSpPr>
          <p:cNvPr id="11" name="Text 9"/>
          <p:cNvSpPr/>
          <p:nvPr/>
        </p:nvSpPr>
        <p:spPr>
          <a:xfrm>
            <a:off x="2772767" y="2810371"/>
            <a:ext cx="135681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OOP</a:t>
            </a:r>
            <a:endParaRPr lang="en-US" sz="1600" dirty="0"/>
          </a:p>
        </p:txBody>
      </p:sp>
      <p:sp>
        <p:nvSpPr>
          <p:cNvPr id="12" name="Text 10"/>
          <p:cNvSpPr/>
          <p:nvPr/>
        </p:nvSpPr>
        <p:spPr>
          <a:xfrm>
            <a:off x="2772767" y="3130352"/>
            <a:ext cx="135681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Rubik" pitchFamily="34" charset="0"/>
                <a:ea typeface="Rubik" pitchFamily="34" charset="-122"/>
                <a:cs typeface="Rubik" pitchFamily="34" charset="-120"/>
              </a:rPr>
              <a:t>Objects that change their own state</a:t>
            </a:r>
            <a:endParaRPr lang="en-US" sz="1200" dirty="0"/>
          </a:p>
        </p:txBody>
      </p:sp>
      <p:sp>
        <p:nvSpPr>
          <p:cNvPr id="13" name="Shape 11"/>
          <p:cNvSpPr/>
          <p:nvPr/>
        </p:nvSpPr>
        <p:spPr>
          <a:xfrm>
            <a:off x="4367709" y="2629396"/>
            <a:ext cx="1667867" cy="1321891"/>
          </a:xfrm>
          <a:prstGeom prst="roundRect">
            <a:avLst>
              <a:gd name="adj" fmla="val 7446"/>
            </a:avLst>
          </a:prstGeom>
          <a:solidFill>
            <a:srgbClr val="FFFEFB"/>
          </a:solidFill>
          <a:ln w="6350">
            <a:solidFill>
              <a:srgbClr val="E2DED5"/>
            </a:solidFill>
            <a:prstDash val="solid"/>
          </a:ln>
        </p:spPr>
      </p:sp>
      <p:sp>
        <p:nvSpPr>
          <p:cNvPr id="14" name="Text 12"/>
          <p:cNvSpPr/>
          <p:nvPr/>
        </p:nvSpPr>
        <p:spPr>
          <a:xfrm>
            <a:off x="4548684" y="2810371"/>
            <a:ext cx="135671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Python</a:t>
            </a:r>
            <a:endParaRPr lang="en-US" sz="1600" dirty="0"/>
          </a:p>
        </p:txBody>
      </p:sp>
      <p:sp>
        <p:nvSpPr>
          <p:cNvPr id="15" name="Text 13"/>
          <p:cNvSpPr/>
          <p:nvPr/>
        </p:nvSpPr>
        <p:spPr>
          <a:xfrm>
            <a:off x="4548684" y="3130352"/>
            <a:ext cx="135671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Rubik" pitchFamily="34" charset="0"/>
                <a:ea typeface="Rubik" pitchFamily="34" charset="-122"/>
                <a:cs typeface="Rubik" pitchFamily="34" charset="-120"/>
              </a:rPr>
              <a:t>Mix both, line by line</a:t>
            </a:r>
            <a:endParaRPr lang="en-US" sz="1200" dirty="0"/>
          </a:p>
        </p:txBody>
      </p:sp>
      <p:sp>
        <p:nvSpPr>
          <p:cNvPr id="16" name="Shape 14"/>
          <p:cNvSpPr/>
          <p:nvPr/>
        </p:nvSpPr>
        <p:spPr>
          <a:xfrm>
            <a:off x="6146701" y="2632571"/>
            <a:ext cx="1674316" cy="1315541"/>
          </a:xfrm>
          <a:prstGeom prst="roundRect">
            <a:avLst>
              <a:gd name="adj" fmla="val 7240"/>
            </a:avLst>
          </a:prstGeom>
          <a:solidFill>
            <a:srgbClr val="FFFEFB"/>
          </a:solidFill>
          <a:ln w="12700">
            <a:solidFill>
              <a:srgbClr val="A84A14"/>
            </a:solidFill>
            <a:prstDash val="solid"/>
          </a:ln>
        </p:spPr>
      </p:sp>
      <p:sp>
        <p:nvSpPr>
          <p:cNvPr id="17" name="Text 15"/>
          <p:cNvSpPr/>
          <p:nvPr/>
        </p:nvSpPr>
        <p:spPr>
          <a:xfrm>
            <a:off x="6330851" y="2816721"/>
            <a:ext cx="135681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A84A14"/>
                </a:solidFill>
                <a:latin typeface="Rubik" pitchFamily="34" charset="0"/>
                <a:ea typeface="Rubik" pitchFamily="34" charset="-122"/>
                <a:cs typeface="Rubik" pitchFamily="34" charset="-120"/>
              </a:rPr>
              <a:t>FP</a:t>
            </a:r>
            <a:endParaRPr lang="en-US" sz="1600" dirty="0"/>
          </a:p>
        </p:txBody>
      </p:sp>
      <p:sp>
        <p:nvSpPr>
          <p:cNvPr id="18" name="Text 16"/>
          <p:cNvSpPr/>
          <p:nvPr/>
        </p:nvSpPr>
        <p:spPr>
          <a:xfrm>
            <a:off x="6330851" y="3136702"/>
            <a:ext cx="135681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Rubik" pitchFamily="34" charset="0"/>
                <a:ea typeface="Rubik" pitchFamily="34" charset="-122"/>
                <a:cs typeface="Rubik" pitchFamily="34" charset="-120"/>
              </a:rPr>
              <a:t>Transform data, change nothing</a:t>
            </a:r>
            <a:endParaRPr lang="en-US" sz="1200" dirty="0"/>
          </a:p>
        </p:txBody>
      </p:sp>
      <p:sp>
        <p:nvSpPr>
          <p:cNvPr id="19" name="Shape 17"/>
          <p:cNvSpPr/>
          <p:nvPr/>
        </p:nvSpPr>
        <p:spPr>
          <a:xfrm>
            <a:off x="7932142" y="2629396"/>
            <a:ext cx="1667966" cy="1321891"/>
          </a:xfrm>
          <a:prstGeom prst="roundRect">
            <a:avLst>
              <a:gd name="adj" fmla="val 7446"/>
            </a:avLst>
          </a:prstGeom>
          <a:solidFill>
            <a:srgbClr val="FFFEFB"/>
          </a:solidFill>
          <a:ln w="6350">
            <a:solidFill>
              <a:srgbClr val="E2DED5"/>
            </a:solidFill>
            <a:prstDash val="solid"/>
          </a:ln>
        </p:spPr>
      </p:sp>
      <p:sp>
        <p:nvSpPr>
          <p:cNvPr id="20" name="Text 18"/>
          <p:cNvSpPr/>
          <p:nvPr/>
        </p:nvSpPr>
        <p:spPr>
          <a:xfrm>
            <a:off x="8113117" y="2810371"/>
            <a:ext cx="135681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IaC</a:t>
            </a:r>
            <a:endParaRPr lang="en-US" sz="1600" dirty="0"/>
          </a:p>
        </p:txBody>
      </p:sp>
      <p:sp>
        <p:nvSpPr>
          <p:cNvPr id="21" name="Text 19"/>
          <p:cNvSpPr/>
          <p:nvPr/>
        </p:nvSpPr>
        <p:spPr>
          <a:xfrm>
            <a:off x="8113117" y="3130352"/>
            <a:ext cx="135681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Rubik" pitchFamily="34" charset="0"/>
                <a:ea typeface="Rubik" pitchFamily="34" charset="-122"/>
                <a:cs typeface="Rubik" pitchFamily="34" charset="-120"/>
              </a:rPr>
              <a:t>The servers you want to exist</a:t>
            </a:r>
            <a:endParaRPr lang="en-US" sz="1200" dirty="0"/>
          </a:p>
        </p:txBody>
      </p:sp>
      <p:sp>
        <p:nvSpPr>
          <p:cNvPr id="22" name="Shape 20"/>
          <p:cNvSpPr/>
          <p:nvPr/>
        </p:nvSpPr>
        <p:spPr>
          <a:xfrm>
            <a:off x="9708059" y="2629396"/>
            <a:ext cx="1667966" cy="1321891"/>
          </a:xfrm>
          <a:prstGeom prst="roundRect">
            <a:avLst>
              <a:gd name="adj" fmla="val 7446"/>
            </a:avLst>
          </a:prstGeom>
          <a:solidFill>
            <a:srgbClr val="FFFEFB"/>
          </a:solidFill>
          <a:ln w="6350">
            <a:solidFill>
              <a:srgbClr val="E2DED5"/>
            </a:solidFill>
            <a:prstDash val="solid"/>
          </a:ln>
        </p:spPr>
      </p:sp>
      <p:sp>
        <p:nvSpPr>
          <p:cNvPr id="23" name="Text 21"/>
          <p:cNvSpPr/>
          <p:nvPr/>
        </p:nvSpPr>
        <p:spPr>
          <a:xfrm>
            <a:off x="9889034" y="2810371"/>
            <a:ext cx="135681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SQL, HTML</a:t>
            </a:r>
            <a:endParaRPr lang="en-US" sz="1600" dirty="0"/>
          </a:p>
        </p:txBody>
      </p:sp>
      <p:sp>
        <p:nvSpPr>
          <p:cNvPr id="24" name="Text 22"/>
          <p:cNvSpPr/>
          <p:nvPr/>
        </p:nvSpPr>
        <p:spPr>
          <a:xfrm>
            <a:off x="9889034" y="3130352"/>
            <a:ext cx="135681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Rubik" pitchFamily="34" charset="0"/>
                <a:ea typeface="Rubik" pitchFamily="34" charset="-122"/>
                <a:cs typeface="Rubik" pitchFamily="34" charset="-120"/>
              </a:rPr>
              <a:t>The result, not the route</a:t>
            </a:r>
            <a:endParaRPr lang="en-US" sz="1200" dirty="0"/>
          </a:p>
        </p:txBody>
      </p:sp>
      <p:sp>
        <p:nvSpPr>
          <p:cNvPr id="25" name="Text 2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85"/>
                </a:solidFill>
                <a:latin typeface="Rubik" pitchFamily="34" charset="0"/>
                <a:ea typeface="Rubik" pitchFamily="34" charset="-122"/>
                <a:cs typeface="Rubik" pitchFamily="34" charset="-120"/>
              </a:rPr>
              <a:t>Functional Programming with TDD · Part One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1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A14"/>
                </a:solidFill>
                <a:latin typeface="Rubik" pitchFamily="34" charset="0"/>
                <a:ea typeface="Rubik" pitchFamily="34" charset="-122"/>
                <a:cs typeface="Rubik" pitchFamily="34" charset="-120"/>
              </a:rPr>
              <a:t>SECTION 1 · ACTIVITY AND DISCUSSION</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Change it, then talk about it</a:t>
            </a:r>
            <a:endParaRPr lang="en-US" sz="3600" dirty="0"/>
          </a:p>
        </p:txBody>
      </p:sp>
      <p:sp>
        <p:nvSpPr>
          <p:cNvPr id="4" name="Shape 2"/>
          <p:cNvSpPr/>
          <p:nvPr/>
        </p:nvSpPr>
        <p:spPr>
          <a:xfrm>
            <a:off x="815975" y="1938536"/>
            <a:ext cx="5175250" cy="2663031"/>
          </a:xfrm>
          <a:prstGeom prst="roundRect">
            <a:avLst>
              <a:gd name="adj" fmla="val 3696"/>
            </a:avLst>
          </a:prstGeom>
          <a:solidFill>
            <a:srgbClr val="FFFEFB"/>
          </a:solidFill>
          <a:ln w="6350">
            <a:solidFill>
              <a:srgbClr val="D5DBE3"/>
            </a:solidFill>
            <a:prstDash val="solid"/>
          </a:ln>
        </p:spPr>
      </p:sp>
      <p:sp>
        <p:nvSpPr>
          <p:cNvPr id="5" name="Text 3"/>
          <p:cNvSpPr/>
          <p:nvPr/>
        </p:nvSpPr>
        <p:spPr>
          <a:xfrm>
            <a:off x="1123950" y="2246511"/>
            <a:ext cx="469607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4A14"/>
                </a:solidFill>
                <a:latin typeface="Rubik" pitchFamily="34" charset="0"/>
                <a:ea typeface="Rubik" pitchFamily="34" charset="-122"/>
                <a:cs typeface="Rubik" pitchFamily="34" charset="-120"/>
              </a:rPr>
              <a:t>ACTIVITY · PAIRS · 5 MIN</a:t>
            </a:r>
            <a:endParaRPr lang="en-US" sz="1200" dirty="0"/>
          </a:p>
        </p:txBody>
      </p:sp>
      <p:sp>
        <p:nvSpPr>
          <p:cNvPr id="6" name="Text 4"/>
          <p:cNvSpPr/>
          <p:nvPr/>
        </p:nvSpPr>
        <p:spPr>
          <a:xfrm>
            <a:off x="1123950" y="2586831"/>
            <a:ext cx="4696079"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New requirement: also skip any number divisible by 3. Change both versions.</a:t>
            </a:r>
            <a:endParaRPr lang="en-US" sz="1600" dirty="0"/>
          </a:p>
        </p:txBody>
      </p:sp>
      <p:sp>
        <p:nvSpPr>
          <p:cNvPr id="7" name="Text 5"/>
          <p:cNvSpPr/>
          <p:nvPr/>
        </p:nvSpPr>
        <p:spPr>
          <a:xfrm>
            <a:off x="1123950" y="3282752"/>
            <a:ext cx="4696079"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Which was easier to edit without breaking? Which had more places for a typo?</a:t>
            </a:r>
            <a:endParaRPr lang="en-US" sz="1600" dirty="0"/>
          </a:p>
        </p:txBody>
      </p:sp>
      <p:sp>
        <p:nvSpPr>
          <p:cNvPr id="8" name="Shape 6"/>
          <p:cNvSpPr/>
          <p:nvPr/>
        </p:nvSpPr>
        <p:spPr>
          <a:xfrm>
            <a:off x="6200775" y="1938536"/>
            <a:ext cx="5175250" cy="2663031"/>
          </a:xfrm>
          <a:prstGeom prst="roundRect">
            <a:avLst>
              <a:gd name="adj" fmla="val 3696"/>
            </a:avLst>
          </a:prstGeom>
          <a:solidFill>
            <a:srgbClr val="FFFEFB"/>
          </a:solidFill>
          <a:ln w="6350">
            <a:solidFill>
              <a:srgbClr val="D5DBE3"/>
            </a:solidFill>
            <a:prstDash val="solid"/>
          </a:ln>
        </p:spPr>
      </p:sp>
      <p:sp>
        <p:nvSpPr>
          <p:cNvPr id="9" name="Text 7"/>
          <p:cNvSpPr/>
          <p:nvPr/>
        </p:nvSpPr>
        <p:spPr>
          <a:xfrm>
            <a:off x="6508750" y="2246511"/>
            <a:ext cx="469607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4A14"/>
                </a:solidFill>
                <a:latin typeface="Rubik" pitchFamily="34" charset="0"/>
                <a:ea typeface="Rubik" pitchFamily="34" charset="-122"/>
                <a:cs typeface="Rubik" pitchFamily="34" charset="-120"/>
              </a:rPr>
              <a:t>DISCUSSION · 5 MIN</a:t>
            </a:r>
            <a:endParaRPr lang="en-US" sz="1200" dirty="0"/>
          </a:p>
        </p:txBody>
      </p:sp>
      <p:sp>
        <p:nvSpPr>
          <p:cNvPr id="10" name="Text 8"/>
          <p:cNvSpPr/>
          <p:nvPr/>
        </p:nvSpPr>
        <p:spPr>
          <a:xfrm>
            <a:off x="6536035" y="2586831"/>
            <a:ext cx="4661174" cy="1732161"/>
          </a:xfrm>
          <a:prstGeom prst="rect">
            <a:avLst/>
          </a:prstGeom>
          <a:noFill/>
          <a:ln/>
        </p:spPr>
        <p:txBody>
          <a:bodyPr wrap="square" lIns="0" tIns="0" rIns="0" bIns="0" rtlCol="0" anchor="t">
            <a:normAutofit/>
          </a:bodyPr>
          <a:lstStyle/>
          <a:p>
            <a:pPr algn="l" marL="226715" indent="-226715">
              <a:lnSpc>
                <a:spcPts val="2240"/>
              </a:lnSpc>
              <a:buSzPct val="100000"/>
              <a:buFontTx/>
              <a:buAutoNum type="arabicPeriod" startAt="1"/>
            </a:pPr>
            <a:r>
              <a:rPr lang="en-US" sz="1600" dirty="0">
                <a:solidFill>
                  <a:srgbClr val="3D4A5C"/>
                </a:solidFill>
                <a:latin typeface="Rubik" pitchFamily="34" charset="0"/>
                <a:ea typeface="Rubik" pitchFamily="34" charset="-122"/>
                <a:cs typeface="Rubik" pitchFamily="34" charset="-120"/>
              </a:rPr>
              <a:t>Where have you used a declarative tool at work without calling it that?</a:t>
            </a:r>
            <a:endParaRPr lang="en-US" sz="1600" dirty="0"/>
          </a:p>
          <a:p>
            <a:pPr algn="l" marL="226715" indent="-226715">
              <a:lnSpc>
                <a:spcPts val="2240"/>
              </a:lnSpc>
              <a:buSzPct val="100000"/>
              <a:buFontTx/>
              <a:buAutoNum type="arabicPeriod" startAt="1"/>
            </a:pPr>
            <a:r>
              <a:rPr lang="en-US" sz="1600" dirty="0">
                <a:solidFill>
                  <a:srgbClr val="3D4A5C"/>
                </a:solidFill>
                <a:latin typeface="Rubik" pitchFamily="34" charset="0"/>
                <a:ea typeface="Rubik" pitchFamily="34" charset="-122"/>
                <a:cs typeface="Rubik" pitchFamily="34" charset="-120"/>
              </a:rPr>
              <a:t>What do you gain by not controlling the steps? What do you lose?</a:t>
            </a:r>
            <a:endParaRPr lang="en-US" sz="1600" dirty="0"/>
          </a:p>
          <a:p>
            <a:pPr algn="l" marL="226715" indent="-226715">
              <a:lnSpc>
                <a:spcPts val="2240"/>
              </a:lnSpc>
              <a:buSzPct val="100000"/>
              <a:buFontTx/>
              <a:buAutoNum type="arabicPeriod" startAt="1"/>
            </a:pPr>
            <a:r>
              <a:rPr lang="en-US" sz="1600" dirty="0">
                <a:solidFill>
                  <a:srgbClr val="3D4A5C"/>
                </a:solidFill>
                <a:latin typeface="Rubik" pitchFamily="34" charset="0"/>
                <a:ea typeface="Rubik" pitchFamily="34" charset="-122"/>
                <a:cs typeface="Rubik" pitchFamily="34" charset="-120"/>
              </a:rPr>
              <a:t>Is a recipe imperative or declarative? Argue both sides.</a:t>
            </a:r>
            <a:endParaRPr lang="en-US" sz="16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85"/>
                </a:solidFill>
                <a:latin typeface="Rubik" pitchFamily="34" charset="0"/>
                <a:ea typeface="Rubik" pitchFamily="34" charset="-122"/>
                <a:cs typeface="Rubik" pitchFamily="34" charset="-120"/>
              </a:rPr>
              <a:t>Functional Programming with TDD · Part One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2174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65A"/>
                </a:solidFill>
                <a:latin typeface="Rubik" pitchFamily="34" charset="0"/>
                <a:ea typeface="Rubik" pitchFamily="34" charset="-122"/>
                <a:cs typeface="Rubik" pitchFamily="34" charset="-120"/>
              </a:rPr>
              <a:t>SECTION 2 · CORE CONCEPTS THROUGH FIBONACCI</a:t>
            </a:r>
            <a:endParaRPr lang="en-US" sz="1200" dirty="0"/>
          </a:p>
        </p:txBody>
      </p:sp>
      <p:sp>
        <p:nvSpPr>
          <p:cNvPr id="3" name="Text 1"/>
          <p:cNvSpPr/>
          <p:nvPr>
            <p:ph type="title"/>
          </p:nvPr>
        </p:nvSpPr>
        <p:spPr>
          <a:xfrm>
            <a:off x="812800" y="25400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BFAF6"/>
                </a:solidFill>
                <a:latin typeface="Rubik" pitchFamily="34" charset="0"/>
                <a:ea typeface="Rubik" pitchFamily="34" charset="-122"/>
                <a:cs typeface="Rubik" pitchFamily="34" charset="-120"/>
              </a:rPr>
              <a:t>Three ordinary ideas with intimidating names</a:t>
            </a:r>
            <a:endParaRPr lang="en-US" sz="3600" dirty="0"/>
          </a:p>
        </p:txBody>
      </p:sp>
      <p:sp>
        <p:nvSpPr>
          <p:cNvPr id="4" name="Shape 2"/>
          <p:cNvSpPr/>
          <p:nvPr/>
        </p:nvSpPr>
        <p:spPr>
          <a:xfrm>
            <a:off x="812800" y="3461941"/>
            <a:ext cx="3318867" cy="0"/>
          </a:xfrm>
          <a:prstGeom prst="line">
            <a:avLst/>
          </a:prstGeom>
          <a:noFill/>
          <a:ln w="25400">
            <a:solidFill>
              <a:srgbClr val="F2A65A"/>
            </a:solidFill>
            <a:prstDash val="solid"/>
          </a:ln>
        </p:spPr>
      </p:sp>
      <p:sp>
        <p:nvSpPr>
          <p:cNvPr id="5" name="Text 3"/>
          <p:cNvSpPr/>
          <p:nvPr/>
        </p:nvSpPr>
        <p:spPr>
          <a:xfrm>
            <a:off x="812800" y="3677841"/>
            <a:ext cx="341843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2A65A"/>
                </a:solidFill>
                <a:latin typeface="Rubik" pitchFamily="34" charset="0"/>
                <a:ea typeface="Rubik" pitchFamily="34" charset="-122"/>
                <a:cs typeface="Rubik" pitchFamily="34" charset="-120"/>
              </a:rPr>
              <a:t>Pure functions</a:t>
            </a:r>
            <a:endParaRPr lang="en-US" sz="2200" dirty="0"/>
          </a:p>
        </p:txBody>
      </p:sp>
      <p:sp>
        <p:nvSpPr>
          <p:cNvPr id="6" name="Text 4"/>
          <p:cNvSpPr/>
          <p:nvPr/>
        </p:nvSpPr>
        <p:spPr>
          <a:xfrm>
            <a:off x="812800" y="4114701"/>
            <a:ext cx="3418433"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FD0E6"/>
                </a:solidFill>
                <a:latin typeface="Rubik" pitchFamily="34" charset="0"/>
                <a:ea typeface="Rubik" pitchFamily="34" charset="-122"/>
                <a:cs typeface="Rubik" pitchFamily="34" charset="-120"/>
              </a:rPr>
              <a:t>Same input, same output, no surprises.</a:t>
            </a:r>
            <a:endParaRPr lang="en-US" sz="1600" dirty="0"/>
          </a:p>
        </p:txBody>
      </p:sp>
      <p:sp>
        <p:nvSpPr>
          <p:cNvPr id="7" name="Shape 5"/>
          <p:cNvSpPr/>
          <p:nvPr/>
        </p:nvSpPr>
        <p:spPr>
          <a:xfrm>
            <a:off x="4436467" y="3461941"/>
            <a:ext cx="3318966" cy="0"/>
          </a:xfrm>
          <a:prstGeom prst="line">
            <a:avLst/>
          </a:prstGeom>
          <a:noFill/>
          <a:ln w="25400">
            <a:solidFill>
              <a:srgbClr val="F2A65A"/>
            </a:solidFill>
            <a:prstDash val="solid"/>
          </a:ln>
        </p:spPr>
      </p:sp>
      <p:sp>
        <p:nvSpPr>
          <p:cNvPr id="8" name="Text 6"/>
          <p:cNvSpPr/>
          <p:nvPr/>
        </p:nvSpPr>
        <p:spPr>
          <a:xfrm>
            <a:off x="4436467" y="3677841"/>
            <a:ext cx="3418535"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2A65A"/>
                </a:solidFill>
                <a:latin typeface="Rubik" pitchFamily="34" charset="0"/>
                <a:ea typeface="Rubik" pitchFamily="34" charset="-122"/>
                <a:cs typeface="Rubik" pitchFamily="34" charset="-120"/>
              </a:rPr>
              <a:t>Immutability</a:t>
            </a:r>
            <a:endParaRPr lang="en-US" sz="2200" dirty="0"/>
          </a:p>
        </p:txBody>
      </p:sp>
      <p:sp>
        <p:nvSpPr>
          <p:cNvPr id="9" name="Text 7"/>
          <p:cNvSpPr/>
          <p:nvPr/>
        </p:nvSpPr>
        <p:spPr>
          <a:xfrm>
            <a:off x="4436467" y="4114701"/>
            <a:ext cx="3418535"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FD0E6"/>
                </a:solidFill>
                <a:latin typeface="Rubik" pitchFamily="34" charset="0"/>
                <a:ea typeface="Rubik" pitchFamily="34" charset="-122"/>
                <a:cs typeface="Rubik" pitchFamily="34" charset="-120"/>
              </a:rPr>
              <a:t>Make a new thing instead of editing the old one.</a:t>
            </a:r>
            <a:endParaRPr lang="en-US" sz="1600" dirty="0"/>
          </a:p>
        </p:txBody>
      </p:sp>
      <p:sp>
        <p:nvSpPr>
          <p:cNvPr id="10" name="Shape 8"/>
          <p:cNvSpPr/>
          <p:nvPr/>
        </p:nvSpPr>
        <p:spPr>
          <a:xfrm>
            <a:off x="8060234" y="3461941"/>
            <a:ext cx="3318966" cy="0"/>
          </a:xfrm>
          <a:prstGeom prst="line">
            <a:avLst/>
          </a:prstGeom>
          <a:noFill/>
          <a:ln w="25400">
            <a:solidFill>
              <a:srgbClr val="F2A65A"/>
            </a:solidFill>
            <a:prstDash val="solid"/>
          </a:ln>
        </p:spPr>
      </p:sp>
      <p:sp>
        <p:nvSpPr>
          <p:cNvPr id="11" name="Text 9"/>
          <p:cNvSpPr/>
          <p:nvPr/>
        </p:nvSpPr>
        <p:spPr>
          <a:xfrm>
            <a:off x="8060234" y="3677841"/>
            <a:ext cx="3418535"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2A65A"/>
                </a:solidFill>
                <a:latin typeface="Rubik" pitchFamily="34" charset="0"/>
                <a:ea typeface="Rubik" pitchFamily="34" charset="-122"/>
                <a:cs typeface="Rubik" pitchFamily="34" charset="-120"/>
              </a:rPr>
              <a:t>Recursion</a:t>
            </a:r>
            <a:endParaRPr lang="en-US" sz="2200" dirty="0"/>
          </a:p>
        </p:txBody>
      </p:sp>
      <p:sp>
        <p:nvSpPr>
          <p:cNvPr id="12" name="Text 10"/>
          <p:cNvSpPr/>
          <p:nvPr/>
        </p:nvSpPr>
        <p:spPr>
          <a:xfrm>
            <a:off x="8060234" y="4114701"/>
            <a:ext cx="3418535"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FD0E6"/>
                </a:solidFill>
                <a:latin typeface="Rubik" pitchFamily="34" charset="0"/>
                <a:ea typeface="Rubik" pitchFamily="34" charset="-122"/>
                <a:cs typeface="Rubik" pitchFamily="34" charset="-120"/>
              </a:rPr>
              <a:t>Solve a smaller version of the same problem.</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A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A14"/>
                </a:solidFill>
                <a:latin typeface="Rubik" pitchFamily="34" charset="0"/>
                <a:ea typeface="Rubik" pitchFamily="34" charset="-122"/>
                <a:cs typeface="Rubik" pitchFamily="34" charset="-120"/>
              </a:rPr>
              <a:t>SECTION 2 · CORE CONCEPTS THROUGH FIBONACCI</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Version 1: imperative Fibonacci</a:t>
            </a:r>
            <a:endParaRPr lang="en-US" sz="3600" dirty="0"/>
          </a:p>
        </p:txBody>
      </p:sp>
      <p:sp>
        <p:nvSpPr>
          <p:cNvPr id="4" name="Text 2"/>
          <p:cNvSpPr/>
          <p:nvPr/>
        </p:nvSpPr>
        <p:spPr>
          <a:xfrm>
            <a:off x="812800" y="1935361"/>
            <a:ext cx="5883573" cy="2641600"/>
          </a:xfrm>
          <a:prstGeom prst="roundRect">
            <a:avLst>
              <a:gd name="adj" fmla="val 3846"/>
            </a:avLst>
          </a:prstGeom>
          <a:solidFill>
            <a:srgbClr val="14213D"/>
          </a:solidFill>
          <a:ln/>
        </p:spPr>
        <p:txBody>
          <a:bodyPr wrap="none" lIns="224242" tIns="224242" rIns="62975" bIns="198842" rtlCol="0" anchor="t">
            <a:normAutofit/>
          </a:bodyPr>
          <a:lstStyle/>
          <a:p>
            <a:pPr algn="l" indent="0" marL="0">
              <a:lnSpc>
                <a:spcPts val="2100"/>
              </a:lnSpc>
              <a:buNone/>
            </a:pPr>
            <a:r>
              <a:rPr lang="en-US" sz="1400" dirty="0">
                <a:solidFill>
                  <a:srgbClr val="E9EDF3"/>
                </a:solidFill>
                <a:latin typeface="JetBrains Mono" pitchFamily="49" charset="0"/>
                <a:ea typeface="JetBrains Mono" pitchFamily="49" charset="-122"/>
                <a:cs typeface="JetBrains Mono" pitchFamily="49" charset="-120"/>
              </a:rPr>
              <a:t>def fibonacci_imperative(position):</a:t>
            </a:r>
            <a:endParaRPr lang="en-US" sz="1400" dirty="0"/>
          </a:p>
          <a:p>
            <a:pPr algn="l" indent="0" marL="0">
              <a:lnSpc>
                <a:spcPts val="2100"/>
              </a:lnSpc>
              <a:buNone/>
            </a:pPr>
            <a:r>
              <a:rPr lang="en-US" sz="1400" dirty="0">
                <a:solidFill>
                  <a:srgbClr val="E9EDF3"/>
                </a:solidFill>
                <a:latin typeface="JetBrains Mono" pitchFamily="49" charset="0"/>
                <a:ea typeface="JetBrains Mono" pitchFamily="49" charset="-122"/>
                <a:cs typeface="JetBrains Mono" pitchFamily="49" charset="-120"/>
              </a:rPr>
              <a:t>    previous = 0</a:t>
            </a:r>
            <a:endParaRPr lang="en-US" sz="1400" dirty="0"/>
          </a:p>
          <a:p>
            <a:pPr algn="l" indent="0" marL="0">
              <a:lnSpc>
                <a:spcPts val="2100"/>
              </a:lnSpc>
              <a:buNone/>
            </a:pPr>
            <a:r>
              <a:rPr lang="en-US" sz="1400" dirty="0">
                <a:solidFill>
                  <a:srgbClr val="E9EDF3"/>
                </a:solidFill>
                <a:latin typeface="JetBrains Mono" pitchFamily="49" charset="0"/>
                <a:ea typeface="JetBrains Mono" pitchFamily="49" charset="-122"/>
                <a:cs typeface="JetBrains Mono" pitchFamily="49" charset="-120"/>
              </a:rPr>
              <a:t>    current = 1</a:t>
            </a:r>
            <a:endParaRPr lang="en-US" sz="1400" dirty="0"/>
          </a:p>
          <a:p>
            <a:pPr algn="l" indent="0" marL="0">
              <a:lnSpc>
                <a:spcPts val="2100"/>
              </a:lnSpc>
              <a:buNone/>
            </a:pPr>
            <a:r>
              <a:rPr lang="en-US" sz="1400" dirty="0">
                <a:solidFill>
                  <a:srgbClr val="E9EDF3"/>
                </a:solidFill>
                <a:latin typeface="JetBrains Mono" pitchFamily="49" charset="0"/>
                <a:ea typeface="JetBrains Mono" pitchFamily="49" charset="-122"/>
                <a:cs typeface="JetBrains Mono" pitchFamily="49" charset="-120"/>
              </a:rPr>
              <a:t>    for _ in range(position):</a:t>
            </a:r>
            <a:endParaRPr lang="en-US" sz="1400" dirty="0"/>
          </a:p>
          <a:p>
            <a:pPr algn="l" indent="0" marL="0">
              <a:lnSpc>
                <a:spcPts val="2100"/>
              </a:lnSpc>
              <a:buNone/>
            </a:pPr>
            <a:r>
              <a:rPr lang="en-US" sz="1400" dirty="0">
                <a:solidFill>
                  <a:srgbClr val="E9EDF3"/>
                </a:solidFill>
                <a:latin typeface="JetBrains Mono" pitchFamily="49" charset="0"/>
                <a:ea typeface="JetBrains Mono" pitchFamily="49" charset="-122"/>
                <a:cs typeface="JetBrains Mono" pitchFamily="49" charset="-120"/>
              </a:rPr>
              <a:t>        next_number = previous + current</a:t>
            </a:r>
            <a:endParaRPr lang="en-US" sz="1400" dirty="0"/>
          </a:p>
          <a:p>
            <a:pPr algn="l" indent="0" marL="0">
              <a:lnSpc>
                <a:spcPts val="2100"/>
              </a:lnSpc>
              <a:buNone/>
            </a:pPr>
            <a:r>
              <a:rPr lang="en-US" sz="1400" dirty="0">
                <a:solidFill>
                  <a:srgbClr val="E9EDF3"/>
                </a:solidFill>
                <a:latin typeface="JetBrains Mono" pitchFamily="49" charset="0"/>
                <a:ea typeface="JetBrains Mono" pitchFamily="49" charset="-122"/>
                <a:cs typeface="JetBrains Mono" pitchFamily="49" charset="-120"/>
              </a:rPr>
              <a:t>        previous = current</a:t>
            </a:r>
            <a:endParaRPr lang="en-US" sz="1400" dirty="0"/>
          </a:p>
          <a:p>
            <a:pPr algn="l" indent="0" marL="0">
              <a:lnSpc>
                <a:spcPts val="2100"/>
              </a:lnSpc>
              <a:buNone/>
            </a:pPr>
            <a:r>
              <a:rPr lang="en-US" sz="1400" dirty="0">
                <a:solidFill>
                  <a:srgbClr val="E9EDF3"/>
                </a:solidFill>
                <a:latin typeface="JetBrains Mono" pitchFamily="49" charset="0"/>
                <a:ea typeface="JetBrains Mono" pitchFamily="49" charset="-122"/>
                <a:cs typeface="JetBrains Mono" pitchFamily="49" charset="-120"/>
              </a:rPr>
              <a:t>        current = next_number</a:t>
            </a:r>
            <a:endParaRPr lang="en-US" sz="1400" dirty="0"/>
          </a:p>
          <a:p>
            <a:pPr algn="l" indent="0" marL="0">
              <a:lnSpc>
                <a:spcPts val="2100"/>
              </a:lnSpc>
              <a:buNone/>
            </a:pPr>
            <a:r>
              <a:rPr lang="en-US" sz="1400" dirty="0">
                <a:solidFill>
                  <a:srgbClr val="E9EDF3"/>
                </a:solidFill>
                <a:latin typeface="JetBrains Mono" pitchFamily="49" charset="0"/>
                <a:ea typeface="JetBrains Mono" pitchFamily="49" charset="-122"/>
                <a:cs typeface="JetBrains Mono" pitchFamily="49" charset="-120"/>
              </a:rPr>
              <a:t>    return previous</a:t>
            </a:r>
            <a:endParaRPr lang="en-US" sz="1400" dirty="0"/>
          </a:p>
        </p:txBody>
      </p:sp>
      <p:sp>
        <p:nvSpPr>
          <p:cNvPr id="5" name="Text 3"/>
          <p:cNvSpPr/>
          <p:nvPr/>
        </p:nvSpPr>
        <p:spPr>
          <a:xfrm>
            <a:off x="6899573" y="1935361"/>
            <a:ext cx="461401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Rubik" pitchFamily="34" charset="0"/>
                <a:ea typeface="Rubik" pitchFamily="34" charset="-122"/>
                <a:cs typeface="Rubik" pitchFamily="34" charset="-120"/>
              </a:rPr>
              <a:t>The sequence</a:t>
            </a:r>
            <a:endParaRPr lang="en-US" sz="2200" dirty="0"/>
          </a:p>
        </p:txBody>
      </p:sp>
      <p:sp>
        <p:nvSpPr>
          <p:cNvPr id="6" name="Text 4"/>
          <p:cNvSpPr/>
          <p:nvPr/>
        </p:nvSpPr>
        <p:spPr>
          <a:xfrm>
            <a:off x="6899573" y="2346821"/>
            <a:ext cx="4614016"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4213D"/>
                </a:solidFill>
                <a:latin typeface="JetBrains Mono" pitchFamily="49" charset="0"/>
                <a:ea typeface="JetBrains Mono" pitchFamily="49" charset="-122"/>
                <a:cs typeface="JetBrains Mono" pitchFamily="49" charset="-120"/>
              </a:rPr>
              <a:t>0, 1, 1, 2, 3, 5, 8, 13, 21, 34 …</a:t>
            </a:r>
            <a:endParaRPr lang="en-US" sz="1400" dirty="0"/>
          </a:p>
        </p:txBody>
      </p:sp>
      <p:sp>
        <p:nvSpPr>
          <p:cNvPr id="7" name="Text 5"/>
          <p:cNvSpPr/>
          <p:nvPr/>
        </p:nvSpPr>
        <p:spPr>
          <a:xfrm>
            <a:off x="6899573" y="2689721"/>
            <a:ext cx="461401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Each number is the sum of the two before it.</a:t>
            </a:r>
            <a:endParaRPr lang="en-US" sz="1600" dirty="0"/>
          </a:p>
        </p:txBody>
      </p:sp>
      <p:sp>
        <p:nvSpPr>
          <p:cNvPr id="8" name="Shape 6"/>
          <p:cNvSpPr/>
          <p:nvPr/>
        </p:nvSpPr>
        <p:spPr>
          <a:xfrm>
            <a:off x="6899573" y="3177381"/>
            <a:ext cx="4479627" cy="1295301"/>
          </a:xfrm>
          <a:prstGeom prst="roundRect">
            <a:avLst>
              <a:gd name="adj" fmla="val 7844"/>
            </a:avLst>
          </a:prstGeom>
          <a:solidFill>
            <a:srgbClr val="FFF3E6"/>
          </a:solidFill>
          <a:ln/>
        </p:spPr>
      </p:sp>
      <p:sp>
        <p:nvSpPr>
          <p:cNvPr id="9" name="Shape 7"/>
          <p:cNvSpPr/>
          <p:nvPr/>
        </p:nvSpPr>
        <p:spPr>
          <a:xfrm>
            <a:off x="6899573" y="3177381"/>
            <a:ext cx="4479627" cy="1295301"/>
          </a:xfrm>
          <a:custGeom>
            <a:avLst/>
            <a:gdLst/>
            <a:ahLst/>
            <a:cxnLst/>
            <a:rect l="l" t="t" r="r" b="b"/>
            <a:pathLst>
              <a:path w="4479627" h="1295301">
                <a:moveTo>
                  <a:pt x="101600" y="1295301"/>
                </a:moveTo>
                <a:lnTo>
                  <a:pt x="101600" y="1295301"/>
                </a:lnTo>
                <a:arcTo hR="101600" wR="101600" stAng="5400000" swAng="5400000"/>
                <a:lnTo>
                  <a:pt x="0" y="101600"/>
                </a:lnTo>
                <a:arcTo hR="101600" wR="101600" stAng="10800000" swAng="5400000"/>
                <a:lnTo>
                  <a:pt x="101600" y="0"/>
                </a:lnTo>
                <a:arcTo hR="101600" wR="63500" stAng="16200000" swAng="-5400000"/>
                <a:lnTo>
                  <a:pt x="38100" y="1193701"/>
                </a:lnTo>
                <a:arcTo hR="101600" wR="63500" stAng="10800000" swAng="-5400000"/>
                <a:close/>
              </a:path>
            </a:pathLst>
          </a:custGeom>
          <a:solidFill>
            <a:srgbClr val="A84A14"/>
          </a:solidFill>
          <a:ln/>
        </p:spPr>
      </p:sp>
      <p:sp>
        <p:nvSpPr>
          <p:cNvPr id="10" name="Text 8"/>
          <p:cNvSpPr/>
          <p:nvPr/>
        </p:nvSpPr>
        <p:spPr>
          <a:xfrm>
            <a:off x="7140873" y="3380581"/>
            <a:ext cx="415618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A84A14"/>
                </a:solidFill>
                <a:latin typeface="Rubik" pitchFamily="34" charset="0"/>
                <a:ea typeface="Rubik" pitchFamily="34" charset="-122"/>
                <a:cs typeface="Rubik" pitchFamily="34" charset="-120"/>
              </a:rPr>
              <a:t>Notice</a:t>
            </a:r>
            <a:endParaRPr lang="en-US" sz="1600" dirty="0"/>
          </a:p>
        </p:txBody>
      </p:sp>
      <p:sp>
        <p:nvSpPr>
          <p:cNvPr id="11" name="Text 9"/>
          <p:cNvSpPr/>
          <p:nvPr/>
        </p:nvSpPr>
        <p:spPr>
          <a:xfrm>
            <a:off x="7140873" y="3700562"/>
            <a:ext cx="4156181"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It works, but it changes variables inside a loop. Keep that in mind.</a:t>
            </a:r>
            <a:endParaRPr lang="en-US" sz="16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85"/>
                </a:solidFill>
                <a:latin typeface="Rubik" pitchFamily="34" charset="0"/>
                <a:ea typeface="Rubik" pitchFamily="34" charset="-122"/>
                <a:cs typeface="Rubik" pitchFamily="34" charset="-120"/>
              </a:rPr>
              <a:t>Functional Programming with TDD · Part One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A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A14"/>
                </a:solidFill>
                <a:latin typeface="Rubik" pitchFamily="34" charset="0"/>
                <a:ea typeface="Rubik" pitchFamily="34" charset="-122"/>
                <a:cs typeface="Rubik" pitchFamily="34" charset="-120"/>
              </a:rPr>
              <a:t>SECTION 2 · PURE FUNCTIONS</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Pure functions are vending machines</a:t>
            </a:r>
            <a:endParaRPr lang="en-US" sz="3600" dirty="0"/>
          </a:p>
        </p:txBody>
      </p:sp>
      <p:sp>
        <p:nvSpPr>
          <p:cNvPr id="4" name="Text 2"/>
          <p:cNvSpPr/>
          <p:nvPr/>
        </p:nvSpPr>
        <p:spPr>
          <a:xfrm>
            <a:off x="812800" y="188456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Press B4, get the same crisps every time, and nothing else in the shop changes.</a:t>
            </a:r>
            <a:endParaRPr lang="en-US" sz="1600" dirty="0"/>
          </a:p>
        </p:txBody>
      </p:sp>
      <p:sp>
        <p:nvSpPr>
          <p:cNvPr id="5" name="Text 3"/>
          <p:cNvSpPr/>
          <p:nvPr/>
        </p:nvSpPr>
        <p:spPr>
          <a:xfrm>
            <a:off x="812800" y="2423021"/>
            <a:ext cx="5337048"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A84A14"/>
                </a:solidFill>
                <a:latin typeface="Rubik" pitchFamily="34" charset="0"/>
                <a:ea typeface="Rubik" pitchFamily="34" charset="-122"/>
                <a:cs typeface="Rubik" pitchFamily="34" charset="-120"/>
              </a:rPr>
              <a:t>Impure</a:t>
            </a:r>
            <a:endParaRPr lang="en-US" sz="2200" dirty="0"/>
          </a:p>
        </p:txBody>
      </p:sp>
      <p:sp>
        <p:nvSpPr>
          <p:cNvPr id="6" name="Text 4"/>
          <p:cNvSpPr/>
          <p:nvPr/>
        </p:nvSpPr>
        <p:spPr>
          <a:xfrm>
            <a:off x="812800" y="2859881"/>
            <a:ext cx="5181600" cy="1644650"/>
          </a:xfrm>
          <a:prstGeom prst="roundRect">
            <a:avLst>
              <a:gd name="adj" fmla="val 6178"/>
            </a:avLst>
          </a:prstGeom>
          <a:solidFill>
            <a:srgbClr val="14213D"/>
          </a:solidFill>
          <a:ln/>
        </p:spPr>
        <p:txBody>
          <a:bodyPr wrap="none" lIns="224242" tIns="173442" rIns="84034" bIns="148042" rtlCol="0" anchor="t">
            <a:normAutofit/>
          </a:bodyPr>
          <a:lstStyle/>
          <a:p>
            <a:pPr algn="l" indent="0" marL="0">
              <a:lnSpc>
                <a:spcPts val="1950"/>
              </a:lnSpc>
              <a:buNone/>
            </a:pPr>
            <a:r>
              <a:rPr lang="en-US" sz="1300" dirty="0">
                <a:solidFill>
                  <a:srgbClr val="E9EDF3"/>
                </a:solidFill>
                <a:latin typeface="JetBrains Mono" pitchFamily="49" charset="0"/>
                <a:ea typeface="JetBrains Mono" pitchFamily="49" charset="-122"/>
                <a:cs typeface="JetBrains Mono" pitchFamily="49" charset="-120"/>
              </a:rPr>
              <a:t>history = [0, 1]</a:t>
            </a:r>
            <a:endParaRPr lang="en-US" sz="1300" dirty="0"/>
          </a:p>
          <a:p>
            <a:pPr algn="l" indent="0" marL="0">
              <a:lnSpc>
                <a:spcPts val="1950"/>
              </a:lnSpc>
              <a:buNone/>
            </a:pPr>
            <a:endParaRPr lang="en-US" sz="1300" dirty="0"/>
          </a:p>
          <a:p>
            <a:pPr algn="l" indent="0" marL="0">
              <a:lnSpc>
                <a:spcPts val="1950"/>
              </a:lnSpc>
              <a:buNone/>
            </a:pPr>
            <a:r>
              <a:rPr lang="en-US" sz="1300" dirty="0">
                <a:solidFill>
                  <a:srgbClr val="E9EDF3"/>
                </a:solidFill>
                <a:latin typeface="JetBrains Mono" pitchFamily="49" charset="0"/>
                <a:ea typeface="JetBrains Mono" pitchFamily="49" charset="-122"/>
                <a:cs typeface="JetBrains Mono" pitchFamily="49" charset="-120"/>
              </a:rPr>
              <a:t>def next_impure():</a:t>
            </a:r>
            <a:endParaRPr lang="en-US" sz="1300" dirty="0"/>
          </a:p>
          <a:p>
            <a:pPr algn="l" indent="0" marL="0">
              <a:lnSpc>
                <a:spcPts val="1950"/>
              </a:lnSpc>
              <a:buNone/>
            </a:pPr>
            <a:r>
              <a:rPr lang="en-US" sz="1300" dirty="0">
                <a:solidFill>
                  <a:srgbClr val="E9EDF3"/>
                </a:solidFill>
                <a:latin typeface="JetBrains Mono" pitchFamily="49" charset="0"/>
                <a:ea typeface="JetBrains Mono" pitchFamily="49" charset="-122"/>
                <a:cs typeface="JetBrains Mono" pitchFamily="49" charset="-120"/>
              </a:rPr>
              <a:t>    history.append(history[-1] + history[-2])</a:t>
            </a:r>
            <a:endParaRPr lang="en-US" sz="1300" dirty="0"/>
          </a:p>
          <a:p>
            <a:pPr algn="l" indent="0" marL="0">
              <a:lnSpc>
                <a:spcPts val="1950"/>
              </a:lnSpc>
              <a:buNone/>
            </a:pPr>
            <a:r>
              <a:rPr lang="en-US" sz="1300" dirty="0">
                <a:solidFill>
                  <a:srgbClr val="E9EDF3"/>
                </a:solidFill>
                <a:latin typeface="JetBrains Mono" pitchFamily="49" charset="0"/>
                <a:ea typeface="JetBrains Mono" pitchFamily="49" charset="-122"/>
                <a:cs typeface="JetBrains Mono" pitchFamily="49" charset="-120"/>
              </a:rPr>
              <a:t>    return history[-1]</a:t>
            </a:r>
            <a:endParaRPr lang="en-US" sz="1300" dirty="0"/>
          </a:p>
        </p:txBody>
      </p:sp>
      <p:sp>
        <p:nvSpPr>
          <p:cNvPr id="7" name="Text 5"/>
          <p:cNvSpPr/>
          <p:nvPr/>
        </p:nvSpPr>
        <p:spPr>
          <a:xfrm>
            <a:off x="812800" y="4606131"/>
            <a:ext cx="5337048"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Different answer each call. Changes a list outside itself.</a:t>
            </a:r>
            <a:endParaRPr lang="en-US" sz="1600" dirty="0"/>
          </a:p>
        </p:txBody>
      </p:sp>
      <p:sp>
        <p:nvSpPr>
          <p:cNvPr id="8" name="Text 6"/>
          <p:cNvSpPr/>
          <p:nvPr/>
        </p:nvSpPr>
        <p:spPr>
          <a:xfrm>
            <a:off x="6197600" y="2423021"/>
            <a:ext cx="5337048"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Rubik" pitchFamily="34" charset="0"/>
                <a:ea typeface="Rubik" pitchFamily="34" charset="-122"/>
                <a:cs typeface="Rubik" pitchFamily="34" charset="-120"/>
              </a:rPr>
              <a:t>Pure</a:t>
            </a:r>
            <a:endParaRPr lang="en-US" sz="2200" dirty="0"/>
          </a:p>
        </p:txBody>
      </p:sp>
      <p:sp>
        <p:nvSpPr>
          <p:cNvPr id="9" name="Text 7"/>
          <p:cNvSpPr/>
          <p:nvPr/>
        </p:nvSpPr>
        <p:spPr>
          <a:xfrm>
            <a:off x="6197600" y="2859881"/>
            <a:ext cx="5181600" cy="1644650"/>
          </a:xfrm>
          <a:prstGeom prst="roundRect">
            <a:avLst>
              <a:gd name="adj" fmla="val 6178"/>
            </a:avLst>
          </a:prstGeom>
          <a:solidFill>
            <a:srgbClr val="14213D"/>
          </a:solidFill>
          <a:ln/>
        </p:spPr>
        <p:txBody>
          <a:bodyPr wrap="none" lIns="224242" tIns="173442" rIns="84034" bIns="148042" rtlCol="0" anchor="t">
            <a:normAutofit/>
          </a:bodyPr>
          <a:lstStyle/>
          <a:p>
            <a:pPr algn="l" indent="0" marL="0">
              <a:lnSpc>
                <a:spcPts val="1950"/>
              </a:lnSpc>
              <a:buNone/>
            </a:pPr>
            <a:r>
              <a:rPr lang="en-US" sz="1300" dirty="0">
                <a:solidFill>
                  <a:srgbClr val="E9EDF3"/>
                </a:solidFill>
                <a:latin typeface="JetBrains Mono" pitchFamily="49" charset="0"/>
                <a:ea typeface="JetBrains Mono" pitchFamily="49" charset="-122"/>
                <a:cs typeface="JetBrains Mono" pitchFamily="49" charset="-120"/>
              </a:rPr>
              <a:t>def next_pair(pair):</a:t>
            </a:r>
            <a:endParaRPr lang="en-US" sz="1300" dirty="0"/>
          </a:p>
          <a:p>
            <a:pPr algn="l" indent="0" marL="0">
              <a:lnSpc>
                <a:spcPts val="1950"/>
              </a:lnSpc>
              <a:buNone/>
            </a:pPr>
            <a:r>
              <a:rPr lang="en-US" sz="1300" dirty="0">
                <a:solidFill>
                  <a:srgbClr val="E9EDF3"/>
                </a:solidFill>
                <a:latin typeface="JetBrains Mono" pitchFamily="49" charset="0"/>
                <a:ea typeface="JetBrains Mono" pitchFamily="49" charset="-122"/>
                <a:cs typeface="JetBrains Mono" pitchFamily="49" charset="-120"/>
              </a:rPr>
              <a:t>    previous, current = pair</a:t>
            </a:r>
            <a:endParaRPr lang="en-US" sz="1300" dirty="0"/>
          </a:p>
          <a:p>
            <a:pPr algn="l" indent="0" marL="0">
              <a:lnSpc>
                <a:spcPts val="1950"/>
              </a:lnSpc>
              <a:buNone/>
            </a:pPr>
            <a:r>
              <a:rPr lang="en-US" sz="1300" dirty="0">
                <a:solidFill>
                  <a:srgbClr val="E9EDF3"/>
                </a:solidFill>
                <a:latin typeface="JetBrains Mono" pitchFamily="49" charset="0"/>
                <a:ea typeface="JetBrains Mono" pitchFamily="49" charset="-122"/>
                <a:cs typeface="JetBrains Mono" pitchFamily="49" charset="-120"/>
              </a:rPr>
              <a:t>    return (current, previous + current)</a:t>
            </a:r>
            <a:endParaRPr lang="en-US" sz="1300" dirty="0"/>
          </a:p>
          <a:p>
            <a:pPr algn="l" indent="0" marL="0">
              <a:lnSpc>
                <a:spcPts val="1950"/>
              </a:lnSpc>
              <a:buNone/>
            </a:pPr>
            <a:endParaRPr lang="en-US" sz="1300" dirty="0"/>
          </a:p>
          <a:p>
            <a:pPr algn="l" indent="0" marL="0">
              <a:lnSpc>
                <a:spcPts val="1950"/>
              </a:lnSpc>
              <a:buNone/>
            </a:pPr>
            <a:r>
              <a:rPr lang="en-US" sz="1300" dirty="0">
                <a:solidFill>
                  <a:srgbClr val="E9EDF3"/>
                </a:solidFill>
                <a:latin typeface="JetBrains Mono" pitchFamily="49" charset="0"/>
                <a:ea typeface="JetBrains Mono" pitchFamily="49" charset="-122"/>
                <a:cs typeface="JetBrains Mono" pitchFamily="49" charset="-120"/>
              </a:rPr>
              <a:t>next_pair((0, 1))  # always (1, 1)</a:t>
            </a:r>
            <a:endParaRPr lang="en-US" sz="1300" dirty="0"/>
          </a:p>
        </p:txBody>
      </p:sp>
      <p:sp>
        <p:nvSpPr>
          <p:cNvPr id="10" name="Text 8"/>
          <p:cNvSpPr/>
          <p:nvPr/>
        </p:nvSpPr>
        <p:spPr>
          <a:xfrm>
            <a:off x="6197600" y="4606131"/>
            <a:ext cx="533704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Call it as often as you like. Nothing else is touched.</a:t>
            </a:r>
            <a:endParaRPr lang="en-US" sz="16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85"/>
                </a:solidFill>
                <a:latin typeface="Rubik" pitchFamily="34" charset="0"/>
                <a:ea typeface="Rubik" pitchFamily="34" charset="-122"/>
                <a:cs typeface="Rubik" pitchFamily="34" charset="-120"/>
              </a:rPr>
              <a:t>Functional Programming with TDD · Part One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F1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A14"/>
                </a:solidFill>
                <a:latin typeface="Rubik" pitchFamily="34" charset="0"/>
                <a:ea typeface="Rubik" pitchFamily="34" charset="-122"/>
                <a:cs typeface="Rubik" pitchFamily="34" charset="-120"/>
              </a:rPr>
              <a:t>ACTIVITY · SOLO · 3 MINUTES</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Pure or impure? Write P or I</a:t>
            </a:r>
            <a:endParaRPr lang="en-US" sz="3600" dirty="0"/>
          </a:p>
        </p:txBody>
      </p:sp>
      <p:sp>
        <p:nvSpPr>
          <p:cNvPr id="4" name="Text 2"/>
          <p:cNvSpPr/>
          <p:nvPr/>
        </p:nvSpPr>
        <p:spPr>
          <a:xfrm>
            <a:off x="815975" y="1938536"/>
            <a:ext cx="3414117" cy="900410"/>
          </a:xfrm>
          <a:prstGeom prst="roundRect">
            <a:avLst>
              <a:gd name="adj" fmla="val 10931"/>
            </a:avLst>
          </a:prstGeom>
          <a:solidFill>
            <a:srgbClr val="FFFEFB"/>
          </a:solidFill>
          <a:ln w="6350">
            <a:solidFill>
              <a:srgbClr val="D5DBE3"/>
            </a:solidFill>
            <a:prstDash val="solid"/>
          </a:ln>
        </p:spPr>
        <p:txBody>
          <a:bodyPr wrap="square" lIns="228347" tIns="266447" rIns="228347" bIns="266447" rtlCol="0" anchor="ctr">
            <a:normAutofit/>
          </a:bodyPr>
          <a:lstStyle/>
          <a:p>
            <a:pPr algn="l" indent="0" marL="0">
              <a:lnSpc>
                <a:spcPts val="2240"/>
              </a:lnSpc>
              <a:buNone/>
            </a:pPr>
            <a:r>
              <a:rPr lang="en-US" sz="1600" dirty="0">
                <a:solidFill>
                  <a:srgbClr val="14213D"/>
                </a:solidFill>
                <a:latin typeface="JetBrains Mono" pitchFamily="49" charset="0"/>
                <a:ea typeface="JetBrains Mono" pitchFamily="49" charset="-122"/>
                <a:cs typeface="JetBrains Mono" pitchFamily="49" charset="-120"/>
              </a:rPr>
              <a:t>len("hello")</a:t>
            </a:r>
            <a:endParaRPr lang="en-US" sz="1600" dirty="0"/>
          </a:p>
        </p:txBody>
      </p:sp>
      <p:sp>
        <p:nvSpPr>
          <p:cNvPr id="5" name="Text 3"/>
          <p:cNvSpPr/>
          <p:nvPr/>
        </p:nvSpPr>
        <p:spPr>
          <a:xfrm>
            <a:off x="4388842" y="1938536"/>
            <a:ext cx="3414216" cy="900410"/>
          </a:xfrm>
          <a:prstGeom prst="roundRect">
            <a:avLst>
              <a:gd name="adj" fmla="val 10931"/>
            </a:avLst>
          </a:prstGeom>
          <a:solidFill>
            <a:srgbClr val="FFFEFB"/>
          </a:solidFill>
          <a:ln w="6350">
            <a:solidFill>
              <a:srgbClr val="D5DBE3"/>
            </a:solidFill>
            <a:prstDash val="solid"/>
          </a:ln>
        </p:spPr>
        <p:txBody>
          <a:bodyPr wrap="square" lIns="228347" tIns="266447" rIns="228347" bIns="266447" rtlCol="0" anchor="ctr">
            <a:normAutofit/>
          </a:bodyPr>
          <a:lstStyle/>
          <a:p>
            <a:pPr algn="l" indent="0" marL="0">
              <a:lnSpc>
                <a:spcPts val="2240"/>
              </a:lnSpc>
              <a:buNone/>
            </a:pPr>
            <a:r>
              <a:rPr lang="en-US" sz="1600" dirty="0">
                <a:solidFill>
                  <a:srgbClr val="14213D"/>
                </a:solidFill>
                <a:latin typeface="JetBrains Mono" pitchFamily="49" charset="0"/>
                <a:ea typeface="JetBrains Mono" pitchFamily="49" charset="-122"/>
                <a:cs typeface="JetBrains Mono" pitchFamily="49" charset="-120"/>
              </a:rPr>
              <a:t>random.randint(1, 6)</a:t>
            </a:r>
            <a:endParaRPr lang="en-US" sz="1600" dirty="0"/>
          </a:p>
        </p:txBody>
      </p:sp>
      <p:sp>
        <p:nvSpPr>
          <p:cNvPr id="6" name="Text 4"/>
          <p:cNvSpPr/>
          <p:nvPr/>
        </p:nvSpPr>
        <p:spPr>
          <a:xfrm>
            <a:off x="7961809" y="1938536"/>
            <a:ext cx="3414216" cy="900410"/>
          </a:xfrm>
          <a:prstGeom prst="roundRect">
            <a:avLst>
              <a:gd name="adj" fmla="val 10931"/>
            </a:avLst>
          </a:prstGeom>
          <a:solidFill>
            <a:srgbClr val="FFFEFB"/>
          </a:solidFill>
          <a:ln w="6350">
            <a:solidFill>
              <a:srgbClr val="D5DBE3"/>
            </a:solidFill>
            <a:prstDash val="solid"/>
          </a:ln>
        </p:spPr>
        <p:txBody>
          <a:bodyPr wrap="square" lIns="228347" tIns="266447" rIns="228347" bIns="266447" rtlCol="0" anchor="ctr">
            <a:normAutofit/>
          </a:bodyPr>
          <a:lstStyle/>
          <a:p>
            <a:pPr algn="l" indent="0" marL="0">
              <a:lnSpc>
                <a:spcPts val="2240"/>
              </a:lnSpc>
              <a:buNone/>
            </a:pPr>
            <a:r>
              <a:rPr lang="en-US" sz="1600" dirty="0">
                <a:solidFill>
                  <a:srgbClr val="14213D"/>
                </a:solidFill>
                <a:latin typeface="JetBrains Mono" pitchFamily="49" charset="0"/>
                <a:ea typeface="JetBrains Mono" pitchFamily="49" charset="-122"/>
                <a:cs typeface="JetBrains Mono" pitchFamily="49" charset="-120"/>
              </a:rPr>
              <a:t>datetime.now()</a:t>
            </a:r>
            <a:endParaRPr lang="en-US" sz="1600" dirty="0"/>
          </a:p>
        </p:txBody>
      </p:sp>
      <p:sp>
        <p:nvSpPr>
          <p:cNvPr id="7" name="Text 5"/>
          <p:cNvSpPr/>
          <p:nvPr/>
        </p:nvSpPr>
        <p:spPr>
          <a:xfrm>
            <a:off x="815975" y="2997696"/>
            <a:ext cx="3414117" cy="900410"/>
          </a:xfrm>
          <a:prstGeom prst="roundRect">
            <a:avLst>
              <a:gd name="adj" fmla="val 10931"/>
            </a:avLst>
          </a:prstGeom>
          <a:solidFill>
            <a:srgbClr val="FFFEFB"/>
          </a:solidFill>
          <a:ln w="6350">
            <a:solidFill>
              <a:srgbClr val="D5DBE3"/>
            </a:solidFill>
            <a:prstDash val="solid"/>
          </a:ln>
        </p:spPr>
        <p:txBody>
          <a:bodyPr wrap="square" lIns="228347" tIns="266447" rIns="228347" bIns="266447" rtlCol="0" anchor="ctr">
            <a:normAutofit/>
          </a:bodyPr>
          <a:lstStyle/>
          <a:p>
            <a:pPr algn="l" indent="0" marL="0">
              <a:lnSpc>
                <a:spcPts val="2240"/>
              </a:lnSpc>
              <a:buNone/>
            </a:pPr>
            <a:r>
              <a:rPr lang="en-US" sz="1600" dirty="0">
                <a:solidFill>
                  <a:srgbClr val="14213D"/>
                </a:solidFill>
                <a:latin typeface="JetBrains Mono" pitchFamily="49" charset="0"/>
                <a:ea typeface="JetBrains Mono" pitchFamily="49" charset="-122"/>
                <a:cs typeface="JetBrains Mono" pitchFamily="49" charset="-120"/>
              </a:rPr>
              <a:t>sorted(numbers)</a:t>
            </a:r>
            <a:endParaRPr lang="en-US" sz="1600" dirty="0"/>
          </a:p>
        </p:txBody>
      </p:sp>
      <p:sp>
        <p:nvSpPr>
          <p:cNvPr id="8" name="Text 6"/>
          <p:cNvSpPr/>
          <p:nvPr/>
        </p:nvSpPr>
        <p:spPr>
          <a:xfrm>
            <a:off x="4388842" y="2997696"/>
            <a:ext cx="3414216" cy="900410"/>
          </a:xfrm>
          <a:prstGeom prst="roundRect">
            <a:avLst>
              <a:gd name="adj" fmla="val 10931"/>
            </a:avLst>
          </a:prstGeom>
          <a:solidFill>
            <a:srgbClr val="FFFEFB"/>
          </a:solidFill>
          <a:ln w="6350">
            <a:solidFill>
              <a:srgbClr val="D5DBE3"/>
            </a:solidFill>
            <a:prstDash val="solid"/>
          </a:ln>
        </p:spPr>
        <p:txBody>
          <a:bodyPr wrap="square" lIns="228347" tIns="266447" rIns="228347" bIns="266447" rtlCol="0" anchor="ctr">
            <a:normAutofit/>
          </a:bodyPr>
          <a:lstStyle/>
          <a:p>
            <a:pPr algn="l" indent="0" marL="0">
              <a:lnSpc>
                <a:spcPts val="2240"/>
              </a:lnSpc>
              <a:buNone/>
            </a:pPr>
            <a:r>
              <a:rPr lang="en-US" sz="1600" dirty="0">
                <a:solidFill>
                  <a:srgbClr val="14213D"/>
                </a:solidFill>
                <a:latin typeface="JetBrains Mono" pitchFamily="49" charset="0"/>
                <a:ea typeface="JetBrains Mono" pitchFamily="49" charset="-122"/>
                <a:cs typeface="JetBrains Mono" pitchFamily="49" charset="-120"/>
              </a:rPr>
              <a:t>numbers.sort()</a:t>
            </a:r>
            <a:endParaRPr lang="en-US" sz="1600" dirty="0"/>
          </a:p>
        </p:txBody>
      </p:sp>
      <p:sp>
        <p:nvSpPr>
          <p:cNvPr id="9" name="Text 7"/>
          <p:cNvSpPr/>
          <p:nvPr/>
        </p:nvSpPr>
        <p:spPr>
          <a:xfrm>
            <a:off x="7961809" y="2997696"/>
            <a:ext cx="3414216" cy="900410"/>
          </a:xfrm>
          <a:prstGeom prst="roundRect">
            <a:avLst>
              <a:gd name="adj" fmla="val 10931"/>
            </a:avLst>
          </a:prstGeom>
          <a:solidFill>
            <a:srgbClr val="FFFEFB"/>
          </a:solidFill>
          <a:ln w="6350">
            <a:solidFill>
              <a:srgbClr val="D5DBE3"/>
            </a:solidFill>
            <a:prstDash val="solid"/>
          </a:ln>
        </p:spPr>
        <p:txBody>
          <a:bodyPr wrap="square" lIns="228347" tIns="266447" rIns="228347" bIns="266447" rtlCol="0" anchor="ctr">
            <a:normAutofit/>
          </a:bodyPr>
          <a:lstStyle/>
          <a:p>
            <a:pPr algn="l" indent="0" marL="0">
              <a:lnSpc>
                <a:spcPts val="2240"/>
              </a:lnSpc>
              <a:buNone/>
            </a:pPr>
            <a:r>
              <a:rPr lang="en-US" sz="1600" dirty="0">
                <a:solidFill>
                  <a:srgbClr val="14213D"/>
                </a:solidFill>
                <a:latin typeface="JetBrains Mono" pitchFamily="49" charset="0"/>
                <a:ea typeface="JetBrains Mono" pitchFamily="49" charset="-122"/>
                <a:cs typeface="JetBrains Mono" pitchFamily="49" charset="-120"/>
              </a:rPr>
              <a:t>print("hi")</a:t>
            </a:r>
            <a:endParaRPr lang="en-US" sz="1600" dirty="0"/>
          </a:p>
        </p:txBody>
      </p:sp>
      <p:sp>
        <p:nvSpPr>
          <p:cNvPr id="10"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85"/>
                </a:solidFill>
                <a:latin typeface="Rubik" pitchFamily="34" charset="0"/>
                <a:ea typeface="Rubik" pitchFamily="34" charset="-122"/>
                <a:cs typeface="Rubik" pitchFamily="34" charset="-120"/>
              </a:rPr>
              <a:t>Functional Programming with TDD · Part One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A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A14"/>
                </a:solidFill>
                <a:latin typeface="Rubik" pitchFamily="34" charset="0"/>
                <a:ea typeface="Rubik" pitchFamily="34" charset="-122"/>
                <a:cs typeface="Rubik" pitchFamily="34" charset="-120"/>
              </a:rPr>
              <a:t>SECTION 2 · IMMUTABILITY</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Don’t edit it: make a new one</a:t>
            </a:r>
            <a:endParaRPr lang="en-US" sz="3600" dirty="0"/>
          </a:p>
        </p:txBody>
      </p:sp>
      <p:sp>
        <p:nvSpPr>
          <p:cNvPr id="4" name="Shape 2"/>
          <p:cNvSpPr/>
          <p:nvPr/>
        </p:nvSpPr>
        <p:spPr>
          <a:xfrm>
            <a:off x="815975" y="1938536"/>
            <a:ext cx="5175250" cy="1301651"/>
          </a:xfrm>
          <a:prstGeom prst="roundRect">
            <a:avLst>
              <a:gd name="adj" fmla="val 7562"/>
            </a:avLst>
          </a:prstGeom>
          <a:solidFill>
            <a:srgbClr val="FFFEFB"/>
          </a:solidFill>
          <a:ln w="6350">
            <a:solidFill>
              <a:srgbClr val="E2DED5"/>
            </a:solidFill>
            <a:prstDash val="solid"/>
          </a:ln>
        </p:spPr>
      </p:sp>
      <p:sp>
        <p:nvSpPr>
          <p:cNvPr id="5" name="Text 3"/>
          <p:cNvSpPr/>
          <p:nvPr/>
        </p:nvSpPr>
        <p:spPr>
          <a:xfrm>
            <a:off x="1073150" y="2144911"/>
            <a:ext cx="480072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A84A14"/>
                </a:solidFill>
                <a:latin typeface="Rubik" pitchFamily="34" charset="0"/>
                <a:ea typeface="Rubik" pitchFamily="34" charset="-122"/>
                <a:cs typeface="Rubik" pitchFamily="34" charset="-120"/>
              </a:rPr>
              <a:t>Mutable: a whiteboard</a:t>
            </a:r>
            <a:endParaRPr lang="en-US" sz="1600" dirty="0"/>
          </a:p>
        </p:txBody>
      </p:sp>
      <p:sp>
        <p:nvSpPr>
          <p:cNvPr id="6" name="Text 4"/>
          <p:cNvSpPr/>
          <p:nvPr/>
        </p:nvSpPr>
        <p:spPr>
          <a:xfrm>
            <a:off x="1073150" y="2464891"/>
            <a:ext cx="4800727"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Wipe it and the old state is gone, with no record of who did it.</a:t>
            </a:r>
            <a:endParaRPr lang="en-US" sz="1600" dirty="0"/>
          </a:p>
        </p:txBody>
      </p:sp>
      <p:sp>
        <p:nvSpPr>
          <p:cNvPr id="7" name="Shape 5"/>
          <p:cNvSpPr/>
          <p:nvPr/>
        </p:nvSpPr>
        <p:spPr>
          <a:xfrm>
            <a:off x="815975" y="3398937"/>
            <a:ext cx="5175250" cy="1301651"/>
          </a:xfrm>
          <a:prstGeom prst="roundRect">
            <a:avLst>
              <a:gd name="adj" fmla="val 7562"/>
            </a:avLst>
          </a:prstGeom>
          <a:solidFill>
            <a:srgbClr val="FFFEFB"/>
          </a:solidFill>
          <a:ln w="6350">
            <a:solidFill>
              <a:srgbClr val="E2DED5"/>
            </a:solidFill>
            <a:prstDash val="solid"/>
          </a:ln>
        </p:spPr>
      </p:sp>
      <p:sp>
        <p:nvSpPr>
          <p:cNvPr id="8" name="Text 6"/>
          <p:cNvSpPr/>
          <p:nvPr/>
        </p:nvSpPr>
        <p:spPr>
          <a:xfrm>
            <a:off x="1073150" y="3605312"/>
            <a:ext cx="480072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Immutable: a Google Doc</a:t>
            </a:r>
            <a:endParaRPr lang="en-US" sz="1600" dirty="0"/>
          </a:p>
        </p:txBody>
      </p:sp>
      <p:sp>
        <p:nvSpPr>
          <p:cNvPr id="9" name="Text 7"/>
          <p:cNvSpPr/>
          <p:nvPr/>
        </p:nvSpPr>
        <p:spPr>
          <a:xfrm>
            <a:off x="1073150" y="3925292"/>
            <a:ext cx="4800727"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Every version is kept. Nothing is lost behind your back.</a:t>
            </a:r>
            <a:endParaRPr lang="en-US" sz="1600" dirty="0"/>
          </a:p>
        </p:txBody>
      </p:sp>
      <p:sp>
        <p:nvSpPr>
          <p:cNvPr id="10" name="Text 8"/>
          <p:cNvSpPr/>
          <p:nvPr/>
        </p:nvSpPr>
        <p:spPr>
          <a:xfrm>
            <a:off x="6197600" y="1935361"/>
            <a:ext cx="5181600" cy="1841500"/>
          </a:xfrm>
          <a:prstGeom prst="roundRect">
            <a:avLst>
              <a:gd name="adj" fmla="val 5517"/>
            </a:avLst>
          </a:prstGeom>
          <a:solidFill>
            <a:srgbClr val="14213D"/>
          </a:solidFill>
          <a:ln/>
        </p:spPr>
        <p:txBody>
          <a:bodyPr wrap="none" lIns="224242" tIns="224242" rIns="84034" bIns="198842" rtlCol="0" anchor="t">
            <a:normAutofit/>
          </a:bodyPr>
          <a:lstStyle/>
          <a:p>
            <a:pPr algn="l" indent="0" marL="0">
              <a:lnSpc>
                <a:spcPts val="2100"/>
              </a:lnSpc>
              <a:buNone/>
            </a:pPr>
            <a:r>
              <a:rPr lang="en-US" sz="1400" dirty="0">
                <a:solidFill>
                  <a:srgbClr val="E9EDF3"/>
                </a:solidFill>
                <a:latin typeface="JetBrains Mono" pitchFamily="49" charset="0"/>
                <a:ea typeface="JetBrains Mono" pitchFamily="49" charset="-122"/>
                <a:cs typeface="JetBrains Mono" pitchFamily="49" charset="-120"/>
              </a:rPr>
              <a:t>start = (0, 1)</a:t>
            </a:r>
            <a:endParaRPr lang="en-US" sz="1400" dirty="0"/>
          </a:p>
          <a:p>
            <a:pPr algn="l" indent="0" marL="0">
              <a:lnSpc>
                <a:spcPts val="2100"/>
              </a:lnSpc>
              <a:buNone/>
            </a:pPr>
            <a:r>
              <a:rPr lang="en-US" sz="1400" dirty="0">
                <a:solidFill>
                  <a:srgbClr val="E9EDF3"/>
                </a:solidFill>
                <a:latin typeface="JetBrains Mono" pitchFamily="49" charset="0"/>
                <a:ea typeface="JetBrains Mono" pitchFamily="49" charset="-122"/>
                <a:cs typeface="JetBrains Mono" pitchFamily="49" charset="-120"/>
              </a:rPr>
              <a:t>extended = (*start, 1)</a:t>
            </a:r>
            <a:endParaRPr lang="en-US" sz="1400" dirty="0"/>
          </a:p>
          <a:p>
            <a:pPr algn="l" indent="0" marL="0">
              <a:lnSpc>
                <a:spcPts val="2100"/>
              </a:lnSpc>
              <a:buNone/>
            </a:pPr>
            <a:endParaRPr lang="en-US" sz="1400" dirty="0"/>
          </a:p>
          <a:p>
            <a:pPr algn="l" indent="0" marL="0">
              <a:lnSpc>
                <a:spcPts val="2100"/>
              </a:lnSpc>
              <a:buNone/>
            </a:pPr>
            <a:r>
              <a:rPr lang="en-US" sz="1400" dirty="0">
                <a:solidFill>
                  <a:srgbClr val="E9EDF3"/>
                </a:solidFill>
                <a:latin typeface="JetBrains Mono" pitchFamily="49" charset="0"/>
                <a:ea typeface="JetBrains Mono" pitchFamily="49" charset="-122"/>
                <a:cs typeface="JetBrains Mono" pitchFamily="49" charset="-120"/>
              </a:rPr>
              <a:t>start     # (0, 1): untouched</a:t>
            </a:r>
            <a:endParaRPr lang="en-US" sz="1400" dirty="0"/>
          </a:p>
          <a:p>
            <a:pPr algn="l" indent="0" marL="0">
              <a:lnSpc>
                <a:spcPts val="2100"/>
              </a:lnSpc>
              <a:buNone/>
            </a:pPr>
            <a:r>
              <a:rPr lang="en-US" sz="1400" dirty="0">
                <a:solidFill>
                  <a:srgbClr val="E9EDF3"/>
                </a:solidFill>
                <a:latin typeface="JetBrains Mono" pitchFamily="49" charset="0"/>
                <a:ea typeface="JetBrains Mono" pitchFamily="49" charset="-122"/>
                <a:cs typeface="JetBrains Mono" pitchFamily="49" charset="-120"/>
              </a:rPr>
              <a:t>extended  # (0, 1, 1): brand new</a:t>
            </a:r>
            <a:endParaRPr lang="en-US" sz="1400" dirty="0"/>
          </a:p>
        </p:txBody>
      </p:sp>
      <p:sp>
        <p:nvSpPr>
          <p:cNvPr id="11" name="Text 9"/>
          <p:cNvSpPr/>
          <p:nvPr/>
        </p:nvSpPr>
        <p:spPr>
          <a:xfrm>
            <a:off x="6197600" y="3929261"/>
            <a:ext cx="5337048"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D4A5C"/>
                </a:solidFill>
                <a:latin typeface="Rubik" pitchFamily="34" charset="0"/>
                <a:ea typeface="Rubik" pitchFamily="34" charset="-122"/>
                <a:cs typeface="Rubik" pitchFamily="34" charset="-120"/>
              </a:rPr>
              <a:t>Can’t change:</a:t>
            </a:r>
            <a:r>
              <a:rPr lang="en-US" sz="1600" dirty="0">
                <a:solidFill>
                  <a:srgbClr val="3D4A5C"/>
                </a:solidFill>
                <a:latin typeface="Rubik" pitchFamily="34" charset="0"/>
                <a:ea typeface="Rubik" pitchFamily="34" charset="-122"/>
                <a:cs typeface="Rubik" pitchFamily="34" charset="-120"/>
              </a:rPr>
              <a:t> tuple, str</a:t>
            </a:r>
            <a:endParaRPr lang="en-US" sz="1600" dirty="0"/>
          </a:p>
          <a:p>
            <a:pPr algn="l" indent="0" marL="0">
              <a:lnSpc>
                <a:spcPts val="2240"/>
              </a:lnSpc>
              <a:buNone/>
            </a:pPr>
            <a:r>
              <a:rPr lang="en-US" sz="1600" b="1" dirty="0">
                <a:solidFill>
                  <a:srgbClr val="3D4A5C"/>
                </a:solidFill>
                <a:latin typeface="Rubik" pitchFamily="34" charset="0"/>
                <a:ea typeface="Rubik" pitchFamily="34" charset="-122"/>
                <a:cs typeface="Rubik" pitchFamily="34" charset="-120"/>
              </a:rPr>
              <a:t>Can change:</a:t>
            </a:r>
            <a:r>
              <a:rPr lang="en-US" sz="1600" dirty="0">
                <a:solidFill>
                  <a:srgbClr val="3D4A5C"/>
                </a:solidFill>
                <a:latin typeface="Rubik" pitchFamily="34" charset="0"/>
                <a:ea typeface="Rubik" pitchFamily="34" charset="-122"/>
                <a:cs typeface="Rubik" pitchFamily="34" charset="-120"/>
              </a:rPr>
              <a:t> list, dict</a:t>
            </a:r>
            <a:endParaRPr lang="en-US" sz="16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85"/>
                </a:solidFill>
                <a:latin typeface="Rubik" pitchFamily="34" charset="0"/>
                <a:ea typeface="Rubik" pitchFamily="34" charset="-122"/>
                <a:cs typeface="Rubik" pitchFamily="34" charset="-120"/>
              </a:rPr>
              <a:t>Functional Programming with TDD · Part One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A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A14"/>
                </a:solidFill>
                <a:latin typeface="Rubik" pitchFamily="34" charset="0"/>
                <a:ea typeface="Rubik" pitchFamily="34" charset="-122"/>
                <a:cs typeface="Rubik" pitchFamily="34" charset="-120"/>
              </a:rPr>
              <a:t>SECTION 2 · RECURSION</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Recursion is a set of nesting dolls</a:t>
            </a:r>
            <a:endParaRPr lang="en-US" sz="3600" dirty="0"/>
          </a:p>
        </p:txBody>
      </p:sp>
      <p:sp>
        <p:nvSpPr>
          <p:cNvPr id="4" name="Text 2"/>
          <p:cNvSpPr/>
          <p:nvPr/>
        </p:nvSpPr>
        <p:spPr>
          <a:xfrm>
            <a:off x="812800" y="1935361"/>
            <a:ext cx="5983089" cy="1841500"/>
          </a:xfrm>
          <a:prstGeom prst="roundRect">
            <a:avLst>
              <a:gd name="adj" fmla="val 5517"/>
            </a:avLst>
          </a:prstGeom>
          <a:solidFill>
            <a:srgbClr val="14213D"/>
          </a:solidFill>
          <a:ln/>
        </p:spPr>
        <p:txBody>
          <a:bodyPr wrap="none" lIns="224242" tIns="224242" rIns="59990" bIns="198842" rtlCol="0" anchor="t">
            <a:normAutofit/>
          </a:bodyPr>
          <a:lstStyle/>
          <a:p>
            <a:pPr algn="l" indent="0" marL="0">
              <a:lnSpc>
                <a:spcPts val="2100"/>
              </a:lnSpc>
              <a:buNone/>
            </a:pPr>
            <a:r>
              <a:rPr lang="en-US" sz="1400" dirty="0">
                <a:solidFill>
                  <a:srgbClr val="E9EDF3"/>
                </a:solidFill>
                <a:latin typeface="JetBrains Mono" pitchFamily="49" charset="0"/>
                <a:ea typeface="JetBrains Mono" pitchFamily="49" charset="-122"/>
                <a:cs typeface="JetBrains Mono" pitchFamily="49" charset="-120"/>
              </a:rPr>
              <a:t>def fibonacci_recursive(position):</a:t>
            </a:r>
            <a:endParaRPr lang="en-US" sz="1400" dirty="0"/>
          </a:p>
          <a:p>
            <a:pPr algn="l" indent="0" marL="0">
              <a:lnSpc>
                <a:spcPts val="2100"/>
              </a:lnSpc>
              <a:buNone/>
            </a:pPr>
            <a:r>
              <a:rPr lang="en-US" sz="1400" dirty="0">
                <a:solidFill>
                  <a:srgbClr val="E9EDF3"/>
                </a:solidFill>
                <a:latin typeface="JetBrains Mono" pitchFamily="49" charset="0"/>
                <a:ea typeface="JetBrains Mono" pitchFamily="49" charset="-122"/>
                <a:cs typeface="JetBrains Mono" pitchFamily="49" charset="-120"/>
              </a:rPr>
              <a:t>    if position &lt; 2:</a:t>
            </a:r>
            <a:endParaRPr lang="en-US" sz="1400" dirty="0"/>
          </a:p>
          <a:p>
            <a:pPr algn="l" indent="0" marL="0">
              <a:lnSpc>
                <a:spcPts val="2100"/>
              </a:lnSpc>
              <a:buNone/>
            </a:pPr>
            <a:r>
              <a:rPr lang="en-US" sz="1400" dirty="0">
                <a:solidFill>
                  <a:srgbClr val="E9EDF3"/>
                </a:solidFill>
                <a:latin typeface="JetBrains Mono" pitchFamily="49" charset="0"/>
                <a:ea typeface="JetBrains Mono" pitchFamily="49" charset="-122"/>
                <a:cs typeface="JetBrains Mono" pitchFamily="49" charset="-120"/>
              </a:rPr>
              <a:t>        return position</a:t>
            </a:r>
            <a:endParaRPr lang="en-US" sz="1400" dirty="0"/>
          </a:p>
          <a:p>
            <a:pPr algn="l" indent="0" marL="0">
              <a:lnSpc>
                <a:spcPts val="2100"/>
              </a:lnSpc>
              <a:buNone/>
            </a:pPr>
            <a:r>
              <a:rPr lang="en-US" sz="1400" dirty="0">
                <a:solidFill>
                  <a:srgbClr val="E9EDF3"/>
                </a:solidFill>
                <a:latin typeface="JetBrains Mono" pitchFamily="49" charset="0"/>
                <a:ea typeface="JetBrains Mono" pitchFamily="49" charset="-122"/>
                <a:cs typeface="JetBrains Mono" pitchFamily="49" charset="-120"/>
              </a:rPr>
              <a:t>    return (fibonacci_recursive(position - 1)</a:t>
            </a:r>
            <a:endParaRPr lang="en-US" sz="1400" dirty="0"/>
          </a:p>
          <a:p>
            <a:pPr algn="l" indent="0" marL="0">
              <a:lnSpc>
                <a:spcPts val="2100"/>
              </a:lnSpc>
              <a:buNone/>
            </a:pPr>
            <a:r>
              <a:rPr lang="en-US" sz="1400" dirty="0">
                <a:solidFill>
                  <a:srgbClr val="E9EDF3"/>
                </a:solidFill>
                <a:latin typeface="JetBrains Mono" pitchFamily="49" charset="0"/>
                <a:ea typeface="JetBrains Mono" pitchFamily="49" charset="-122"/>
                <a:cs typeface="JetBrains Mono" pitchFamily="49" charset="-120"/>
              </a:rPr>
              <a:t>            + fibonacci_recursive(position - 2))</a:t>
            </a:r>
            <a:endParaRPr lang="en-US" sz="1400" dirty="0"/>
          </a:p>
        </p:txBody>
      </p:sp>
      <p:sp>
        <p:nvSpPr>
          <p:cNvPr id="5" name="Text 3"/>
          <p:cNvSpPr/>
          <p:nvPr/>
        </p:nvSpPr>
        <p:spPr>
          <a:xfrm>
            <a:off x="6999089" y="1935361"/>
            <a:ext cx="4511514"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Open a doll, find a smaller one, and repeat until you reach the solid one in the middle: the </a:t>
            </a:r>
            <a:r>
              <a:rPr lang="en-US" sz="1600" b="1" dirty="0">
                <a:solidFill>
                  <a:srgbClr val="3D4A5C"/>
                </a:solidFill>
                <a:latin typeface="Rubik" pitchFamily="34" charset="0"/>
                <a:ea typeface="Rubik" pitchFamily="34" charset="-122"/>
                <a:cs typeface="Rubik" pitchFamily="34" charset="-120"/>
              </a:rPr>
              <a:t>base case</a:t>
            </a:r>
            <a:r>
              <a:rPr lang="en-US" sz="1600" dirty="0">
                <a:solidFill>
                  <a:srgbClr val="3D4A5C"/>
                </a:solidFill>
                <a:latin typeface="Rubik" pitchFamily="34" charset="0"/>
                <a:ea typeface="Rubik" pitchFamily="34" charset="-122"/>
                <a:cs typeface="Rubik" pitchFamily="34" charset="-120"/>
              </a:rPr>
              <a:t>.</a:t>
            </a:r>
            <a:endParaRPr lang="en-US" sz="1600" dirty="0"/>
          </a:p>
        </p:txBody>
      </p:sp>
      <p:sp>
        <p:nvSpPr>
          <p:cNvPr id="6" name="Shape 4"/>
          <p:cNvSpPr/>
          <p:nvPr/>
        </p:nvSpPr>
        <p:spPr>
          <a:xfrm>
            <a:off x="6999089" y="2941141"/>
            <a:ext cx="4380111" cy="1295301"/>
          </a:xfrm>
          <a:prstGeom prst="roundRect">
            <a:avLst>
              <a:gd name="adj" fmla="val 7844"/>
            </a:avLst>
          </a:prstGeom>
          <a:solidFill>
            <a:srgbClr val="FFF3E6"/>
          </a:solidFill>
          <a:ln/>
        </p:spPr>
      </p:sp>
      <p:sp>
        <p:nvSpPr>
          <p:cNvPr id="7" name="Shape 5"/>
          <p:cNvSpPr/>
          <p:nvPr/>
        </p:nvSpPr>
        <p:spPr>
          <a:xfrm>
            <a:off x="6999089" y="2941141"/>
            <a:ext cx="4380111" cy="1295301"/>
          </a:xfrm>
          <a:custGeom>
            <a:avLst/>
            <a:gdLst/>
            <a:ahLst/>
            <a:cxnLst/>
            <a:rect l="l" t="t" r="r" b="b"/>
            <a:pathLst>
              <a:path w="4380111" h="1295301">
                <a:moveTo>
                  <a:pt x="101600" y="1295301"/>
                </a:moveTo>
                <a:lnTo>
                  <a:pt x="101600" y="1295301"/>
                </a:lnTo>
                <a:arcTo hR="101600" wR="101600" stAng="5400000" swAng="5400000"/>
                <a:lnTo>
                  <a:pt x="0" y="101600"/>
                </a:lnTo>
                <a:arcTo hR="101600" wR="101600" stAng="10800000" swAng="5400000"/>
                <a:lnTo>
                  <a:pt x="101600" y="0"/>
                </a:lnTo>
                <a:arcTo hR="101600" wR="63500" stAng="16200000" swAng="-5400000"/>
                <a:lnTo>
                  <a:pt x="38100" y="1193701"/>
                </a:lnTo>
                <a:arcTo hR="101600" wR="63500" stAng="10800000" swAng="-5400000"/>
                <a:close/>
              </a:path>
            </a:pathLst>
          </a:custGeom>
          <a:solidFill>
            <a:srgbClr val="A84A14"/>
          </a:solidFill>
          <a:ln/>
        </p:spPr>
      </p:sp>
      <p:sp>
        <p:nvSpPr>
          <p:cNvPr id="8" name="Text 6"/>
          <p:cNvSpPr/>
          <p:nvPr/>
        </p:nvSpPr>
        <p:spPr>
          <a:xfrm>
            <a:off x="7240389" y="3144341"/>
            <a:ext cx="405367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A84A14"/>
                </a:solidFill>
                <a:latin typeface="Rubik" pitchFamily="34" charset="0"/>
                <a:ea typeface="Rubik" pitchFamily="34" charset="-122"/>
                <a:cs typeface="Rubik" pitchFamily="34" charset="-120"/>
              </a:rPr>
              <a:t>Read it aloud</a:t>
            </a:r>
            <a:endParaRPr lang="en-US" sz="1600" dirty="0"/>
          </a:p>
        </p:txBody>
      </p:sp>
      <p:sp>
        <p:nvSpPr>
          <p:cNvPr id="9" name="Text 7"/>
          <p:cNvSpPr/>
          <p:nvPr/>
        </p:nvSpPr>
        <p:spPr>
          <a:xfrm>
            <a:off x="7240389" y="3464322"/>
            <a:ext cx="4053679"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“Position 0 or 1 is just the position. Otherwise, add the previous two.”</a:t>
            </a:r>
            <a:endParaRPr lang="en-US" sz="1600" dirty="0"/>
          </a:p>
        </p:txBody>
      </p:sp>
      <p:sp>
        <p:nvSpPr>
          <p:cNvPr id="10"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85"/>
                </a:solidFill>
                <a:latin typeface="Rubik" pitchFamily="34" charset="0"/>
                <a:ea typeface="Rubik" pitchFamily="34" charset="-122"/>
                <a:cs typeface="Rubik" pitchFamily="34" charset="-120"/>
              </a:rPr>
              <a:t>Functional Programming with TDD · Part One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EF1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A14"/>
                </a:solidFill>
                <a:latin typeface="Rubik" pitchFamily="34" charset="0"/>
                <a:ea typeface="Rubik" pitchFamily="34" charset="-122"/>
                <a:cs typeface="Rubik" pitchFamily="34" charset="-120"/>
              </a:rPr>
              <a:t>ACTIVITY · PAIRS · 15 MINUTES</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Red, green, refactor</a:t>
            </a:r>
            <a:endParaRPr lang="en-US" sz="3600" dirty="0"/>
          </a:p>
        </p:txBody>
      </p:sp>
      <p:sp>
        <p:nvSpPr>
          <p:cNvPr id="4" name="Shape 2"/>
          <p:cNvSpPr/>
          <p:nvPr/>
        </p:nvSpPr>
        <p:spPr>
          <a:xfrm>
            <a:off x="815975" y="1887736"/>
            <a:ext cx="10560050" cy="798810"/>
          </a:xfrm>
          <a:prstGeom prst="roundRect">
            <a:avLst>
              <a:gd name="adj" fmla="val 12321"/>
            </a:avLst>
          </a:prstGeom>
          <a:solidFill>
            <a:srgbClr val="FFFEFB"/>
          </a:solidFill>
          <a:ln w="6350">
            <a:solidFill>
              <a:srgbClr val="D5DBE3"/>
            </a:solidFill>
            <a:prstDash val="solid"/>
          </a:ln>
        </p:spPr>
      </p:sp>
      <p:sp>
        <p:nvSpPr>
          <p:cNvPr id="5" name="Text 3"/>
          <p:cNvSpPr/>
          <p:nvPr/>
        </p:nvSpPr>
        <p:spPr>
          <a:xfrm>
            <a:off x="1073150" y="2068711"/>
            <a:ext cx="1524000" cy="436860"/>
          </a:xfrm>
          <a:custGeom>
            <a:avLst/>
            <a:gdLst/>
            <a:ahLst/>
            <a:cxnLst/>
            <a:rect l="l" t="t" r="r" b="b"/>
            <a:pathLst>
              <a:path w="1524000" h="436860">
                <a:moveTo>
                  <a:pt x="218430" y="0"/>
                </a:moveTo>
                <a:lnTo>
                  <a:pt x="1305570" y="0"/>
                </a:lnTo>
                <a:arcTo hR="218430" wR="218430" stAng="16200000" swAng="5400000"/>
                <a:lnTo>
                  <a:pt x="1524000" y="218430"/>
                </a:lnTo>
                <a:arcTo hR="218430" wR="218430" stAng="0" swAng="5400000"/>
                <a:lnTo>
                  <a:pt x="218430" y="436860"/>
                </a:lnTo>
                <a:arcTo hR="218430" wR="218430" stAng="5400000" swAng="5400000"/>
                <a:lnTo>
                  <a:pt x="0" y="218430"/>
                </a:lnTo>
                <a:arcTo hR="218430" wR="218430" stAng="10800000" swAng="5400000"/>
                <a:close/>
              </a:path>
            </a:pathLst>
          </a:custGeom>
          <a:solidFill>
            <a:srgbClr val="F6DADA"/>
          </a:solidFill>
          <a:ln/>
        </p:spPr>
        <p:txBody>
          <a:bodyPr wrap="square" lIns="0" tIns="76200" rIns="0" bIns="50800" rtlCol="0" anchor="t">
            <a:normAutofit/>
          </a:bodyPr>
          <a:lstStyle/>
          <a:p>
            <a:pPr algn="ctr" indent="0" marL="0">
              <a:lnSpc>
                <a:spcPts val="2240"/>
              </a:lnSpc>
              <a:buNone/>
            </a:pPr>
            <a:r>
              <a:rPr lang="en-US" sz="1600" b="1" dirty="0">
                <a:solidFill>
                  <a:srgbClr val="8A1F1F"/>
                </a:solidFill>
                <a:latin typeface="Rubik" pitchFamily="34" charset="0"/>
                <a:ea typeface="Rubik" pitchFamily="34" charset="-122"/>
                <a:cs typeface="Rubik" pitchFamily="34" charset="-120"/>
              </a:rPr>
              <a:t>1 · Red</a:t>
            </a:r>
            <a:endParaRPr lang="en-US" sz="1600" dirty="0"/>
          </a:p>
        </p:txBody>
      </p:sp>
      <p:sp>
        <p:nvSpPr>
          <p:cNvPr id="6" name="Text 4"/>
          <p:cNvSpPr/>
          <p:nvPr/>
        </p:nvSpPr>
        <p:spPr>
          <a:xfrm>
            <a:off x="2800350" y="2144911"/>
            <a:ext cx="85725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Write a test expecting </a:t>
            </a:r>
            <a:r>
              <a:rPr lang="en-US" sz="1600" b="1" dirty="0">
                <a:solidFill>
                  <a:srgbClr val="3D4A5C"/>
                </a:solidFill>
                <a:latin typeface="Rubik" pitchFamily="34" charset="0"/>
                <a:ea typeface="Rubik" pitchFamily="34" charset="-122"/>
                <a:cs typeface="Rubik" pitchFamily="34" charset="-120"/>
              </a:rPr>
              <a:t>ValueError</a:t>
            </a:r>
            <a:r>
              <a:rPr lang="en-US" sz="1600" dirty="0">
                <a:solidFill>
                  <a:srgbClr val="3D4A5C"/>
                </a:solidFill>
                <a:latin typeface="Rubik" pitchFamily="34" charset="0"/>
                <a:ea typeface="Rubik" pitchFamily="34" charset="-122"/>
                <a:cs typeface="Rubik" pitchFamily="34" charset="-120"/>
              </a:rPr>
              <a:t> from fibonacci_recursive(-1). Run it and watch it fail.</a:t>
            </a:r>
            <a:endParaRPr lang="en-US" sz="1600" dirty="0"/>
          </a:p>
        </p:txBody>
      </p:sp>
      <p:sp>
        <p:nvSpPr>
          <p:cNvPr id="7" name="Shape 5"/>
          <p:cNvSpPr/>
          <p:nvPr/>
        </p:nvSpPr>
        <p:spPr>
          <a:xfrm>
            <a:off x="815975" y="2819896"/>
            <a:ext cx="10560050" cy="798810"/>
          </a:xfrm>
          <a:prstGeom prst="roundRect">
            <a:avLst>
              <a:gd name="adj" fmla="val 12321"/>
            </a:avLst>
          </a:prstGeom>
          <a:solidFill>
            <a:srgbClr val="FFFEFB"/>
          </a:solidFill>
          <a:ln w="6350">
            <a:solidFill>
              <a:srgbClr val="D5DBE3"/>
            </a:solidFill>
            <a:prstDash val="solid"/>
          </a:ln>
        </p:spPr>
      </p:sp>
      <p:sp>
        <p:nvSpPr>
          <p:cNvPr id="8" name="Text 6"/>
          <p:cNvSpPr/>
          <p:nvPr/>
        </p:nvSpPr>
        <p:spPr>
          <a:xfrm>
            <a:off x="1073150" y="3000871"/>
            <a:ext cx="1524000" cy="436860"/>
          </a:xfrm>
          <a:custGeom>
            <a:avLst/>
            <a:gdLst/>
            <a:ahLst/>
            <a:cxnLst/>
            <a:rect l="l" t="t" r="r" b="b"/>
            <a:pathLst>
              <a:path w="1524000" h="436860">
                <a:moveTo>
                  <a:pt x="218430" y="0"/>
                </a:moveTo>
                <a:lnTo>
                  <a:pt x="1305570" y="0"/>
                </a:lnTo>
                <a:arcTo hR="218430" wR="218430" stAng="16200000" swAng="5400000"/>
                <a:lnTo>
                  <a:pt x="1524000" y="218430"/>
                </a:lnTo>
                <a:arcTo hR="218430" wR="218430" stAng="0" swAng="5400000"/>
                <a:lnTo>
                  <a:pt x="218430" y="436860"/>
                </a:lnTo>
                <a:arcTo hR="218430" wR="218430" stAng="5400000" swAng="5400000"/>
                <a:lnTo>
                  <a:pt x="0" y="218430"/>
                </a:lnTo>
                <a:arcTo hR="218430" wR="218430" stAng="10800000" swAng="5400000"/>
                <a:close/>
              </a:path>
            </a:pathLst>
          </a:custGeom>
          <a:solidFill>
            <a:srgbClr val="D8EFDF"/>
          </a:solidFill>
          <a:ln/>
        </p:spPr>
        <p:txBody>
          <a:bodyPr wrap="square" lIns="0" tIns="76200" rIns="0" bIns="50800" rtlCol="0" anchor="t">
            <a:normAutofit/>
          </a:bodyPr>
          <a:lstStyle/>
          <a:p>
            <a:pPr algn="ctr" indent="0" marL="0">
              <a:lnSpc>
                <a:spcPts val="2240"/>
              </a:lnSpc>
              <a:buNone/>
            </a:pPr>
            <a:r>
              <a:rPr lang="en-US" sz="1600" b="1" dirty="0">
                <a:solidFill>
                  <a:srgbClr val="1E6B3A"/>
                </a:solidFill>
                <a:latin typeface="Rubik" pitchFamily="34" charset="0"/>
                <a:ea typeface="Rubik" pitchFamily="34" charset="-122"/>
                <a:cs typeface="Rubik" pitchFamily="34" charset="-120"/>
              </a:rPr>
              <a:t>2 · Green</a:t>
            </a:r>
            <a:endParaRPr lang="en-US" sz="1600" dirty="0"/>
          </a:p>
        </p:txBody>
      </p:sp>
      <p:sp>
        <p:nvSpPr>
          <p:cNvPr id="9" name="Text 7"/>
          <p:cNvSpPr/>
          <p:nvPr/>
        </p:nvSpPr>
        <p:spPr>
          <a:xfrm>
            <a:off x="2800350" y="3077071"/>
            <a:ext cx="856805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Make it pass with the smallest change you can.</a:t>
            </a:r>
            <a:endParaRPr lang="en-US" sz="1600" dirty="0"/>
          </a:p>
        </p:txBody>
      </p:sp>
      <p:sp>
        <p:nvSpPr>
          <p:cNvPr id="10" name="Shape 8"/>
          <p:cNvSpPr/>
          <p:nvPr/>
        </p:nvSpPr>
        <p:spPr>
          <a:xfrm>
            <a:off x="815975" y="3752056"/>
            <a:ext cx="10560050" cy="798810"/>
          </a:xfrm>
          <a:prstGeom prst="roundRect">
            <a:avLst>
              <a:gd name="adj" fmla="val 12321"/>
            </a:avLst>
          </a:prstGeom>
          <a:solidFill>
            <a:srgbClr val="FFFEFB"/>
          </a:solidFill>
          <a:ln w="6350">
            <a:solidFill>
              <a:srgbClr val="D5DBE3"/>
            </a:solidFill>
            <a:prstDash val="solid"/>
          </a:ln>
        </p:spPr>
      </p:sp>
      <p:sp>
        <p:nvSpPr>
          <p:cNvPr id="11" name="Text 9"/>
          <p:cNvSpPr/>
          <p:nvPr/>
        </p:nvSpPr>
        <p:spPr>
          <a:xfrm>
            <a:off x="1073150" y="3933031"/>
            <a:ext cx="1524000" cy="436860"/>
          </a:xfrm>
          <a:custGeom>
            <a:avLst/>
            <a:gdLst/>
            <a:ahLst/>
            <a:cxnLst/>
            <a:rect l="l" t="t" r="r" b="b"/>
            <a:pathLst>
              <a:path w="1524000" h="436860">
                <a:moveTo>
                  <a:pt x="218430" y="0"/>
                </a:moveTo>
                <a:lnTo>
                  <a:pt x="1305570" y="0"/>
                </a:lnTo>
                <a:arcTo hR="218430" wR="218430" stAng="16200000" swAng="5400000"/>
                <a:lnTo>
                  <a:pt x="1524000" y="218430"/>
                </a:lnTo>
                <a:arcTo hR="218430" wR="218430" stAng="0" swAng="5400000"/>
                <a:lnTo>
                  <a:pt x="218430" y="436860"/>
                </a:lnTo>
                <a:arcTo hR="218430" wR="218430" stAng="5400000" swAng="5400000"/>
                <a:lnTo>
                  <a:pt x="0" y="218430"/>
                </a:lnTo>
                <a:arcTo hR="218430" wR="218430" stAng="10800000" swAng="5400000"/>
                <a:close/>
              </a:path>
            </a:pathLst>
          </a:custGeom>
          <a:solidFill>
            <a:srgbClr val="DCE6F2"/>
          </a:solidFill>
          <a:ln/>
        </p:spPr>
        <p:txBody>
          <a:bodyPr wrap="square" lIns="0" tIns="76200" rIns="0" bIns="50800" rtlCol="0" anchor="t">
            <a:normAutofit/>
          </a:bodyPr>
          <a:lstStyle/>
          <a:p>
            <a:pPr algn="ctr" indent="0" marL="0">
              <a:lnSpc>
                <a:spcPts val="2240"/>
              </a:lnSpc>
              <a:buNone/>
            </a:pPr>
            <a:r>
              <a:rPr lang="en-US" sz="1600" b="1" dirty="0">
                <a:solidFill>
                  <a:srgbClr val="14213D"/>
                </a:solidFill>
                <a:latin typeface="Rubik" pitchFamily="34" charset="0"/>
                <a:ea typeface="Rubik" pitchFamily="34" charset="-122"/>
                <a:cs typeface="Rubik" pitchFamily="34" charset="-120"/>
              </a:rPr>
              <a:t>3 · Refactor</a:t>
            </a:r>
            <a:endParaRPr lang="en-US" sz="1600" dirty="0"/>
          </a:p>
        </p:txBody>
      </p:sp>
      <p:sp>
        <p:nvSpPr>
          <p:cNvPr id="12" name="Text 10"/>
          <p:cNvSpPr/>
          <p:nvPr/>
        </p:nvSpPr>
        <p:spPr>
          <a:xfrm>
            <a:off x="2800350" y="4009231"/>
            <a:ext cx="856805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Pull the check out into a small, well-named function.</a:t>
            </a:r>
            <a:endParaRPr lang="en-US" sz="1600" dirty="0"/>
          </a:p>
        </p:txBody>
      </p:sp>
      <p:sp>
        <p:nvSpPr>
          <p:cNvPr id="13" name="Text 11"/>
          <p:cNvSpPr/>
          <p:nvPr/>
        </p:nvSpPr>
        <p:spPr>
          <a:xfrm>
            <a:off x="812800" y="4808041"/>
            <a:ext cx="10883392"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D4A5C"/>
                </a:solidFill>
                <a:latin typeface="Rubik" pitchFamily="34" charset="0"/>
                <a:ea typeface="Rubik" pitchFamily="34" charset="-122"/>
                <a:cs typeface="Rubik" pitchFamily="34" charset="-120"/>
              </a:rPr>
              <a:t>Hint:</a:t>
            </a:r>
            <a:r>
              <a:rPr lang="en-US" sz="1600" dirty="0">
                <a:solidFill>
                  <a:srgbClr val="3D4A5C"/>
                </a:solidFill>
                <a:latin typeface="Rubik" pitchFamily="34" charset="0"/>
                <a:ea typeface="Rubik" pitchFamily="34" charset="-122"/>
                <a:cs typeface="Rubik" pitchFamily="34" charset="-120"/>
              </a:rPr>
              <a:t> pytest.raises(ValueError) passes only if the code inside raises that error.</a:t>
            </a:r>
            <a:endParaRPr lang="en-US" sz="1600" dirty="0"/>
          </a:p>
          <a:p>
            <a:pPr algn="l" indent="0" marL="0">
              <a:lnSpc>
                <a:spcPts val="2240"/>
              </a:lnSpc>
              <a:buNone/>
            </a:pPr>
            <a:r>
              <a:rPr lang="en-US" sz="1600" b="1" dirty="0">
                <a:solidFill>
                  <a:srgbClr val="3D4A5C"/>
                </a:solidFill>
                <a:latin typeface="Rubik" pitchFamily="34" charset="0"/>
                <a:ea typeface="Rubik" pitchFamily="34" charset="-122"/>
                <a:cs typeface="Rubik" pitchFamily="34" charset="-120"/>
              </a:rPr>
              <a:t>Stretch:</a:t>
            </a:r>
            <a:r>
              <a:rPr lang="en-US" sz="1600" dirty="0">
                <a:solidFill>
                  <a:srgbClr val="3D4A5C"/>
                </a:solidFill>
                <a:latin typeface="Rubik" pitchFamily="34" charset="0"/>
                <a:ea typeface="Rubik" pitchFamily="34" charset="-122"/>
                <a:cs typeface="Rubik" pitchFamily="34" charset="-120"/>
              </a:rPr>
              <a:t> a pure fibonacci_sequence(length) built from next_pair.</a:t>
            </a:r>
            <a:endParaRPr lang="en-US" sz="16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85"/>
                </a:solidFill>
                <a:latin typeface="Rubik" pitchFamily="34" charset="0"/>
                <a:ea typeface="Rubik" pitchFamily="34" charset="-122"/>
                <a:cs typeface="Rubik" pitchFamily="34" charset="-120"/>
              </a:rPr>
              <a:t>Functional Programming with TDD · Part One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A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A14"/>
                </a:solidFill>
                <a:latin typeface="Rubik" pitchFamily="34" charset="0"/>
                <a:ea typeface="Rubik" pitchFamily="34" charset="-122"/>
                <a:cs typeface="Rubik" pitchFamily="34" charset="-120"/>
              </a:rPr>
              <a:t>SECTION 3 · STRENGTHS AND WEAKNESSES</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What FP gives you, and what it costs</a:t>
            </a:r>
            <a:endParaRPr lang="en-US" sz="3600" dirty="0"/>
          </a:p>
        </p:txBody>
      </p:sp>
      <p:sp>
        <p:nvSpPr>
          <p:cNvPr id="4" name="Shape 2"/>
          <p:cNvSpPr/>
          <p:nvPr/>
        </p:nvSpPr>
        <p:spPr>
          <a:xfrm>
            <a:off x="815975" y="1938536"/>
            <a:ext cx="5175250" cy="2500511"/>
          </a:xfrm>
          <a:prstGeom prst="roundRect">
            <a:avLst>
              <a:gd name="adj" fmla="val 3936"/>
            </a:avLst>
          </a:prstGeom>
          <a:solidFill>
            <a:srgbClr val="FFFEFB"/>
          </a:solidFill>
          <a:ln w="6350">
            <a:solidFill>
              <a:srgbClr val="E2DED5"/>
            </a:solidFill>
            <a:prstDash val="solid"/>
          </a:ln>
        </p:spPr>
      </p:sp>
      <p:sp>
        <p:nvSpPr>
          <p:cNvPr id="5" name="Text 3"/>
          <p:cNvSpPr/>
          <p:nvPr/>
        </p:nvSpPr>
        <p:spPr>
          <a:xfrm>
            <a:off x="1123950" y="2246511"/>
            <a:ext cx="4696079"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Rubik" pitchFamily="34" charset="0"/>
                <a:ea typeface="Rubik" pitchFamily="34" charset="-122"/>
                <a:cs typeface="Rubik" pitchFamily="34" charset="-120"/>
              </a:rPr>
              <a:t>Gains</a:t>
            </a:r>
            <a:endParaRPr lang="en-US" sz="2200" dirty="0"/>
          </a:p>
        </p:txBody>
      </p:sp>
      <p:sp>
        <p:nvSpPr>
          <p:cNvPr id="6" name="Text 4"/>
          <p:cNvSpPr/>
          <p:nvPr/>
        </p:nvSpPr>
        <p:spPr>
          <a:xfrm>
            <a:off x="1194308" y="2708771"/>
            <a:ext cx="4618101" cy="1163241"/>
          </a:xfrm>
          <a:prstGeom prst="rect">
            <a:avLst/>
          </a:prstGeom>
          <a:noFill/>
          <a:ln/>
        </p:spPr>
        <p:txBody>
          <a:bodyPr wrap="square" lIns="0" tIns="0" rIns="0" bIns="0" rtlCol="0" anchor="t">
            <a:normAutofit/>
          </a:bodyPr>
          <a:lstStyle/>
          <a:p>
            <a:pPr algn="l" marL="183642" indent="-183642">
              <a:lnSpc>
                <a:spcPts val="2240"/>
              </a:lnSpc>
              <a:buSzPct val="100000"/>
              <a:buChar char="•"/>
            </a:pPr>
            <a:r>
              <a:rPr lang="en-US" sz="1600" dirty="0">
                <a:solidFill>
                  <a:srgbClr val="3D4A5C"/>
                </a:solidFill>
                <a:latin typeface="Rubik" pitchFamily="34" charset="0"/>
                <a:ea typeface="Rubik" pitchFamily="34" charset="-122"/>
                <a:cs typeface="Rubik" pitchFamily="34" charset="-120"/>
              </a:rPr>
              <a:t>Testability: input in, output out</a:t>
            </a:r>
            <a:endParaRPr lang="en-US" sz="1600" dirty="0"/>
          </a:p>
          <a:p>
            <a:pPr algn="l" marL="183642" indent="-183642">
              <a:lnSpc>
                <a:spcPts val="2240"/>
              </a:lnSpc>
              <a:buSzPct val="100000"/>
              <a:buChar char="•"/>
            </a:pPr>
            <a:r>
              <a:rPr lang="en-US" sz="1600" dirty="0">
                <a:solidFill>
                  <a:srgbClr val="3D4A5C"/>
                </a:solidFill>
                <a:latin typeface="Rubik" pitchFamily="34" charset="0"/>
                <a:ea typeface="Rubik" pitchFamily="34" charset="-122"/>
                <a:cs typeface="Rubik" pitchFamily="34" charset="-120"/>
              </a:rPr>
              <a:t>Fewer shared-state bugs</a:t>
            </a:r>
            <a:endParaRPr lang="en-US" sz="1600" dirty="0"/>
          </a:p>
          <a:p>
            <a:pPr algn="l" marL="183642" indent="-183642">
              <a:lnSpc>
                <a:spcPts val="2240"/>
              </a:lnSpc>
              <a:buSzPct val="100000"/>
              <a:buChar char="•"/>
            </a:pPr>
            <a:r>
              <a:rPr lang="en-US" sz="1600" dirty="0">
                <a:solidFill>
                  <a:srgbClr val="3D4A5C"/>
                </a:solidFill>
                <a:latin typeface="Rubik" pitchFamily="34" charset="0"/>
                <a:ea typeface="Rubik" pitchFamily="34" charset="-122"/>
                <a:cs typeface="Rubik" pitchFamily="34" charset="-120"/>
              </a:rPr>
              <a:t>Easier reasoning, one function at a time</a:t>
            </a:r>
            <a:endParaRPr lang="en-US" sz="1600" dirty="0"/>
          </a:p>
          <a:p>
            <a:pPr algn="l" marL="183642" indent="-183642">
              <a:lnSpc>
                <a:spcPts val="2240"/>
              </a:lnSpc>
              <a:buSzPct val="100000"/>
              <a:buChar char="•"/>
            </a:pPr>
            <a:r>
              <a:rPr lang="en-US" sz="1600" dirty="0">
                <a:solidFill>
                  <a:srgbClr val="3D4A5C"/>
                </a:solidFill>
                <a:latin typeface="Rubik" pitchFamily="34" charset="0"/>
                <a:ea typeface="Rubik" pitchFamily="34" charset="-122"/>
                <a:cs typeface="Rubik" pitchFamily="34" charset="-120"/>
              </a:rPr>
              <a:t>Safe concurrency: nothing to fight over</a:t>
            </a:r>
            <a:endParaRPr lang="en-US" sz="1600" dirty="0"/>
          </a:p>
        </p:txBody>
      </p:sp>
      <p:sp>
        <p:nvSpPr>
          <p:cNvPr id="7" name="Shape 5"/>
          <p:cNvSpPr/>
          <p:nvPr/>
        </p:nvSpPr>
        <p:spPr>
          <a:xfrm>
            <a:off x="6200775" y="1938536"/>
            <a:ext cx="5175250" cy="2500511"/>
          </a:xfrm>
          <a:prstGeom prst="roundRect">
            <a:avLst>
              <a:gd name="adj" fmla="val 3936"/>
            </a:avLst>
          </a:prstGeom>
          <a:solidFill>
            <a:srgbClr val="FFFEFB"/>
          </a:solidFill>
          <a:ln w="6350">
            <a:solidFill>
              <a:srgbClr val="E2DED5"/>
            </a:solidFill>
            <a:prstDash val="solid"/>
          </a:ln>
        </p:spPr>
      </p:sp>
      <p:sp>
        <p:nvSpPr>
          <p:cNvPr id="8" name="Text 6"/>
          <p:cNvSpPr/>
          <p:nvPr/>
        </p:nvSpPr>
        <p:spPr>
          <a:xfrm>
            <a:off x="6508750" y="2246511"/>
            <a:ext cx="4696079"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A84A14"/>
                </a:solidFill>
                <a:latin typeface="Rubik" pitchFamily="34" charset="0"/>
                <a:ea typeface="Rubik" pitchFamily="34" charset="-122"/>
                <a:cs typeface="Rubik" pitchFamily="34" charset="-120"/>
              </a:rPr>
              <a:t>Costs</a:t>
            </a:r>
            <a:endParaRPr lang="en-US" sz="2200" dirty="0"/>
          </a:p>
        </p:txBody>
      </p:sp>
      <p:sp>
        <p:nvSpPr>
          <p:cNvPr id="9" name="Text 7"/>
          <p:cNvSpPr/>
          <p:nvPr/>
        </p:nvSpPr>
        <p:spPr>
          <a:xfrm>
            <a:off x="6579108" y="2708771"/>
            <a:ext cx="4618101" cy="1447701"/>
          </a:xfrm>
          <a:prstGeom prst="rect">
            <a:avLst/>
          </a:prstGeom>
          <a:noFill/>
          <a:ln/>
        </p:spPr>
        <p:txBody>
          <a:bodyPr wrap="square" lIns="0" tIns="0" rIns="0" bIns="0" rtlCol="0" anchor="t">
            <a:normAutofit/>
          </a:bodyPr>
          <a:lstStyle/>
          <a:p>
            <a:pPr algn="l" marL="183642" indent="-183642">
              <a:lnSpc>
                <a:spcPts val="2240"/>
              </a:lnSpc>
              <a:buSzPct val="100000"/>
              <a:buChar char="•"/>
            </a:pPr>
            <a:r>
              <a:rPr lang="en-US" sz="1600" dirty="0">
                <a:solidFill>
                  <a:srgbClr val="3D4A5C"/>
                </a:solidFill>
                <a:latin typeface="Rubik" pitchFamily="34" charset="0"/>
                <a:ea typeface="Rubik" pitchFamily="34" charset="-122"/>
                <a:cs typeface="Rubik" pitchFamily="34" charset="-120"/>
              </a:rPr>
              <a:t>A learning curve: writing with your other hand</a:t>
            </a:r>
            <a:endParaRPr lang="en-US" sz="1600" dirty="0"/>
          </a:p>
          <a:p>
            <a:pPr algn="l" marL="183642" indent="-183642">
              <a:lnSpc>
                <a:spcPts val="2240"/>
              </a:lnSpc>
              <a:buSzPct val="100000"/>
              <a:buChar char="•"/>
            </a:pPr>
            <a:r>
              <a:rPr lang="en-US" sz="1600" dirty="0">
                <a:solidFill>
                  <a:srgbClr val="3D4A5C"/>
                </a:solidFill>
                <a:latin typeface="Rubik" pitchFamily="34" charset="0"/>
                <a:ea typeface="Rubik" pitchFamily="34" charset="-122"/>
                <a:cs typeface="Rubik" pitchFamily="34" charset="-120"/>
              </a:rPr>
              <a:t>Recursion depth: Python stops near 1,000</a:t>
            </a:r>
            <a:endParaRPr lang="en-US" sz="1600" dirty="0"/>
          </a:p>
          <a:p>
            <a:pPr algn="l" marL="183642" indent="-183642">
              <a:lnSpc>
                <a:spcPts val="2240"/>
              </a:lnSpc>
              <a:buSzPct val="100000"/>
              <a:buChar char="•"/>
            </a:pPr>
            <a:r>
              <a:rPr lang="en-US" sz="1600" dirty="0">
                <a:solidFill>
                  <a:srgbClr val="3D4A5C"/>
                </a:solidFill>
                <a:latin typeface="Rubik" pitchFamily="34" charset="0"/>
                <a:ea typeface="Rubik" pitchFamily="34" charset="-122"/>
                <a:cs typeface="Rubik" pitchFamily="34" charset="-120"/>
              </a:rPr>
              <a:t>Performance: copying, naive recursion</a:t>
            </a:r>
            <a:endParaRPr lang="en-US" sz="1600" dirty="0"/>
          </a:p>
          <a:p>
            <a:pPr algn="l" marL="183642" indent="-183642">
              <a:lnSpc>
                <a:spcPts val="2240"/>
              </a:lnSpc>
              <a:buSzPct val="100000"/>
              <a:buChar char="•"/>
            </a:pPr>
            <a:r>
              <a:rPr lang="en-US" sz="1600" dirty="0">
                <a:solidFill>
                  <a:srgbClr val="3D4A5C"/>
                </a:solidFill>
                <a:latin typeface="Rubik" pitchFamily="34" charset="0"/>
                <a:ea typeface="Rubik" pitchFamily="34" charset="-122"/>
                <a:cs typeface="Rubik" pitchFamily="34" charset="-120"/>
              </a:rPr>
              <a:t>Unfamiliar idioms: map, fold, monads</a:t>
            </a:r>
            <a:endParaRPr lang="en-US" sz="1600" dirty="0"/>
          </a:p>
          <a:p>
            <a:pPr algn="l" marL="183642" indent="-183642">
              <a:lnSpc>
                <a:spcPts val="2240"/>
              </a:lnSpc>
              <a:buSzPct val="100000"/>
              <a:buChar char="•"/>
            </a:pPr>
            <a:r>
              <a:rPr lang="en-US" sz="1600" dirty="0">
                <a:solidFill>
                  <a:srgbClr val="3D4A5C"/>
                </a:solidFill>
                <a:latin typeface="Rubik" pitchFamily="34" charset="0"/>
                <a:ea typeface="Rubik" pitchFamily="34" charset="-122"/>
                <a:cs typeface="Rubik" pitchFamily="34" charset="-120"/>
              </a:rPr>
              <a:t>More ceremony in some languages</a:t>
            </a:r>
            <a:endParaRPr lang="en-US" sz="1600" dirty="0"/>
          </a:p>
        </p:txBody>
      </p:sp>
      <p:sp>
        <p:nvSpPr>
          <p:cNvPr id="10"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85"/>
                </a:solidFill>
                <a:latin typeface="Rubik" pitchFamily="34" charset="0"/>
                <a:ea typeface="Rubik" pitchFamily="34" charset="-122"/>
                <a:cs typeface="Rubik" pitchFamily="34" charset="-120"/>
              </a:rPr>
              <a:t>Functional Programming with TDD · Part One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A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A14"/>
                </a:solidFill>
                <a:latin typeface="Rubik" pitchFamily="34" charset="0"/>
                <a:ea typeface="Rubik" pitchFamily="34" charset="-122"/>
                <a:cs typeface="Rubik" pitchFamily="34" charset="-120"/>
              </a:rPr>
              <a:t>SECTION 3 · TESTING</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The test pyramid</a:t>
            </a:r>
            <a:endParaRPr lang="en-US" sz="3600" dirty="0"/>
          </a:p>
        </p:txBody>
      </p:sp>
      <p:sp>
        <p:nvSpPr>
          <p:cNvPr id="4" name="Shape 2"/>
          <p:cNvSpPr/>
          <p:nvPr/>
        </p:nvSpPr>
        <p:spPr>
          <a:xfrm>
            <a:off x="2432050" y="1935361"/>
            <a:ext cx="2159000" cy="802580"/>
          </a:xfrm>
          <a:prstGeom prst="roundRect">
            <a:avLst>
              <a:gd name="adj" fmla="val 9494"/>
            </a:avLst>
          </a:prstGeom>
          <a:solidFill>
            <a:srgbClr val="A84A14"/>
          </a:solidFill>
          <a:ln/>
        </p:spPr>
      </p:sp>
      <p:sp>
        <p:nvSpPr>
          <p:cNvPr id="5" name="Text 3"/>
          <p:cNvSpPr/>
          <p:nvPr/>
        </p:nvSpPr>
        <p:spPr>
          <a:xfrm>
            <a:off x="2556637" y="2087761"/>
            <a:ext cx="1909826"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FBFAF6"/>
                </a:solidFill>
                <a:latin typeface="Rubik" pitchFamily="34" charset="0"/>
                <a:ea typeface="Rubik" pitchFamily="34" charset="-122"/>
                <a:cs typeface="Rubik" pitchFamily="34" charset="-120"/>
              </a:rPr>
              <a:t>End-to-end</a:t>
            </a:r>
            <a:endParaRPr lang="en-US" sz="1600" dirty="0"/>
          </a:p>
        </p:txBody>
      </p:sp>
      <p:sp>
        <p:nvSpPr>
          <p:cNvPr id="6" name="Text 4"/>
          <p:cNvSpPr/>
          <p:nvPr/>
        </p:nvSpPr>
        <p:spPr>
          <a:xfrm>
            <a:off x="2556637" y="2372221"/>
            <a:ext cx="1909826"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BFAF6"/>
                </a:solidFill>
                <a:latin typeface="Rubik" pitchFamily="34" charset="0"/>
                <a:ea typeface="Rubik" pitchFamily="34" charset="-122"/>
                <a:cs typeface="Rubik" pitchFamily="34" charset="-120"/>
              </a:rPr>
              <a:t>Few · slow · brittle</a:t>
            </a:r>
            <a:endParaRPr lang="en-US" sz="1200" dirty="0"/>
          </a:p>
        </p:txBody>
      </p:sp>
      <p:sp>
        <p:nvSpPr>
          <p:cNvPr id="7" name="Shape 5"/>
          <p:cNvSpPr/>
          <p:nvPr/>
        </p:nvSpPr>
        <p:spPr>
          <a:xfrm>
            <a:off x="1733550" y="2814141"/>
            <a:ext cx="3556000" cy="802580"/>
          </a:xfrm>
          <a:prstGeom prst="roundRect">
            <a:avLst>
              <a:gd name="adj" fmla="val 9494"/>
            </a:avLst>
          </a:prstGeom>
          <a:solidFill>
            <a:srgbClr val="3E5C86"/>
          </a:solidFill>
          <a:ln/>
        </p:spPr>
      </p:sp>
      <p:sp>
        <p:nvSpPr>
          <p:cNvPr id="8" name="Text 6"/>
          <p:cNvSpPr/>
          <p:nvPr/>
        </p:nvSpPr>
        <p:spPr>
          <a:xfrm>
            <a:off x="1837182" y="2966541"/>
            <a:ext cx="3348736"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FBFAF6"/>
                </a:solidFill>
                <a:latin typeface="Rubik" pitchFamily="34" charset="0"/>
                <a:ea typeface="Rubik" pitchFamily="34" charset="-122"/>
                <a:cs typeface="Rubik" pitchFamily="34" charset="-120"/>
              </a:rPr>
              <a:t>Integration</a:t>
            </a:r>
            <a:endParaRPr lang="en-US" sz="1600" dirty="0"/>
          </a:p>
        </p:txBody>
      </p:sp>
      <p:sp>
        <p:nvSpPr>
          <p:cNvPr id="9" name="Text 7"/>
          <p:cNvSpPr/>
          <p:nvPr/>
        </p:nvSpPr>
        <p:spPr>
          <a:xfrm>
            <a:off x="1837182" y="3251002"/>
            <a:ext cx="3348736"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BFAF6"/>
                </a:solidFill>
                <a:latin typeface="Rubik" pitchFamily="34" charset="0"/>
                <a:ea typeface="Rubik" pitchFamily="34" charset="-122"/>
                <a:cs typeface="Rubik" pitchFamily="34" charset="-120"/>
              </a:rPr>
              <a:t>Some · parts working together</a:t>
            </a:r>
            <a:endParaRPr lang="en-US" sz="1200" dirty="0"/>
          </a:p>
        </p:txBody>
      </p:sp>
      <p:sp>
        <p:nvSpPr>
          <p:cNvPr id="10" name="Shape 8"/>
          <p:cNvSpPr/>
          <p:nvPr/>
        </p:nvSpPr>
        <p:spPr>
          <a:xfrm>
            <a:off x="1035050" y="3692922"/>
            <a:ext cx="4953000" cy="802580"/>
          </a:xfrm>
          <a:prstGeom prst="roundRect">
            <a:avLst>
              <a:gd name="adj" fmla="val 9494"/>
            </a:avLst>
          </a:prstGeom>
          <a:solidFill>
            <a:srgbClr val="14213D"/>
          </a:solidFill>
          <a:ln/>
        </p:spPr>
      </p:sp>
      <p:sp>
        <p:nvSpPr>
          <p:cNvPr id="11" name="Text 9"/>
          <p:cNvSpPr/>
          <p:nvPr/>
        </p:nvSpPr>
        <p:spPr>
          <a:xfrm>
            <a:off x="1117727" y="3845322"/>
            <a:ext cx="4787646"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FBFAF6"/>
                </a:solidFill>
                <a:latin typeface="Rubik" pitchFamily="34" charset="0"/>
                <a:ea typeface="Rubik" pitchFamily="34" charset="-122"/>
                <a:cs typeface="Rubik" pitchFamily="34" charset="-120"/>
              </a:rPr>
              <a:t>Unit</a:t>
            </a:r>
            <a:endParaRPr lang="en-US" sz="1600" dirty="0"/>
          </a:p>
        </p:txBody>
      </p:sp>
      <p:sp>
        <p:nvSpPr>
          <p:cNvPr id="12" name="Text 10"/>
          <p:cNvSpPr/>
          <p:nvPr/>
        </p:nvSpPr>
        <p:spPr>
          <a:xfrm>
            <a:off x="1117727" y="4129782"/>
            <a:ext cx="4787646"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BFAF6"/>
                </a:solidFill>
                <a:latin typeface="Rubik" pitchFamily="34" charset="0"/>
                <a:ea typeface="Rubik" pitchFamily="34" charset="-122"/>
                <a:cs typeface="Rubik" pitchFamily="34" charset="-120"/>
              </a:rPr>
              <a:t>Many · one function · milliseconds</a:t>
            </a:r>
            <a:endParaRPr lang="en-US" sz="1200" dirty="0"/>
          </a:p>
        </p:txBody>
      </p:sp>
      <p:sp>
        <p:nvSpPr>
          <p:cNvPr id="13" name="Shape 11"/>
          <p:cNvSpPr/>
          <p:nvPr/>
        </p:nvSpPr>
        <p:spPr>
          <a:xfrm>
            <a:off x="6515100" y="2026741"/>
            <a:ext cx="4864100" cy="2377281"/>
          </a:xfrm>
          <a:prstGeom prst="roundRect">
            <a:avLst>
              <a:gd name="adj" fmla="val 4274"/>
            </a:avLst>
          </a:prstGeom>
          <a:solidFill>
            <a:srgbClr val="FFF3E6"/>
          </a:solidFill>
          <a:ln/>
        </p:spPr>
      </p:sp>
      <p:sp>
        <p:nvSpPr>
          <p:cNvPr id="14" name="Shape 12"/>
          <p:cNvSpPr/>
          <p:nvPr/>
        </p:nvSpPr>
        <p:spPr>
          <a:xfrm>
            <a:off x="6515100" y="2026741"/>
            <a:ext cx="4864100" cy="2377281"/>
          </a:xfrm>
          <a:custGeom>
            <a:avLst/>
            <a:gdLst/>
            <a:ahLst/>
            <a:cxnLst/>
            <a:rect l="l" t="t" r="r" b="b"/>
            <a:pathLst>
              <a:path w="4864100" h="2377281">
                <a:moveTo>
                  <a:pt x="101600" y="2377281"/>
                </a:moveTo>
                <a:lnTo>
                  <a:pt x="101600" y="2377281"/>
                </a:lnTo>
                <a:arcTo hR="101600" wR="101600" stAng="5400000" swAng="5400000"/>
                <a:lnTo>
                  <a:pt x="0" y="101600"/>
                </a:lnTo>
                <a:arcTo hR="101600" wR="101600" stAng="10800000" swAng="5400000"/>
                <a:lnTo>
                  <a:pt x="101600" y="0"/>
                </a:lnTo>
                <a:arcTo hR="101600" wR="63500" stAng="16200000" swAng="-5400000"/>
                <a:lnTo>
                  <a:pt x="38100" y="2275681"/>
                </a:lnTo>
                <a:arcTo hR="101600" wR="63500" stAng="10800000" swAng="-5400000"/>
                <a:close/>
              </a:path>
            </a:pathLst>
          </a:custGeom>
          <a:solidFill>
            <a:srgbClr val="A84A14"/>
          </a:solidFill>
          <a:ln/>
        </p:spPr>
      </p:sp>
      <p:sp>
        <p:nvSpPr>
          <p:cNvPr id="15" name="Text 13"/>
          <p:cNvSpPr/>
          <p:nvPr/>
        </p:nvSpPr>
        <p:spPr>
          <a:xfrm>
            <a:off x="6807200" y="2280741"/>
            <a:ext cx="444754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A84A14"/>
                </a:solidFill>
                <a:latin typeface="Rubik" pitchFamily="34" charset="0"/>
                <a:ea typeface="Rubik" pitchFamily="34" charset="-122"/>
                <a:cs typeface="Rubik" pitchFamily="34" charset="-120"/>
              </a:rPr>
              <a:t>Like building a car</a:t>
            </a:r>
            <a:endParaRPr lang="en-US" sz="1600" dirty="0"/>
          </a:p>
        </p:txBody>
      </p:sp>
      <p:sp>
        <p:nvSpPr>
          <p:cNvPr id="16" name="Text 14"/>
          <p:cNvSpPr/>
          <p:nvPr/>
        </p:nvSpPr>
        <p:spPr>
          <a:xfrm>
            <a:off x="6807200" y="2626122"/>
            <a:ext cx="4447540"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Test the spark plug on the bench, check the engine fits the gearbox, then take one test drive.</a:t>
            </a:r>
            <a:endParaRPr lang="en-US" sz="1600" dirty="0"/>
          </a:p>
        </p:txBody>
      </p:sp>
      <p:sp>
        <p:nvSpPr>
          <p:cNvPr id="17" name="Text 15"/>
          <p:cNvSpPr/>
          <p:nvPr/>
        </p:nvSpPr>
        <p:spPr>
          <a:xfrm>
            <a:off x="6807200" y="3581102"/>
            <a:ext cx="444754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You don’t find a bad spark plug by driving round the block a hundred times.</a:t>
            </a:r>
            <a:endParaRPr lang="en-US" sz="16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85"/>
                </a:solidFill>
                <a:latin typeface="Rubik" pitchFamily="34" charset="0"/>
                <a:ea typeface="Rubik" pitchFamily="34" charset="-122"/>
                <a:cs typeface="Rubik" pitchFamily="34" charset="-120"/>
              </a:rPr>
              <a:t>Functional Programming with TDD · Part One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A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A14"/>
                </a:solidFill>
                <a:latin typeface="Rubik" pitchFamily="34" charset="0"/>
                <a:ea typeface="Rubik" pitchFamily="34" charset="-122"/>
                <a:cs typeface="Rubik" pitchFamily="34" charset="-120"/>
              </a:rPr>
              <a:t>SECTION 3 · TESTING</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Test doubles: stunt doubles for code</a:t>
            </a:r>
            <a:endParaRPr lang="en-US" sz="3600" dirty="0"/>
          </a:p>
        </p:txBody>
      </p:sp>
      <p:sp>
        <p:nvSpPr>
          <p:cNvPr id="4" name="Shape 2"/>
          <p:cNvSpPr/>
          <p:nvPr/>
        </p:nvSpPr>
        <p:spPr>
          <a:xfrm>
            <a:off x="815975" y="1887736"/>
            <a:ext cx="3414117" cy="1301651"/>
          </a:xfrm>
          <a:prstGeom prst="roundRect">
            <a:avLst>
              <a:gd name="adj" fmla="val 7562"/>
            </a:avLst>
          </a:prstGeom>
          <a:solidFill>
            <a:srgbClr val="FFFEFB"/>
          </a:solidFill>
          <a:ln w="6350">
            <a:solidFill>
              <a:srgbClr val="E2DED5"/>
            </a:solidFill>
            <a:prstDash val="solid"/>
          </a:ln>
        </p:spPr>
      </p:sp>
      <p:sp>
        <p:nvSpPr>
          <p:cNvPr id="5" name="Text 3"/>
          <p:cNvSpPr/>
          <p:nvPr/>
        </p:nvSpPr>
        <p:spPr>
          <a:xfrm>
            <a:off x="1073150" y="2094111"/>
            <a:ext cx="298676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Stub</a:t>
            </a:r>
            <a:endParaRPr lang="en-US" sz="1600" dirty="0"/>
          </a:p>
        </p:txBody>
      </p:sp>
      <p:sp>
        <p:nvSpPr>
          <p:cNvPr id="6" name="Text 4"/>
          <p:cNvSpPr/>
          <p:nvPr/>
        </p:nvSpPr>
        <p:spPr>
          <a:xfrm>
            <a:off x="1073150" y="2414091"/>
            <a:ext cx="298676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Gives a fixed answer: “it’s always 9am”.</a:t>
            </a:r>
            <a:endParaRPr lang="en-US" sz="1600" dirty="0"/>
          </a:p>
        </p:txBody>
      </p:sp>
      <p:sp>
        <p:nvSpPr>
          <p:cNvPr id="7" name="Shape 5"/>
          <p:cNvSpPr/>
          <p:nvPr/>
        </p:nvSpPr>
        <p:spPr>
          <a:xfrm>
            <a:off x="4388842" y="1887736"/>
            <a:ext cx="3414216" cy="1301651"/>
          </a:xfrm>
          <a:prstGeom prst="roundRect">
            <a:avLst>
              <a:gd name="adj" fmla="val 7562"/>
            </a:avLst>
          </a:prstGeom>
          <a:solidFill>
            <a:srgbClr val="FFFEFB"/>
          </a:solidFill>
          <a:ln w="6350">
            <a:solidFill>
              <a:srgbClr val="E2DED5"/>
            </a:solidFill>
            <a:prstDash val="solid"/>
          </a:ln>
        </p:spPr>
      </p:sp>
      <p:sp>
        <p:nvSpPr>
          <p:cNvPr id="8" name="Text 6"/>
          <p:cNvSpPr/>
          <p:nvPr/>
        </p:nvSpPr>
        <p:spPr>
          <a:xfrm>
            <a:off x="4646017" y="2094111"/>
            <a:ext cx="298686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Fake</a:t>
            </a:r>
            <a:endParaRPr lang="en-US" sz="1600" dirty="0"/>
          </a:p>
        </p:txBody>
      </p:sp>
      <p:sp>
        <p:nvSpPr>
          <p:cNvPr id="9" name="Text 7"/>
          <p:cNvSpPr/>
          <p:nvPr/>
        </p:nvSpPr>
        <p:spPr>
          <a:xfrm>
            <a:off x="4646017" y="2414091"/>
            <a:ext cx="298686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A simple stand-in, like a list playing a database.</a:t>
            </a:r>
            <a:endParaRPr lang="en-US" sz="1600" dirty="0"/>
          </a:p>
        </p:txBody>
      </p:sp>
      <p:sp>
        <p:nvSpPr>
          <p:cNvPr id="10" name="Shape 8"/>
          <p:cNvSpPr/>
          <p:nvPr/>
        </p:nvSpPr>
        <p:spPr>
          <a:xfrm>
            <a:off x="7961809" y="1887736"/>
            <a:ext cx="3414216" cy="1301651"/>
          </a:xfrm>
          <a:prstGeom prst="roundRect">
            <a:avLst>
              <a:gd name="adj" fmla="val 7562"/>
            </a:avLst>
          </a:prstGeom>
          <a:solidFill>
            <a:srgbClr val="FFFEFB"/>
          </a:solidFill>
          <a:ln w="6350">
            <a:solidFill>
              <a:srgbClr val="E2DED5"/>
            </a:solidFill>
            <a:prstDash val="solid"/>
          </a:ln>
        </p:spPr>
      </p:sp>
      <p:sp>
        <p:nvSpPr>
          <p:cNvPr id="11" name="Text 9"/>
          <p:cNvSpPr/>
          <p:nvPr/>
        </p:nvSpPr>
        <p:spPr>
          <a:xfrm>
            <a:off x="8218984" y="2094111"/>
            <a:ext cx="298686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Mock</a:t>
            </a:r>
            <a:endParaRPr lang="en-US" sz="1600" dirty="0"/>
          </a:p>
        </p:txBody>
      </p:sp>
      <p:sp>
        <p:nvSpPr>
          <p:cNvPr id="12" name="Text 10"/>
          <p:cNvSpPr/>
          <p:nvPr/>
        </p:nvSpPr>
        <p:spPr>
          <a:xfrm>
            <a:off x="8218984" y="2414091"/>
            <a:ext cx="298686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Records its use: “was send_email called once?”</a:t>
            </a:r>
            <a:endParaRPr lang="en-US" sz="1600" dirty="0"/>
          </a:p>
        </p:txBody>
      </p:sp>
      <p:sp>
        <p:nvSpPr>
          <p:cNvPr id="13" name="Shape 11"/>
          <p:cNvSpPr/>
          <p:nvPr/>
        </p:nvSpPr>
        <p:spPr>
          <a:xfrm>
            <a:off x="812800" y="3446562"/>
            <a:ext cx="10566400" cy="1447701"/>
          </a:xfrm>
          <a:prstGeom prst="roundRect">
            <a:avLst>
              <a:gd name="adj" fmla="val 7018"/>
            </a:avLst>
          </a:prstGeom>
          <a:solidFill>
            <a:srgbClr val="14213D"/>
          </a:solidFill>
          <a:ln/>
        </p:spPr>
      </p:sp>
      <p:sp>
        <p:nvSpPr>
          <p:cNvPr id="14" name="Text 12"/>
          <p:cNvSpPr/>
          <p:nvPr/>
        </p:nvSpPr>
        <p:spPr>
          <a:xfrm>
            <a:off x="1117600" y="3700562"/>
            <a:ext cx="1025550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A65A"/>
                </a:solidFill>
                <a:latin typeface="Rubik" pitchFamily="34" charset="0"/>
                <a:ea typeface="Rubik" pitchFamily="34" charset="-122"/>
                <a:cs typeface="Rubik" pitchFamily="34" charset="-120"/>
              </a:rPr>
              <a:t>A “Good morning” function</a:t>
            </a:r>
            <a:endParaRPr lang="en-US" sz="1600" dirty="0"/>
          </a:p>
        </p:txBody>
      </p:sp>
      <p:sp>
        <p:nvSpPr>
          <p:cNvPr id="15" name="Text 13"/>
          <p:cNvSpPr/>
          <p:nvPr/>
        </p:nvSpPr>
        <p:spPr>
          <a:xfrm>
            <a:off x="1117600" y="4071342"/>
            <a:ext cx="4970780"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9EDF3"/>
                </a:solidFill>
                <a:latin typeface="Rubik" pitchFamily="34" charset="0"/>
                <a:ea typeface="Rubik" pitchFamily="34" charset="-122"/>
                <a:cs typeface="Rubik" pitchFamily="34" charset="-120"/>
              </a:rPr>
              <a:t>Checks the clock itself:</a:t>
            </a:r>
            <a:r>
              <a:rPr lang="en-US" sz="1600" dirty="0">
                <a:solidFill>
                  <a:srgbClr val="E9EDF3"/>
                </a:solidFill>
                <a:latin typeface="Rubik" pitchFamily="34" charset="0"/>
                <a:ea typeface="Rubik" pitchFamily="34" charset="-122"/>
                <a:cs typeface="Rubik" pitchFamily="34" charset="-120"/>
              </a:rPr>
              <a:t> testing the morning case needs a fake clock.</a:t>
            </a:r>
            <a:endParaRPr lang="en-US" sz="1600" dirty="0"/>
          </a:p>
        </p:txBody>
      </p:sp>
      <p:sp>
        <p:nvSpPr>
          <p:cNvPr id="16" name="Text 14"/>
          <p:cNvSpPr/>
          <p:nvPr/>
        </p:nvSpPr>
        <p:spPr>
          <a:xfrm>
            <a:off x="6248400" y="4071342"/>
            <a:ext cx="4970780"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9EDF3"/>
                </a:solidFill>
                <a:latin typeface="Rubik" pitchFamily="34" charset="0"/>
                <a:ea typeface="Rubik" pitchFamily="34" charset="-122"/>
                <a:cs typeface="Rubik" pitchFamily="34" charset="-120"/>
              </a:rPr>
              <a:t>Hour passed in:</a:t>
            </a:r>
            <a:r>
              <a:rPr lang="en-US" sz="1600" dirty="0">
                <a:solidFill>
                  <a:srgbClr val="E9EDF3"/>
                </a:solidFill>
                <a:latin typeface="Rubik" pitchFamily="34" charset="0"/>
                <a:ea typeface="Rubik" pitchFamily="34" charset="-122"/>
                <a:cs typeface="Rubik" pitchFamily="34" charset="-120"/>
              </a:rPr>
              <a:t> call it with 9 and check the answer. No double needed.</a:t>
            </a:r>
            <a:endParaRPr lang="en-US" sz="16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85"/>
                </a:solidFill>
                <a:latin typeface="Rubik" pitchFamily="34" charset="0"/>
                <a:ea typeface="Rubik" pitchFamily="34" charset="-122"/>
                <a:cs typeface="Rubik" pitchFamily="34" charset="-120"/>
              </a:rPr>
              <a:t>Functional Programming with TDD · Part One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A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A14"/>
                </a:solidFill>
                <a:latin typeface="Rubik" pitchFamily="34" charset="0"/>
                <a:ea typeface="Rubik" pitchFamily="34" charset="-122"/>
                <a:cs typeface="Rubik" pitchFamily="34" charset="-120"/>
              </a:rPr>
              <a:t>SECTION 3 · THE COMMON DESIGN</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Functional core, imperative shell</a:t>
            </a:r>
            <a:endParaRPr lang="en-US" sz="3600" dirty="0"/>
          </a:p>
        </p:txBody>
      </p:sp>
      <p:sp>
        <p:nvSpPr>
          <p:cNvPr id="4" name="Text 2"/>
          <p:cNvSpPr/>
          <p:nvPr/>
        </p:nvSpPr>
        <p:spPr>
          <a:xfrm>
            <a:off x="819150" y="2022971"/>
            <a:ext cx="1653480" cy="632420"/>
          </a:xfrm>
          <a:prstGeom prst="roundRect">
            <a:avLst>
              <a:gd name="adj" fmla="val 15061"/>
            </a:avLst>
          </a:prstGeom>
          <a:solidFill>
            <a:srgbClr val="EEF1F5"/>
          </a:solidFill>
          <a:ln w="12700">
            <a:solidFill>
              <a:srgbClr val="8A96A8"/>
            </a:solidFill>
            <a:prstDash val="dash"/>
          </a:ln>
        </p:spPr>
        <p:txBody>
          <a:bodyPr wrap="square" lIns="80052" tIns="156252" rIns="80052" bIns="130852" rtlCol="0" anchor="t">
            <a:normAutofit/>
          </a:bodyPr>
          <a:lstStyle/>
          <a:p>
            <a:pPr algn="ctr" indent="0" marL="0">
              <a:lnSpc>
                <a:spcPts val="2080"/>
              </a:lnSpc>
              <a:buNone/>
            </a:pPr>
            <a:r>
              <a:rPr lang="en-US" sz="1600" dirty="0">
                <a:solidFill>
                  <a:srgbClr val="14213D"/>
                </a:solidFill>
                <a:latin typeface="Rubik" pitchFamily="34" charset="0"/>
                <a:ea typeface="Rubik" pitchFamily="34" charset="-122"/>
                <a:cs typeface="Rubik" pitchFamily="34" charset="-120"/>
              </a:rPr>
              <a:t>Outside world</a:t>
            </a:r>
            <a:endParaRPr lang="en-US" sz="1600" dirty="0"/>
          </a:p>
        </p:txBody>
      </p:sp>
      <p:pic>
        <p:nvPicPr>
          <p:cNvPr id="5" name="Image 0" descr="arrow-right">    </p:cNvPr>
          <p:cNvPicPr>
            <a:picLocks noChangeAspect="1"/>
          </p:cNvPicPr>
          <p:nvPr/>
        </p:nvPicPr>
        <p:blipFill>
          <a:blip r:embed="rId1"/>
          <a:srcRect l="0" r="0" t="0" b="0"/>
          <a:stretch/>
        </p:blipFill>
        <p:spPr>
          <a:xfrm>
            <a:off x="2580580" y="2250281"/>
            <a:ext cx="355600" cy="177800"/>
          </a:xfrm>
          <a:prstGeom prst="rect">
            <a:avLst/>
          </a:prstGeom>
        </p:spPr>
      </p:pic>
      <p:sp>
        <p:nvSpPr>
          <p:cNvPr id="6" name="Shape 3"/>
          <p:cNvSpPr/>
          <p:nvPr/>
        </p:nvSpPr>
        <p:spPr>
          <a:xfrm>
            <a:off x="3044130" y="1916311"/>
            <a:ext cx="1653580" cy="845741"/>
          </a:xfrm>
          <a:prstGeom prst="roundRect">
            <a:avLst>
              <a:gd name="adj" fmla="val 11262"/>
            </a:avLst>
          </a:prstGeom>
          <a:solidFill>
            <a:srgbClr val="FFFEFB"/>
          </a:solidFill>
          <a:ln w="12700">
            <a:solidFill>
              <a:srgbClr val="3E5C86"/>
            </a:solidFill>
            <a:prstDash val="solid"/>
          </a:ln>
        </p:spPr>
      </p:sp>
      <p:sp>
        <p:nvSpPr>
          <p:cNvPr id="7" name="Text 4"/>
          <p:cNvSpPr/>
          <p:nvPr/>
        </p:nvSpPr>
        <p:spPr>
          <a:xfrm>
            <a:off x="3152080" y="2100461"/>
            <a:ext cx="143768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E5C86"/>
                </a:solidFill>
                <a:latin typeface="Rubik" pitchFamily="34" charset="0"/>
                <a:ea typeface="Rubik" pitchFamily="34" charset="-122"/>
                <a:cs typeface="Rubik" pitchFamily="34" charset="-120"/>
              </a:rPr>
              <a:t>Shell</a:t>
            </a:r>
            <a:endParaRPr lang="en-US" sz="1200" dirty="0"/>
          </a:p>
        </p:txBody>
      </p:sp>
      <p:sp>
        <p:nvSpPr>
          <p:cNvPr id="8" name="Text 5"/>
          <p:cNvSpPr/>
          <p:nvPr/>
        </p:nvSpPr>
        <p:spPr>
          <a:xfrm>
            <a:off x="3152080" y="2313781"/>
            <a:ext cx="1437680" cy="289520"/>
          </a:xfrm>
          <a:prstGeom prst="rect">
            <a:avLst/>
          </a:prstGeom>
          <a:noFill/>
          <a:ln/>
        </p:spPr>
        <p:txBody>
          <a:bodyPr wrap="square" lIns="0" tIns="0" rIns="0" bIns="0" rtlCol="0" anchor="t">
            <a:normAutofit/>
          </a:bodyPr>
          <a:lstStyle/>
          <a:p>
            <a:pPr algn="ctr" indent="0" marL="0">
              <a:lnSpc>
                <a:spcPts val="2080"/>
              </a:lnSpc>
              <a:buNone/>
            </a:pPr>
            <a:r>
              <a:rPr lang="en-US" sz="1600" dirty="0">
                <a:solidFill>
                  <a:srgbClr val="14213D"/>
                </a:solidFill>
                <a:latin typeface="Rubik" pitchFamily="34" charset="0"/>
                <a:ea typeface="Rubik" pitchFamily="34" charset="-122"/>
                <a:cs typeface="Rubik" pitchFamily="34" charset="-120"/>
              </a:rPr>
              <a:t>Fetch</a:t>
            </a:r>
            <a:endParaRPr lang="en-US" sz="1600" dirty="0"/>
          </a:p>
        </p:txBody>
      </p:sp>
      <p:pic>
        <p:nvPicPr>
          <p:cNvPr id="9" name="Image 1" descr="arrow-right">    </p:cNvPr>
          <p:cNvPicPr>
            <a:picLocks noChangeAspect="1"/>
          </p:cNvPicPr>
          <p:nvPr/>
        </p:nvPicPr>
        <p:blipFill>
          <a:blip r:embed="rId2"/>
          <a:srcRect l="0" r="0" t="0" b="0"/>
          <a:stretch/>
        </p:blipFill>
        <p:spPr>
          <a:xfrm>
            <a:off x="4805660" y="2250281"/>
            <a:ext cx="355600" cy="177800"/>
          </a:xfrm>
          <a:prstGeom prst="rect">
            <a:avLst/>
          </a:prstGeom>
        </p:spPr>
      </p:pic>
      <p:sp>
        <p:nvSpPr>
          <p:cNvPr id="10" name="Shape 6"/>
          <p:cNvSpPr/>
          <p:nvPr/>
        </p:nvSpPr>
        <p:spPr>
          <a:xfrm>
            <a:off x="5269210" y="1916311"/>
            <a:ext cx="1653480" cy="845741"/>
          </a:xfrm>
          <a:prstGeom prst="roundRect">
            <a:avLst>
              <a:gd name="adj" fmla="val 11262"/>
            </a:avLst>
          </a:prstGeom>
          <a:solidFill>
            <a:srgbClr val="A84A14"/>
          </a:solidFill>
          <a:ln w="12700">
            <a:solidFill>
              <a:srgbClr val="A84A14"/>
            </a:solidFill>
            <a:prstDash val="solid"/>
          </a:ln>
        </p:spPr>
      </p:sp>
      <p:sp>
        <p:nvSpPr>
          <p:cNvPr id="11" name="Text 7"/>
          <p:cNvSpPr/>
          <p:nvPr/>
        </p:nvSpPr>
        <p:spPr>
          <a:xfrm>
            <a:off x="5377160" y="2100461"/>
            <a:ext cx="143758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BFAF6"/>
                </a:solidFill>
                <a:latin typeface="Rubik" pitchFamily="34" charset="0"/>
                <a:ea typeface="Rubik" pitchFamily="34" charset="-122"/>
                <a:cs typeface="Rubik" pitchFamily="34" charset="-120"/>
              </a:rPr>
              <a:t>Core · pure</a:t>
            </a:r>
            <a:endParaRPr lang="en-US" sz="1200" dirty="0"/>
          </a:p>
        </p:txBody>
      </p:sp>
      <p:sp>
        <p:nvSpPr>
          <p:cNvPr id="12" name="Text 8"/>
          <p:cNvSpPr/>
          <p:nvPr/>
        </p:nvSpPr>
        <p:spPr>
          <a:xfrm>
            <a:off x="5377160" y="2313781"/>
            <a:ext cx="1437580" cy="289520"/>
          </a:xfrm>
          <a:prstGeom prst="rect">
            <a:avLst/>
          </a:prstGeom>
          <a:noFill/>
          <a:ln/>
        </p:spPr>
        <p:txBody>
          <a:bodyPr wrap="square" lIns="0" tIns="0" rIns="0" bIns="0" rtlCol="0" anchor="t">
            <a:normAutofit/>
          </a:bodyPr>
          <a:lstStyle/>
          <a:p>
            <a:pPr algn="ctr" indent="0" marL="0">
              <a:lnSpc>
                <a:spcPts val="2080"/>
              </a:lnSpc>
              <a:buNone/>
            </a:pPr>
            <a:r>
              <a:rPr lang="en-US" sz="1600" b="1" dirty="0">
                <a:solidFill>
                  <a:srgbClr val="FBFAF6"/>
                </a:solidFill>
                <a:latin typeface="Rubik" pitchFamily="34" charset="0"/>
                <a:ea typeface="Rubik" pitchFamily="34" charset="-122"/>
                <a:cs typeface="Rubik" pitchFamily="34" charset="-120"/>
              </a:rPr>
              <a:t>Decide</a:t>
            </a:r>
            <a:endParaRPr lang="en-US" sz="1600" dirty="0"/>
          </a:p>
        </p:txBody>
      </p:sp>
      <p:pic>
        <p:nvPicPr>
          <p:cNvPr id="13" name="Image 2" descr="arrow-right">    </p:cNvPr>
          <p:cNvPicPr>
            <a:picLocks noChangeAspect="1"/>
          </p:cNvPicPr>
          <p:nvPr/>
        </p:nvPicPr>
        <p:blipFill>
          <a:blip r:embed="rId3"/>
          <a:srcRect l="0" r="0" t="0" b="0"/>
          <a:stretch/>
        </p:blipFill>
        <p:spPr>
          <a:xfrm>
            <a:off x="7030641" y="2250281"/>
            <a:ext cx="355600" cy="177800"/>
          </a:xfrm>
          <a:prstGeom prst="rect">
            <a:avLst/>
          </a:prstGeom>
        </p:spPr>
      </p:pic>
      <p:sp>
        <p:nvSpPr>
          <p:cNvPr id="14" name="Shape 9"/>
          <p:cNvSpPr/>
          <p:nvPr/>
        </p:nvSpPr>
        <p:spPr>
          <a:xfrm>
            <a:off x="7494191" y="1916311"/>
            <a:ext cx="1653580" cy="845741"/>
          </a:xfrm>
          <a:prstGeom prst="roundRect">
            <a:avLst>
              <a:gd name="adj" fmla="val 11262"/>
            </a:avLst>
          </a:prstGeom>
          <a:solidFill>
            <a:srgbClr val="FFFEFB"/>
          </a:solidFill>
          <a:ln w="12700">
            <a:solidFill>
              <a:srgbClr val="3E5C86"/>
            </a:solidFill>
            <a:prstDash val="solid"/>
          </a:ln>
        </p:spPr>
      </p:sp>
      <p:sp>
        <p:nvSpPr>
          <p:cNvPr id="15" name="Text 10"/>
          <p:cNvSpPr/>
          <p:nvPr/>
        </p:nvSpPr>
        <p:spPr>
          <a:xfrm>
            <a:off x="7602141" y="2100461"/>
            <a:ext cx="143768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E5C86"/>
                </a:solidFill>
                <a:latin typeface="Rubik" pitchFamily="34" charset="0"/>
                <a:ea typeface="Rubik" pitchFamily="34" charset="-122"/>
                <a:cs typeface="Rubik" pitchFamily="34" charset="-120"/>
              </a:rPr>
              <a:t>Shell</a:t>
            </a:r>
            <a:endParaRPr lang="en-US" sz="1200" dirty="0"/>
          </a:p>
        </p:txBody>
      </p:sp>
      <p:sp>
        <p:nvSpPr>
          <p:cNvPr id="16" name="Text 11"/>
          <p:cNvSpPr/>
          <p:nvPr/>
        </p:nvSpPr>
        <p:spPr>
          <a:xfrm>
            <a:off x="7602141" y="2313781"/>
            <a:ext cx="1437680" cy="289520"/>
          </a:xfrm>
          <a:prstGeom prst="rect">
            <a:avLst/>
          </a:prstGeom>
          <a:noFill/>
          <a:ln/>
        </p:spPr>
        <p:txBody>
          <a:bodyPr wrap="square" lIns="0" tIns="0" rIns="0" bIns="0" rtlCol="0" anchor="t">
            <a:normAutofit/>
          </a:bodyPr>
          <a:lstStyle/>
          <a:p>
            <a:pPr algn="ctr" indent="0" marL="0">
              <a:lnSpc>
                <a:spcPts val="2080"/>
              </a:lnSpc>
              <a:buNone/>
            </a:pPr>
            <a:r>
              <a:rPr lang="en-US" sz="1600" dirty="0">
                <a:solidFill>
                  <a:srgbClr val="14213D"/>
                </a:solidFill>
                <a:latin typeface="Rubik" pitchFamily="34" charset="0"/>
                <a:ea typeface="Rubik" pitchFamily="34" charset="-122"/>
                <a:cs typeface="Rubik" pitchFamily="34" charset="-120"/>
              </a:rPr>
              <a:t>Save or show</a:t>
            </a:r>
            <a:endParaRPr lang="en-US" sz="1600" dirty="0"/>
          </a:p>
        </p:txBody>
      </p:sp>
      <p:pic>
        <p:nvPicPr>
          <p:cNvPr id="17" name="Image 3" descr="arrow-right">    </p:cNvPr>
          <p:cNvPicPr>
            <a:picLocks noChangeAspect="1"/>
          </p:cNvPicPr>
          <p:nvPr/>
        </p:nvPicPr>
        <p:blipFill>
          <a:blip r:embed="rId4"/>
          <a:srcRect l="0" r="0" t="0" b="0"/>
          <a:stretch/>
        </p:blipFill>
        <p:spPr>
          <a:xfrm>
            <a:off x="9255720" y="2250281"/>
            <a:ext cx="355600" cy="177800"/>
          </a:xfrm>
          <a:prstGeom prst="rect">
            <a:avLst/>
          </a:prstGeom>
        </p:spPr>
      </p:pic>
      <p:sp>
        <p:nvSpPr>
          <p:cNvPr id="18" name="Text 12"/>
          <p:cNvSpPr/>
          <p:nvPr/>
        </p:nvSpPr>
        <p:spPr>
          <a:xfrm>
            <a:off x="9719270" y="2022971"/>
            <a:ext cx="1653580" cy="632420"/>
          </a:xfrm>
          <a:prstGeom prst="roundRect">
            <a:avLst>
              <a:gd name="adj" fmla="val 15061"/>
            </a:avLst>
          </a:prstGeom>
          <a:solidFill>
            <a:srgbClr val="EEF1F5"/>
          </a:solidFill>
          <a:ln w="12700">
            <a:solidFill>
              <a:srgbClr val="8A96A8"/>
            </a:solidFill>
            <a:prstDash val="dash"/>
          </a:ln>
        </p:spPr>
        <p:txBody>
          <a:bodyPr wrap="square" lIns="80052" tIns="156252" rIns="80052" bIns="130852" rtlCol="0" anchor="t">
            <a:normAutofit/>
          </a:bodyPr>
          <a:lstStyle/>
          <a:p>
            <a:pPr algn="ctr" indent="0" marL="0">
              <a:lnSpc>
                <a:spcPts val="2080"/>
              </a:lnSpc>
              <a:buNone/>
            </a:pPr>
            <a:r>
              <a:rPr lang="en-US" sz="1600" dirty="0">
                <a:solidFill>
                  <a:srgbClr val="14213D"/>
                </a:solidFill>
                <a:latin typeface="Rubik" pitchFamily="34" charset="0"/>
                <a:ea typeface="Rubik" pitchFamily="34" charset="-122"/>
                <a:cs typeface="Rubik" pitchFamily="34" charset="-120"/>
              </a:rPr>
              <a:t>Outside world</a:t>
            </a:r>
            <a:endParaRPr lang="en-US" sz="1600" dirty="0"/>
          </a:p>
        </p:txBody>
      </p:sp>
      <p:sp>
        <p:nvSpPr>
          <p:cNvPr id="19" name="Shape 13"/>
          <p:cNvSpPr/>
          <p:nvPr/>
        </p:nvSpPr>
        <p:spPr>
          <a:xfrm>
            <a:off x="815975" y="3050977"/>
            <a:ext cx="5175250" cy="1301651"/>
          </a:xfrm>
          <a:prstGeom prst="roundRect">
            <a:avLst>
              <a:gd name="adj" fmla="val 7562"/>
            </a:avLst>
          </a:prstGeom>
          <a:solidFill>
            <a:srgbClr val="FFFEFB"/>
          </a:solidFill>
          <a:ln w="6350">
            <a:solidFill>
              <a:srgbClr val="E2DED5"/>
            </a:solidFill>
            <a:prstDash val="solid"/>
          </a:ln>
        </p:spPr>
      </p:sp>
      <p:sp>
        <p:nvSpPr>
          <p:cNvPr id="20" name="Text 14"/>
          <p:cNvSpPr/>
          <p:nvPr/>
        </p:nvSpPr>
        <p:spPr>
          <a:xfrm>
            <a:off x="1073150" y="3257352"/>
            <a:ext cx="480072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A84A14"/>
                </a:solidFill>
                <a:latin typeface="Rubik" pitchFamily="34" charset="0"/>
                <a:ea typeface="Rubik" pitchFamily="34" charset="-122"/>
                <a:cs typeface="Rubik" pitchFamily="34" charset="-120"/>
              </a:rPr>
              <a:t>The core</a:t>
            </a:r>
            <a:endParaRPr lang="en-US" sz="1600" dirty="0"/>
          </a:p>
        </p:txBody>
      </p:sp>
      <p:sp>
        <p:nvSpPr>
          <p:cNvPr id="21" name="Text 15"/>
          <p:cNvSpPr/>
          <p:nvPr/>
        </p:nvSpPr>
        <p:spPr>
          <a:xfrm>
            <a:off x="1073150" y="3577332"/>
            <a:ext cx="4800727"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Pure rules: prices, scores, validation. Lots of fast unit tests.</a:t>
            </a:r>
            <a:endParaRPr lang="en-US" sz="1600" dirty="0"/>
          </a:p>
        </p:txBody>
      </p:sp>
      <p:sp>
        <p:nvSpPr>
          <p:cNvPr id="22" name="Shape 16"/>
          <p:cNvSpPr/>
          <p:nvPr/>
        </p:nvSpPr>
        <p:spPr>
          <a:xfrm>
            <a:off x="6200775" y="3050977"/>
            <a:ext cx="5175250" cy="1301651"/>
          </a:xfrm>
          <a:prstGeom prst="roundRect">
            <a:avLst>
              <a:gd name="adj" fmla="val 7562"/>
            </a:avLst>
          </a:prstGeom>
          <a:solidFill>
            <a:srgbClr val="FFFEFB"/>
          </a:solidFill>
          <a:ln w="6350">
            <a:solidFill>
              <a:srgbClr val="E2DED5"/>
            </a:solidFill>
            <a:prstDash val="solid"/>
          </a:ln>
        </p:spPr>
      </p:sp>
      <p:sp>
        <p:nvSpPr>
          <p:cNvPr id="23" name="Text 17"/>
          <p:cNvSpPr/>
          <p:nvPr/>
        </p:nvSpPr>
        <p:spPr>
          <a:xfrm>
            <a:off x="6457950" y="3257352"/>
            <a:ext cx="480072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3E5C86"/>
                </a:solidFill>
                <a:latin typeface="Rubik" pitchFamily="34" charset="0"/>
                <a:ea typeface="Rubik" pitchFamily="34" charset="-122"/>
                <a:cs typeface="Rubik" pitchFamily="34" charset="-120"/>
              </a:rPr>
              <a:t>The shell</a:t>
            </a:r>
            <a:endParaRPr lang="en-US" sz="1600" dirty="0"/>
          </a:p>
        </p:txBody>
      </p:sp>
      <p:sp>
        <p:nvSpPr>
          <p:cNvPr id="24" name="Text 18"/>
          <p:cNvSpPr/>
          <p:nvPr/>
        </p:nvSpPr>
        <p:spPr>
          <a:xfrm>
            <a:off x="6457950" y="3577332"/>
            <a:ext cx="4800727"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Thin code for the database, network and screen. A few integration tests.</a:t>
            </a:r>
            <a:endParaRPr lang="en-US" sz="1600" dirty="0"/>
          </a:p>
        </p:txBody>
      </p:sp>
      <p:sp>
        <p:nvSpPr>
          <p:cNvPr id="25" name="Text 19"/>
          <p:cNvSpPr/>
          <p:nvPr/>
        </p:nvSpPr>
        <p:spPr>
          <a:xfrm>
            <a:off x="812800" y="4635202"/>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Like a restaurant: the kitchen follows recipes; front of house takes orders and serves plates.</a:t>
            </a:r>
            <a:endParaRPr lang="en-US" sz="1600" dirty="0"/>
          </a:p>
        </p:txBody>
      </p:sp>
      <p:sp>
        <p:nvSpPr>
          <p:cNvPr id="26" name="Text 2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85"/>
                </a:solidFill>
                <a:latin typeface="Rubik" pitchFamily="34" charset="0"/>
                <a:ea typeface="Rubik" pitchFamily="34" charset="-122"/>
                <a:cs typeface="Rubik" pitchFamily="34" charset="-120"/>
              </a:rPr>
              <a:t>Functional Programming with TDD · Part One</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A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A14"/>
                </a:solidFill>
                <a:latin typeface="Rubik" pitchFamily="34" charset="0"/>
                <a:ea typeface="Rubik" pitchFamily="34" charset="-122"/>
                <a:cs typeface="Rubik" pitchFamily="34" charset="-120"/>
              </a:rPr>
              <a:t>SECTION 4 · WORKED EXAMPLE: BOWLING KATA</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Scoring a game of bowling</a:t>
            </a:r>
            <a:endParaRPr lang="en-US" sz="3600" dirty="0"/>
          </a:p>
        </p:txBody>
      </p:sp>
      <p:sp>
        <p:nvSpPr>
          <p:cNvPr id="4" name="Shape 2"/>
          <p:cNvSpPr/>
          <p:nvPr/>
        </p:nvSpPr>
        <p:spPr>
          <a:xfrm>
            <a:off x="815975" y="1938536"/>
            <a:ext cx="2520950" cy="1586111"/>
          </a:xfrm>
          <a:prstGeom prst="roundRect">
            <a:avLst>
              <a:gd name="adj" fmla="val 6205"/>
            </a:avLst>
          </a:prstGeom>
          <a:solidFill>
            <a:srgbClr val="FFFEFB"/>
          </a:solidFill>
          <a:ln w="6350">
            <a:solidFill>
              <a:srgbClr val="E2DED5"/>
            </a:solidFill>
            <a:prstDash val="solid"/>
          </a:ln>
        </p:spPr>
      </p:sp>
      <p:sp>
        <p:nvSpPr>
          <p:cNvPr id="5" name="Text 3"/>
          <p:cNvSpPr/>
          <p:nvPr/>
        </p:nvSpPr>
        <p:spPr>
          <a:xfrm>
            <a:off x="1022350" y="2144911"/>
            <a:ext cx="217144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Open frame</a:t>
            </a:r>
            <a:endParaRPr lang="en-US" sz="1600" dirty="0"/>
          </a:p>
        </p:txBody>
      </p:sp>
      <p:sp>
        <p:nvSpPr>
          <p:cNvPr id="6" name="Text 4"/>
          <p:cNvSpPr/>
          <p:nvPr/>
        </p:nvSpPr>
        <p:spPr>
          <a:xfrm>
            <a:off x="1022350" y="2464891"/>
            <a:ext cx="2171446"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Under 10 pins in two rolls. Score the pins.</a:t>
            </a:r>
            <a:endParaRPr lang="en-US" sz="1600" dirty="0"/>
          </a:p>
        </p:txBody>
      </p:sp>
      <p:sp>
        <p:nvSpPr>
          <p:cNvPr id="7" name="Shape 5"/>
          <p:cNvSpPr/>
          <p:nvPr/>
        </p:nvSpPr>
        <p:spPr>
          <a:xfrm>
            <a:off x="3495675" y="1938536"/>
            <a:ext cx="2520950" cy="1586111"/>
          </a:xfrm>
          <a:prstGeom prst="roundRect">
            <a:avLst>
              <a:gd name="adj" fmla="val 6205"/>
            </a:avLst>
          </a:prstGeom>
          <a:solidFill>
            <a:srgbClr val="FFFEFB"/>
          </a:solidFill>
          <a:ln w="6350">
            <a:solidFill>
              <a:srgbClr val="E2DED5"/>
            </a:solidFill>
            <a:prstDash val="solid"/>
          </a:ln>
        </p:spPr>
      </p:sp>
      <p:sp>
        <p:nvSpPr>
          <p:cNvPr id="8" name="Text 6"/>
          <p:cNvSpPr/>
          <p:nvPr/>
        </p:nvSpPr>
        <p:spPr>
          <a:xfrm>
            <a:off x="3702050" y="2144911"/>
            <a:ext cx="217144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Spare</a:t>
            </a:r>
            <a:endParaRPr lang="en-US" sz="1600" dirty="0"/>
          </a:p>
        </p:txBody>
      </p:sp>
      <p:sp>
        <p:nvSpPr>
          <p:cNvPr id="9" name="Text 7"/>
          <p:cNvSpPr/>
          <p:nvPr/>
        </p:nvSpPr>
        <p:spPr>
          <a:xfrm>
            <a:off x="3702050" y="2464891"/>
            <a:ext cx="2171446"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All 10 in two rolls. 10 + the next roll.</a:t>
            </a:r>
            <a:endParaRPr lang="en-US" sz="1600" dirty="0"/>
          </a:p>
        </p:txBody>
      </p:sp>
      <p:sp>
        <p:nvSpPr>
          <p:cNvPr id="10" name="Shape 8"/>
          <p:cNvSpPr/>
          <p:nvPr/>
        </p:nvSpPr>
        <p:spPr>
          <a:xfrm>
            <a:off x="6175375" y="1938536"/>
            <a:ext cx="2520950" cy="1586111"/>
          </a:xfrm>
          <a:prstGeom prst="roundRect">
            <a:avLst>
              <a:gd name="adj" fmla="val 6205"/>
            </a:avLst>
          </a:prstGeom>
          <a:solidFill>
            <a:srgbClr val="FFFEFB"/>
          </a:solidFill>
          <a:ln w="6350">
            <a:solidFill>
              <a:srgbClr val="E2DED5"/>
            </a:solidFill>
            <a:prstDash val="solid"/>
          </a:ln>
        </p:spPr>
      </p:sp>
      <p:sp>
        <p:nvSpPr>
          <p:cNvPr id="11" name="Text 9"/>
          <p:cNvSpPr/>
          <p:nvPr/>
        </p:nvSpPr>
        <p:spPr>
          <a:xfrm>
            <a:off x="6381750" y="2144911"/>
            <a:ext cx="217144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Strike</a:t>
            </a:r>
            <a:endParaRPr lang="en-US" sz="1600" dirty="0"/>
          </a:p>
        </p:txBody>
      </p:sp>
      <p:sp>
        <p:nvSpPr>
          <p:cNvPr id="12" name="Text 10"/>
          <p:cNvSpPr/>
          <p:nvPr/>
        </p:nvSpPr>
        <p:spPr>
          <a:xfrm>
            <a:off x="6381750" y="2464891"/>
            <a:ext cx="2171446"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All 10 with the first roll. 10 + the next two rolls.</a:t>
            </a:r>
            <a:endParaRPr lang="en-US" sz="1600" dirty="0"/>
          </a:p>
        </p:txBody>
      </p:sp>
      <p:sp>
        <p:nvSpPr>
          <p:cNvPr id="13" name="Shape 11"/>
          <p:cNvSpPr/>
          <p:nvPr/>
        </p:nvSpPr>
        <p:spPr>
          <a:xfrm>
            <a:off x="8855075" y="1938536"/>
            <a:ext cx="2520950" cy="1586111"/>
          </a:xfrm>
          <a:prstGeom prst="roundRect">
            <a:avLst>
              <a:gd name="adj" fmla="val 6205"/>
            </a:avLst>
          </a:prstGeom>
          <a:solidFill>
            <a:srgbClr val="FFFEFB"/>
          </a:solidFill>
          <a:ln w="6350">
            <a:solidFill>
              <a:srgbClr val="E2DED5"/>
            </a:solidFill>
            <a:prstDash val="solid"/>
          </a:ln>
        </p:spPr>
      </p:sp>
      <p:sp>
        <p:nvSpPr>
          <p:cNvPr id="14" name="Text 12"/>
          <p:cNvSpPr/>
          <p:nvPr/>
        </p:nvSpPr>
        <p:spPr>
          <a:xfrm>
            <a:off x="9061450" y="2144911"/>
            <a:ext cx="217144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Tenth frame</a:t>
            </a:r>
            <a:endParaRPr lang="en-US" sz="1600" dirty="0"/>
          </a:p>
        </p:txBody>
      </p:sp>
      <p:sp>
        <p:nvSpPr>
          <p:cNvPr id="15" name="Text 13"/>
          <p:cNvSpPr/>
          <p:nvPr/>
        </p:nvSpPr>
        <p:spPr>
          <a:xfrm>
            <a:off x="9061450" y="2464891"/>
            <a:ext cx="2171446"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A spare earns one bonus roll; a strike earns two.</a:t>
            </a:r>
            <a:endParaRPr lang="en-US" sz="1600" dirty="0"/>
          </a:p>
        </p:txBody>
      </p:sp>
      <p:sp>
        <p:nvSpPr>
          <p:cNvPr id="16" name="Text 14"/>
          <p:cNvSpPr/>
          <p:nvPr/>
        </p:nvSpPr>
        <p:spPr>
          <a:xfrm>
            <a:off x="812800" y="3832622"/>
            <a:ext cx="1811179"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A84A14"/>
                </a:solidFill>
                <a:latin typeface="Rubik" pitchFamily="34" charset="0"/>
                <a:ea typeface="Rubik" pitchFamily="34" charset="-122"/>
                <a:cs typeface="Rubik" pitchFamily="34" charset="-120"/>
              </a:rPr>
              <a:t>300</a:t>
            </a:r>
            <a:endParaRPr lang="en-US" sz="6000" dirty="0"/>
          </a:p>
        </p:txBody>
      </p:sp>
      <p:sp>
        <p:nvSpPr>
          <p:cNvPr id="17" name="Text 15"/>
          <p:cNvSpPr/>
          <p:nvPr/>
        </p:nvSpPr>
        <p:spPr>
          <a:xfrm>
            <a:off x="2626916" y="3929162"/>
            <a:ext cx="9014853"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A perfect game: twelve strikes in a row. Your code needs just two things: </a:t>
            </a:r>
            <a:r>
              <a:rPr lang="en-US" sz="1600" b="1" dirty="0">
                <a:solidFill>
                  <a:srgbClr val="3D4A5C"/>
                </a:solidFill>
                <a:latin typeface="Rubik" pitchFamily="34" charset="0"/>
                <a:ea typeface="Rubik" pitchFamily="34" charset="-122"/>
                <a:cs typeface="Rubik" pitchFamily="34" charset="-120"/>
              </a:rPr>
              <a:t>roll(pins)</a:t>
            </a:r>
            <a:r>
              <a:rPr lang="en-US" sz="1600" dirty="0">
                <a:solidFill>
                  <a:srgbClr val="3D4A5C"/>
                </a:solidFill>
                <a:latin typeface="Rubik" pitchFamily="34" charset="0"/>
                <a:ea typeface="Rubik" pitchFamily="34" charset="-122"/>
                <a:cs typeface="Rubik" pitchFamily="34" charset="-120"/>
              </a:rPr>
              <a:t> and </a:t>
            </a:r>
            <a:r>
              <a:rPr lang="en-US" sz="1600" b="1" dirty="0">
                <a:solidFill>
                  <a:srgbClr val="3D4A5C"/>
                </a:solidFill>
                <a:latin typeface="Rubik" pitchFamily="34" charset="0"/>
                <a:ea typeface="Rubik" pitchFamily="34" charset="-122"/>
                <a:cs typeface="Rubik" pitchFamily="34" charset="-120"/>
              </a:rPr>
              <a:t>score()</a:t>
            </a:r>
            <a:r>
              <a:rPr lang="en-US" sz="1600" dirty="0">
                <a:solidFill>
                  <a:srgbClr val="3D4A5C"/>
                </a:solidFill>
                <a:latin typeface="Rubik" pitchFamily="34" charset="0"/>
                <a:ea typeface="Rubik" pitchFamily="34" charset="-122"/>
                <a:cs typeface="Rubik" pitchFamily="34" charset="-120"/>
              </a:rPr>
              <a:t>.</a:t>
            </a:r>
            <a:endParaRPr lang="en-US" sz="16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85"/>
                </a:solidFill>
                <a:latin typeface="Rubik" pitchFamily="34" charset="0"/>
                <a:ea typeface="Rubik" pitchFamily="34" charset="-122"/>
                <a:cs typeface="Rubik" pitchFamily="34" charset="-120"/>
              </a:rPr>
              <a:t>Functional Programming with TDD · Part One</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EF1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A14"/>
                </a:solidFill>
                <a:latin typeface="Rubik" pitchFamily="34" charset="0"/>
                <a:ea typeface="Rubik" pitchFamily="34" charset="-122"/>
                <a:cs typeface="Rubik" pitchFamily="34" charset="-120"/>
              </a:rPr>
              <a:t>ACTIVITY · GROUPS OF 3 · 20 MINUTES</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The bug hunt</a:t>
            </a:r>
            <a:endParaRPr lang="en-US" sz="3600" dirty="0"/>
          </a:p>
        </p:txBody>
      </p:sp>
      <p:sp>
        <p:nvSpPr>
          <p:cNvPr id="4" name="Shape 2"/>
          <p:cNvSpPr/>
          <p:nvPr/>
        </p:nvSpPr>
        <p:spPr>
          <a:xfrm>
            <a:off x="815975" y="1938536"/>
            <a:ext cx="2520950" cy="2337891"/>
          </a:xfrm>
          <a:prstGeom prst="roundRect">
            <a:avLst>
              <a:gd name="adj" fmla="val 4210"/>
            </a:avLst>
          </a:prstGeom>
          <a:solidFill>
            <a:srgbClr val="FFFEFB"/>
          </a:solidFill>
          <a:ln w="6350">
            <a:solidFill>
              <a:srgbClr val="D5DBE3"/>
            </a:solidFill>
            <a:prstDash val="solid"/>
          </a:ln>
        </p:spPr>
      </p:sp>
      <p:sp>
        <p:nvSpPr>
          <p:cNvPr id="5" name="Text 3"/>
          <p:cNvSpPr/>
          <p:nvPr/>
        </p:nvSpPr>
        <p:spPr>
          <a:xfrm>
            <a:off x="1022350" y="2144911"/>
            <a:ext cx="2171446"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A84A14"/>
                </a:solidFill>
                <a:latin typeface="Rubik" pitchFamily="34" charset="0"/>
                <a:ea typeface="Rubik" pitchFamily="34" charset="-122"/>
                <a:cs typeface="Rubik" pitchFamily="34" charset="-120"/>
              </a:rPr>
              <a:t>1</a:t>
            </a:r>
            <a:endParaRPr lang="en-US" sz="2200" dirty="0"/>
          </a:p>
        </p:txBody>
      </p:sp>
      <p:sp>
        <p:nvSpPr>
          <p:cNvPr id="6" name="Text 4"/>
          <p:cNvSpPr/>
          <p:nvPr/>
        </p:nvSpPr>
        <p:spPr>
          <a:xfrm>
            <a:off x="1022350" y="2612231"/>
            <a:ext cx="217144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Observe</a:t>
            </a:r>
            <a:endParaRPr lang="en-US" sz="1600" dirty="0"/>
          </a:p>
        </p:txBody>
      </p:sp>
      <p:sp>
        <p:nvSpPr>
          <p:cNvPr id="7" name="Text 5"/>
          <p:cNvSpPr/>
          <p:nvPr/>
        </p:nvSpPr>
        <p:spPr>
          <a:xfrm>
            <a:off x="1022350" y="2932212"/>
            <a:ext cx="2171446"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Facts only. Which tests fail? What changes when one runs alone?</a:t>
            </a:r>
            <a:endParaRPr lang="en-US" sz="1600" dirty="0"/>
          </a:p>
        </p:txBody>
      </p:sp>
      <p:sp>
        <p:nvSpPr>
          <p:cNvPr id="8" name="Shape 6"/>
          <p:cNvSpPr/>
          <p:nvPr/>
        </p:nvSpPr>
        <p:spPr>
          <a:xfrm>
            <a:off x="3495675" y="1938536"/>
            <a:ext cx="2520950" cy="2337891"/>
          </a:xfrm>
          <a:prstGeom prst="roundRect">
            <a:avLst>
              <a:gd name="adj" fmla="val 4210"/>
            </a:avLst>
          </a:prstGeom>
          <a:solidFill>
            <a:srgbClr val="FFFEFB"/>
          </a:solidFill>
          <a:ln w="6350">
            <a:solidFill>
              <a:srgbClr val="D5DBE3"/>
            </a:solidFill>
            <a:prstDash val="solid"/>
          </a:ln>
        </p:spPr>
      </p:sp>
      <p:sp>
        <p:nvSpPr>
          <p:cNvPr id="9" name="Text 7"/>
          <p:cNvSpPr/>
          <p:nvPr/>
        </p:nvSpPr>
        <p:spPr>
          <a:xfrm>
            <a:off x="3702050" y="2144911"/>
            <a:ext cx="2171446"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A84A14"/>
                </a:solidFill>
                <a:latin typeface="Rubik" pitchFamily="34" charset="0"/>
                <a:ea typeface="Rubik" pitchFamily="34" charset="-122"/>
                <a:cs typeface="Rubik" pitchFamily="34" charset="-120"/>
              </a:rPr>
              <a:t>2</a:t>
            </a:r>
            <a:endParaRPr lang="en-US" sz="2200" dirty="0"/>
          </a:p>
        </p:txBody>
      </p:sp>
      <p:sp>
        <p:nvSpPr>
          <p:cNvPr id="10" name="Text 8"/>
          <p:cNvSpPr/>
          <p:nvPr/>
        </p:nvSpPr>
        <p:spPr>
          <a:xfrm>
            <a:off x="3702050" y="2612231"/>
            <a:ext cx="217144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Hypothesise</a:t>
            </a:r>
            <a:endParaRPr lang="en-US" sz="1600" dirty="0"/>
          </a:p>
        </p:txBody>
      </p:sp>
      <p:sp>
        <p:nvSpPr>
          <p:cNvPr id="11" name="Text 9"/>
          <p:cNvSpPr/>
          <p:nvPr/>
        </p:nvSpPr>
        <p:spPr>
          <a:xfrm>
            <a:off x="3702050" y="2932212"/>
            <a:ext cx="2171446"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One sentence you could prove wrong: “I think ___ because ___.”</a:t>
            </a:r>
            <a:endParaRPr lang="en-US" sz="1600" dirty="0"/>
          </a:p>
        </p:txBody>
      </p:sp>
      <p:sp>
        <p:nvSpPr>
          <p:cNvPr id="12" name="Shape 10"/>
          <p:cNvSpPr/>
          <p:nvPr/>
        </p:nvSpPr>
        <p:spPr>
          <a:xfrm>
            <a:off x="6175375" y="1938536"/>
            <a:ext cx="2520950" cy="2337891"/>
          </a:xfrm>
          <a:prstGeom prst="roundRect">
            <a:avLst>
              <a:gd name="adj" fmla="val 4210"/>
            </a:avLst>
          </a:prstGeom>
          <a:solidFill>
            <a:srgbClr val="FFFEFB"/>
          </a:solidFill>
          <a:ln w="6350">
            <a:solidFill>
              <a:srgbClr val="D5DBE3"/>
            </a:solidFill>
            <a:prstDash val="solid"/>
          </a:ln>
        </p:spPr>
      </p:sp>
      <p:sp>
        <p:nvSpPr>
          <p:cNvPr id="13" name="Text 11"/>
          <p:cNvSpPr/>
          <p:nvPr/>
        </p:nvSpPr>
        <p:spPr>
          <a:xfrm>
            <a:off x="6381750" y="2144911"/>
            <a:ext cx="2171446"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A84A14"/>
                </a:solidFill>
                <a:latin typeface="Rubik" pitchFamily="34" charset="0"/>
                <a:ea typeface="Rubik" pitchFamily="34" charset="-122"/>
                <a:cs typeface="Rubik" pitchFamily="34" charset="-120"/>
              </a:rPr>
              <a:t>3</a:t>
            </a:r>
            <a:endParaRPr lang="en-US" sz="2200" dirty="0"/>
          </a:p>
        </p:txBody>
      </p:sp>
      <p:sp>
        <p:nvSpPr>
          <p:cNvPr id="14" name="Text 12"/>
          <p:cNvSpPr/>
          <p:nvPr/>
        </p:nvSpPr>
        <p:spPr>
          <a:xfrm>
            <a:off x="6381750" y="2612231"/>
            <a:ext cx="217144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Test</a:t>
            </a:r>
            <a:endParaRPr lang="en-US" sz="1600" dirty="0"/>
          </a:p>
        </p:txBody>
      </p:sp>
      <p:sp>
        <p:nvSpPr>
          <p:cNvPr id="15" name="Text 13"/>
          <p:cNvSpPr/>
          <p:nvPr/>
        </p:nvSpPr>
        <p:spPr>
          <a:xfrm>
            <a:off x="6381750" y="2932212"/>
            <a:ext cx="2171446"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Run the cheapest experiment that could prove you wrong.</a:t>
            </a:r>
            <a:endParaRPr lang="en-US" sz="1600" dirty="0"/>
          </a:p>
        </p:txBody>
      </p:sp>
      <p:sp>
        <p:nvSpPr>
          <p:cNvPr id="16" name="Shape 14"/>
          <p:cNvSpPr/>
          <p:nvPr/>
        </p:nvSpPr>
        <p:spPr>
          <a:xfrm>
            <a:off x="8855075" y="1938536"/>
            <a:ext cx="2520950" cy="2337891"/>
          </a:xfrm>
          <a:prstGeom prst="roundRect">
            <a:avLst>
              <a:gd name="adj" fmla="val 4210"/>
            </a:avLst>
          </a:prstGeom>
          <a:solidFill>
            <a:srgbClr val="FFFEFB"/>
          </a:solidFill>
          <a:ln w="6350">
            <a:solidFill>
              <a:srgbClr val="D5DBE3"/>
            </a:solidFill>
            <a:prstDash val="solid"/>
          </a:ln>
        </p:spPr>
      </p:sp>
      <p:sp>
        <p:nvSpPr>
          <p:cNvPr id="17" name="Text 15"/>
          <p:cNvSpPr/>
          <p:nvPr/>
        </p:nvSpPr>
        <p:spPr>
          <a:xfrm>
            <a:off x="9061450" y="2144911"/>
            <a:ext cx="2171446"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A84A14"/>
                </a:solidFill>
                <a:latin typeface="Rubik" pitchFamily="34" charset="0"/>
                <a:ea typeface="Rubik" pitchFamily="34" charset="-122"/>
                <a:cs typeface="Rubik" pitchFamily="34" charset="-120"/>
              </a:rPr>
              <a:t>4</a:t>
            </a:r>
            <a:endParaRPr lang="en-US" sz="2200" dirty="0"/>
          </a:p>
        </p:txBody>
      </p:sp>
      <p:sp>
        <p:nvSpPr>
          <p:cNvPr id="18" name="Text 16"/>
          <p:cNvSpPr/>
          <p:nvPr/>
        </p:nvSpPr>
        <p:spPr>
          <a:xfrm>
            <a:off x="9061450" y="2612231"/>
            <a:ext cx="217144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Confirm</a:t>
            </a:r>
            <a:endParaRPr lang="en-US" sz="1600" dirty="0"/>
          </a:p>
        </p:txBody>
      </p:sp>
      <p:sp>
        <p:nvSpPr>
          <p:cNvPr id="19" name="Text 17"/>
          <p:cNvSpPr/>
          <p:nvPr/>
        </p:nvSpPr>
        <p:spPr>
          <a:xfrm>
            <a:off x="9061450" y="2932212"/>
            <a:ext cx="2171446"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Supported? Fix it. Rejected? Back to Observe.</a:t>
            </a:r>
            <a:endParaRPr lang="en-US" sz="1600" dirty="0"/>
          </a:p>
        </p:txBody>
      </p:sp>
      <p:sp>
        <p:nvSpPr>
          <p:cNvPr id="20" name="Text 18"/>
          <p:cNvSpPr/>
          <p:nvPr/>
        </p:nvSpPr>
        <p:spPr>
          <a:xfrm>
            <a:off x="812800" y="4584402"/>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D4A5C"/>
                </a:solidFill>
                <a:latin typeface="Rubik" pitchFamily="34" charset="0"/>
                <a:ea typeface="Rubik" pitchFamily="34" charset="-122"/>
                <a:cs typeface="Rubik" pitchFamily="34" charset="-120"/>
              </a:rPr>
              <a:t>Ground rule:</a:t>
            </a:r>
            <a:r>
              <a:rPr lang="en-US" sz="1600" dirty="0">
                <a:solidFill>
                  <a:srgbClr val="3D4A5C"/>
                </a:solidFill>
                <a:latin typeface="Rubik" pitchFamily="34" charset="0"/>
                <a:ea typeface="Rubik" pitchFamily="34" charset="-122"/>
                <a:cs typeface="Rubik" pitchFamily="34" charset="-120"/>
              </a:rPr>
              <a:t> don’t edit Game until you’ve written a hypothesis in bug-hunt-notes.md. Aim for at least two.</a:t>
            </a:r>
            <a:endParaRPr lang="en-US" sz="1600" dirty="0"/>
          </a:p>
        </p:txBody>
      </p:sp>
      <p:sp>
        <p:nvSpPr>
          <p:cNvPr id="21" name="Text 1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85"/>
                </a:solidFill>
                <a:latin typeface="Rubik" pitchFamily="34" charset="0"/>
                <a:ea typeface="Rubik" pitchFamily="34" charset="-122"/>
                <a:cs typeface="Rubik" pitchFamily="34" charset="-120"/>
              </a:rPr>
              <a:t>Functional Programming with TDD · Part One</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A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A14"/>
                </a:solidFill>
                <a:latin typeface="Rubik" pitchFamily="34" charset="0"/>
                <a:ea typeface="Rubik" pitchFamily="34" charset="-122"/>
                <a:cs typeface="Rubik" pitchFamily="34" charset="-120"/>
              </a:rPr>
              <a:t>SECTION 5 · MOB PROGRAMMING</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One keyboard, the whole team</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8061"/>
          <a:ext cx="10553700" cy="2041426"/>
        </p:xfrm>
        <a:graphic>
          <a:graphicData uri="http://schemas.openxmlformats.org/drawingml/2006/table">
            <a:tbl>
              <a:tblPr/>
              <a:tblGrid>
                <a:gridCol w="2110740"/>
                <a:gridCol w="5065776"/>
                <a:gridCol w="3377184"/>
              </a:tblGrid>
              <a:tr h="439241">
                <a:tc>
                  <a:txBody>
                    <a:bodyPr/>
                    <a:lstStyle/>
                    <a:p>
                      <a:pPr indent="0" marL="0">
                        <a:lnSpc>
                          <a:spcPts val="2240"/>
                        </a:lnSpc>
                        <a:buNone/>
                      </a:pPr>
                      <a:r>
                        <a:rPr lang="en-US" sz="1600" b="1" dirty="0">
                          <a:solidFill>
                            <a:srgbClr val="3D4A5C"/>
                          </a:solidFill>
                          <a:latin typeface="Rubik" pitchFamily="34" charset="0"/>
                          <a:ea typeface="Rubik" pitchFamily="34" charset="-122"/>
                          <a:cs typeface="Rubik" pitchFamily="34" charset="-120"/>
                        </a:rPr>
                        <a:t>Role</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BAB9B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AB9B6"/>
                      </a:solidFill>
                      <a:prstDash val="solid"/>
                      <a:round/>
                      <a:headEnd type="none" w="med" len="med"/>
                      <a:tailEnd type="none" w="med" len="med"/>
                    </a:lnB>
                    <a:solidFill>
                      <a:srgbClr val="E9E8E4"/>
                    </a:solidFill>
                  </a:tcPr>
                </a:tc>
                <a:tc>
                  <a:txBody>
                    <a:bodyPr/>
                    <a:lstStyle/>
                    <a:p>
                      <a:pPr indent="0" marL="0">
                        <a:lnSpc>
                          <a:spcPts val="2240"/>
                        </a:lnSpc>
                        <a:buNone/>
                      </a:pPr>
                      <a:r>
                        <a:rPr lang="en-US" sz="1600" b="1" dirty="0">
                          <a:solidFill>
                            <a:srgbClr val="3D4A5C"/>
                          </a:solidFill>
                          <a:latin typeface="Rubik" pitchFamily="34" charset="0"/>
                          <a:ea typeface="Rubik" pitchFamily="34" charset="-122"/>
                          <a:cs typeface="Rubik" pitchFamily="34" charset="-120"/>
                        </a:rPr>
                        <a:t>Does</a:t>
                      </a:r>
                      <a:endParaRPr lang="en-US" sz="1600" dirty="0">
                        <a:latin typeface="Rubik" charset="0"/>
                        <a:ea typeface="Rubik" charset="0"/>
                        <a:cs typeface="Rubik" charset="0"/>
                      </a:endParaRPr>
                    </a:p>
                  </a:txBody>
                  <a:tcPr marL="71120" marR="71120" marT="71120" marB="71120" anchor="t">
                    <a:lnL w="12700" cap="flat" cmpd="sng" algn="ctr">
                      <a:solidFill>
                        <a:srgbClr val="BAB9B6"/>
                      </a:solidFill>
                      <a:prstDash val="solid"/>
                      <a:round/>
                      <a:headEnd type="none" w="med" len="med"/>
                      <a:tailEnd type="none" w="med" len="med"/>
                    </a:lnL>
                    <a:lnR w="12700" cap="flat" cmpd="sng" algn="ctr">
                      <a:solidFill>
                        <a:srgbClr val="BAB9B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AB9B6"/>
                      </a:solidFill>
                      <a:prstDash val="solid"/>
                      <a:round/>
                      <a:headEnd type="none" w="med" len="med"/>
                      <a:tailEnd type="none" w="med" len="med"/>
                    </a:lnB>
                    <a:solidFill>
                      <a:srgbClr val="E9E8E4"/>
                    </a:solidFill>
                  </a:tcPr>
                </a:tc>
                <a:tc>
                  <a:txBody>
                    <a:bodyPr/>
                    <a:lstStyle/>
                    <a:p>
                      <a:pPr indent="0" marL="0">
                        <a:lnSpc>
                          <a:spcPts val="2240"/>
                        </a:lnSpc>
                        <a:buNone/>
                      </a:pPr>
                      <a:r>
                        <a:rPr lang="en-US" sz="1600" b="1" dirty="0">
                          <a:solidFill>
                            <a:srgbClr val="3D4A5C"/>
                          </a:solidFill>
                          <a:latin typeface="Rubik" pitchFamily="34" charset="0"/>
                          <a:ea typeface="Rubik" pitchFamily="34" charset="-122"/>
                          <a:cs typeface="Rubik" pitchFamily="34" charset="-120"/>
                        </a:rPr>
                        <a:t>Doesn’t</a:t>
                      </a:r>
                      <a:endParaRPr lang="en-US" sz="1600" dirty="0">
                        <a:latin typeface="Rubik" charset="0"/>
                        <a:ea typeface="Rubik" charset="0"/>
                        <a:cs typeface="Rubik" charset="0"/>
                      </a:endParaRPr>
                    </a:p>
                  </a:txBody>
                  <a:tcPr marL="71120" marR="71120" marT="71120" marB="71120" anchor="t">
                    <a:lnL w="12700" cap="flat" cmpd="sng" algn="ctr">
                      <a:solidFill>
                        <a:srgbClr val="BAB9B6"/>
                      </a:solidFill>
                      <a:prstDash val="solid"/>
                      <a:round/>
                      <a:headEnd type="none" w="med" len="med"/>
                      <a:tailEnd type="none" w="med" len="med"/>
                    </a:lnL>
                    <a:lnR w="12700" cap="flat" cmpd="sng" algn="ctr">
                      <a:solidFill>
                        <a:srgbClr val="BAB9B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AB9B6"/>
                      </a:solidFill>
                      <a:prstDash val="solid"/>
                      <a:round/>
                      <a:headEnd type="none" w="med" len="med"/>
                      <a:tailEnd type="none" w="med" len="med"/>
                    </a:lnB>
                    <a:solidFill>
                      <a:srgbClr val="E9E8E4"/>
                    </a:solidFill>
                  </a:tcPr>
                </a:tc>
              </a:tr>
              <a:tr h="439241">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Driver</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Types exactly what the navigator says</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Decide the design</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439241">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Navigator</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Says what to do, in plain words</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Grab the keyboard</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723702">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Mob</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Suggests ideas to the navigator, spots typos, keeps time</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2240"/>
                        </a:lnSpc>
                        <a:buNone/>
                      </a:pPr>
                      <a:r>
                        <a:rPr lang="en-US" sz="1600" dirty="0">
                          <a:solidFill>
                            <a:srgbClr val="3D4A5C"/>
                          </a:solidFill>
                          <a:latin typeface="Rubik" pitchFamily="34" charset="0"/>
                          <a:ea typeface="Rubik" pitchFamily="34" charset="-122"/>
                          <a:cs typeface="Rubik" pitchFamily="34" charset="-120"/>
                        </a:rPr>
                        <a:t>Shout over the navigator</a:t>
                      </a:r>
                      <a:endParaRPr lang="en-US" sz="1600" dirty="0">
                        <a:latin typeface="Rubik" charset="0"/>
                        <a:ea typeface="Rubik" charset="0"/>
                        <a:cs typeface="Rubik" charset="0"/>
                      </a:endParaRPr>
                    </a:p>
                  </a:txBody>
                  <a:tcPr marL="71120" marR="71120" marT="71120" marB="7112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bl>
          </a:graphicData>
        </a:graphic>
      </p:graphicFrame>
      <p:sp>
        <p:nvSpPr>
          <p:cNvPr id="5" name="Shape 2"/>
          <p:cNvSpPr/>
          <p:nvPr/>
        </p:nvSpPr>
        <p:spPr>
          <a:xfrm>
            <a:off x="812800" y="4294287"/>
            <a:ext cx="10566400" cy="711200"/>
          </a:xfrm>
          <a:prstGeom prst="roundRect">
            <a:avLst>
              <a:gd name="adj" fmla="val 14286"/>
            </a:avLst>
          </a:prstGeom>
          <a:solidFill>
            <a:srgbClr val="FFF3E6"/>
          </a:solidFill>
          <a:ln/>
        </p:spPr>
      </p:sp>
      <p:sp>
        <p:nvSpPr>
          <p:cNvPr id="6" name="Shape 3"/>
          <p:cNvSpPr/>
          <p:nvPr/>
        </p:nvSpPr>
        <p:spPr>
          <a:xfrm>
            <a:off x="812800" y="4294287"/>
            <a:ext cx="10566400" cy="711200"/>
          </a:xfrm>
          <a:custGeom>
            <a:avLst/>
            <a:gdLst/>
            <a:ahLst/>
            <a:cxnLst/>
            <a:rect l="l" t="t" r="r" b="b"/>
            <a:pathLst>
              <a:path w="10566400" h="711200">
                <a:moveTo>
                  <a:pt x="101600" y="711200"/>
                </a:moveTo>
                <a:lnTo>
                  <a:pt x="101600" y="711200"/>
                </a:lnTo>
                <a:arcTo hR="101600" wR="101600" stAng="5400000" swAng="5400000"/>
                <a:lnTo>
                  <a:pt x="0" y="101600"/>
                </a:lnTo>
                <a:arcTo hR="101600" wR="101600" stAng="10800000" swAng="5400000"/>
                <a:lnTo>
                  <a:pt x="101600" y="0"/>
                </a:lnTo>
                <a:arcTo hR="101600" wR="63500" stAng="16200000" swAng="-5400000"/>
                <a:lnTo>
                  <a:pt x="38100" y="609600"/>
                </a:lnTo>
                <a:arcTo hR="101600" wR="63500" stAng="10800000" swAng="-5400000"/>
                <a:close/>
              </a:path>
            </a:pathLst>
          </a:custGeom>
          <a:solidFill>
            <a:srgbClr val="A84A14"/>
          </a:solidFill>
          <a:ln/>
        </p:spPr>
      </p:sp>
      <p:pic>
        <p:nvPicPr>
          <p:cNvPr id="7" name="Image 0" descr="Clock">    </p:cNvPr>
          <p:cNvPicPr>
            <a:picLocks noChangeAspect="1"/>
          </p:cNvPicPr>
          <p:nvPr/>
        </p:nvPicPr>
        <p:blipFill>
          <a:blip r:embed="rId1"/>
          <a:srcRect l="0" r="0" t="0" b="0"/>
          <a:stretch/>
        </p:blipFill>
        <p:spPr>
          <a:xfrm>
            <a:off x="1104900" y="4472087"/>
            <a:ext cx="355600" cy="355600"/>
          </a:xfrm>
          <a:prstGeom prst="rect">
            <a:avLst/>
          </a:prstGeom>
        </p:spPr>
      </p:pic>
      <p:sp>
        <p:nvSpPr>
          <p:cNvPr id="8" name="Text 4"/>
          <p:cNvSpPr/>
          <p:nvPr/>
        </p:nvSpPr>
        <p:spPr>
          <a:xfrm>
            <a:off x="1612900" y="4507607"/>
            <a:ext cx="9797669"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Every 4 minutes: the driver joins the mob, the navigator drives, and the next person navigates.</a:t>
            </a:r>
            <a:endParaRPr lang="en-US" sz="1600" dirty="0"/>
          </a:p>
        </p:txBody>
      </p:sp>
      <p:sp>
        <p:nvSpPr>
          <p:cNvPr id="9"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85"/>
                </a:solidFill>
                <a:latin typeface="Rubik" pitchFamily="34" charset="0"/>
                <a:ea typeface="Rubik" pitchFamily="34" charset="-122"/>
                <a:cs typeface="Rubik" pitchFamily="34" charset="-120"/>
              </a:rPr>
              <a:t>Functional Programming with TDD · Part One</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EF1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A14"/>
                </a:solidFill>
                <a:latin typeface="Rubik" pitchFamily="34" charset="0"/>
                <a:ea typeface="Rubik" pitchFamily="34" charset="-122"/>
                <a:cs typeface="Rubik" pitchFamily="34" charset="-120"/>
              </a:rPr>
              <a:t>ACTIVITY · MOB · 24 MINUTES</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Agree three things before anyone types</a:t>
            </a:r>
            <a:endParaRPr lang="en-US" sz="3600" dirty="0"/>
          </a:p>
        </p:txBody>
      </p:sp>
      <p:sp>
        <p:nvSpPr>
          <p:cNvPr id="4" name="Shape 2"/>
          <p:cNvSpPr/>
          <p:nvPr/>
        </p:nvSpPr>
        <p:spPr>
          <a:xfrm>
            <a:off x="815975" y="1938536"/>
            <a:ext cx="3414117" cy="2155031"/>
          </a:xfrm>
          <a:prstGeom prst="roundRect">
            <a:avLst>
              <a:gd name="adj" fmla="val 4567"/>
            </a:avLst>
          </a:prstGeom>
          <a:solidFill>
            <a:srgbClr val="FFFEFB"/>
          </a:solidFill>
          <a:ln w="6350">
            <a:solidFill>
              <a:srgbClr val="D5DBE3"/>
            </a:solidFill>
            <a:prstDash val="solid"/>
          </a:ln>
        </p:spPr>
      </p:sp>
      <p:sp>
        <p:nvSpPr>
          <p:cNvPr id="5" name="Text 3"/>
          <p:cNvSpPr/>
          <p:nvPr/>
        </p:nvSpPr>
        <p:spPr>
          <a:xfrm>
            <a:off x="1073150" y="2195711"/>
            <a:ext cx="298676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A84A14"/>
                </a:solidFill>
                <a:latin typeface="Rubik" pitchFamily="34" charset="0"/>
                <a:ea typeface="Rubik" pitchFamily="34" charset="-122"/>
                <a:cs typeface="Rubik" pitchFamily="34" charset="-120"/>
              </a:rPr>
              <a:t>1</a:t>
            </a:r>
            <a:endParaRPr lang="en-US" sz="2200" dirty="0"/>
          </a:p>
        </p:txBody>
      </p:sp>
      <p:sp>
        <p:nvSpPr>
          <p:cNvPr id="6" name="Text 4"/>
          <p:cNvSpPr/>
          <p:nvPr/>
        </p:nvSpPr>
        <p:spPr>
          <a:xfrm>
            <a:off x="1073150" y="2663031"/>
            <a:ext cx="298676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Rolls are a tuple</a:t>
            </a:r>
            <a:endParaRPr lang="en-US" sz="1600" dirty="0"/>
          </a:p>
        </p:txBody>
      </p:sp>
      <p:sp>
        <p:nvSpPr>
          <p:cNvPr id="7" name="Text 5"/>
          <p:cNvSpPr/>
          <p:nvPr/>
        </p:nvSpPr>
        <p:spPr>
          <a:xfrm>
            <a:off x="1073150" y="2983012"/>
            <a:ext cx="298676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For example (10, 10, 10, …). It can’t change once created.</a:t>
            </a:r>
            <a:endParaRPr lang="en-US" sz="1600" dirty="0"/>
          </a:p>
        </p:txBody>
      </p:sp>
      <p:sp>
        <p:nvSpPr>
          <p:cNvPr id="8" name="Shape 6"/>
          <p:cNvSpPr/>
          <p:nvPr/>
        </p:nvSpPr>
        <p:spPr>
          <a:xfrm>
            <a:off x="4388842" y="1938536"/>
            <a:ext cx="3414216" cy="2155031"/>
          </a:xfrm>
          <a:prstGeom prst="roundRect">
            <a:avLst>
              <a:gd name="adj" fmla="val 4567"/>
            </a:avLst>
          </a:prstGeom>
          <a:solidFill>
            <a:srgbClr val="FFFEFB"/>
          </a:solidFill>
          <a:ln w="6350">
            <a:solidFill>
              <a:srgbClr val="D5DBE3"/>
            </a:solidFill>
            <a:prstDash val="solid"/>
          </a:ln>
        </p:spPr>
      </p:sp>
      <p:sp>
        <p:nvSpPr>
          <p:cNvPr id="9" name="Text 7"/>
          <p:cNvSpPr/>
          <p:nvPr/>
        </p:nvSpPr>
        <p:spPr>
          <a:xfrm>
            <a:off x="4646017" y="2195711"/>
            <a:ext cx="2986862"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A84A14"/>
                </a:solidFill>
                <a:latin typeface="Rubik" pitchFamily="34" charset="0"/>
                <a:ea typeface="Rubik" pitchFamily="34" charset="-122"/>
                <a:cs typeface="Rubik" pitchFamily="34" charset="-120"/>
              </a:rPr>
              <a:t>2</a:t>
            </a:r>
            <a:endParaRPr lang="en-US" sz="2200" dirty="0"/>
          </a:p>
        </p:txBody>
      </p:sp>
      <p:sp>
        <p:nvSpPr>
          <p:cNvPr id="10" name="Text 8"/>
          <p:cNvSpPr/>
          <p:nvPr/>
        </p:nvSpPr>
        <p:spPr>
          <a:xfrm>
            <a:off x="4646017" y="2663031"/>
            <a:ext cx="298686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score is pure</a:t>
            </a:r>
            <a:endParaRPr lang="en-US" sz="1600" dirty="0"/>
          </a:p>
        </p:txBody>
      </p:sp>
      <p:sp>
        <p:nvSpPr>
          <p:cNvPr id="11" name="Text 9"/>
          <p:cNvSpPr/>
          <p:nvPr/>
        </p:nvSpPr>
        <p:spPr>
          <a:xfrm>
            <a:off x="4646017" y="2983012"/>
            <a:ext cx="2986862"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Rolls in, number out. No Game object, no roll() that stores anything.</a:t>
            </a:r>
            <a:endParaRPr lang="en-US" sz="1600" dirty="0"/>
          </a:p>
        </p:txBody>
      </p:sp>
      <p:sp>
        <p:nvSpPr>
          <p:cNvPr id="12" name="Shape 10"/>
          <p:cNvSpPr/>
          <p:nvPr/>
        </p:nvSpPr>
        <p:spPr>
          <a:xfrm>
            <a:off x="7961809" y="1938536"/>
            <a:ext cx="3414216" cy="2155031"/>
          </a:xfrm>
          <a:prstGeom prst="roundRect">
            <a:avLst>
              <a:gd name="adj" fmla="val 4567"/>
            </a:avLst>
          </a:prstGeom>
          <a:solidFill>
            <a:srgbClr val="FFFEFB"/>
          </a:solidFill>
          <a:ln w="6350">
            <a:solidFill>
              <a:srgbClr val="D5DBE3"/>
            </a:solidFill>
            <a:prstDash val="solid"/>
          </a:ln>
        </p:spPr>
      </p:sp>
      <p:sp>
        <p:nvSpPr>
          <p:cNvPr id="13" name="Text 11"/>
          <p:cNvSpPr/>
          <p:nvPr/>
        </p:nvSpPr>
        <p:spPr>
          <a:xfrm>
            <a:off x="8218984" y="2195711"/>
            <a:ext cx="2986862"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A84A14"/>
                </a:solidFill>
                <a:latin typeface="Rubik" pitchFamily="34" charset="0"/>
                <a:ea typeface="Rubik" pitchFamily="34" charset="-122"/>
                <a:cs typeface="Rubik" pitchFamily="34" charset="-120"/>
              </a:rPr>
              <a:t>3</a:t>
            </a:r>
            <a:endParaRPr lang="en-US" sz="2200" dirty="0"/>
          </a:p>
        </p:txBody>
      </p:sp>
      <p:sp>
        <p:nvSpPr>
          <p:cNvPr id="14" name="Text 12"/>
          <p:cNvSpPr/>
          <p:nvPr/>
        </p:nvSpPr>
        <p:spPr>
          <a:xfrm>
            <a:off x="8218984" y="2663031"/>
            <a:ext cx="298686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Recursion walks frames</a:t>
            </a:r>
            <a:endParaRPr lang="en-US" sz="1600" dirty="0"/>
          </a:p>
        </p:txBody>
      </p:sp>
      <p:sp>
        <p:nvSpPr>
          <p:cNvPr id="15" name="Text 13"/>
          <p:cNvSpPr/>
          <p:nvPr/>
        </p:nvSpPr>
        <p:spPr>
          <a:xfrm>
            <a:off x="8218984" y="2983012"/>
            <a:ext cx="2986862"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Score one frame, then score the rest. Base case: no frames left.</a:t>
            </a:r>
            <a:endParaRPr lang="en-US" sz="1600" dirty="0"/>
          </a:p>
        </p:txBody>
      </p:sp>
      <p:sp>
        <p:nvSpPr>
          <p:cNvPr id="16" name="Text 14"/>
          <p:cNvSpPr/>
          <p:nvPr/>
        </p:nvSpPr>
        <p:spPr>
          <a:xfrm>
            <a:off x="812800" y="4401542"/>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Follow the TDD table in bowling_fp/. Smallest change to go green, every time, and commit at every green.</a:t>
            </a:r>
            <a:endParaRPr lang="en-US" sz="16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85"/>
                </a:solidFill>
                <a:latin typeface="Rubik" pitchFamily="34" charset="0"/>
                <a:ea typeface="Rubik" pitchFamily="34" charset="-122"/>
                <a:cs typeface="Rubik" pitchFamily="34" charset="-120"/>
              </a:rPr>
              <a:t>Functional Programming with TDD · Part One</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BFA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A14"/>
                </a:solidFill>
                <a:latin typeface="Rubik" pitchFamily="34" charset="0"/>
                <a:ea typeface="Rubik" pitchFamily="34" charset="-122"/>
                <a:cs typeface="Rubik" pitchFamily="34" charset="-120"/>
              </a:rPr>
              <a:t>SECTION 5 · DEBRIEF</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Why the bug (mostly) disappears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8061"/>
          <a:ext cx="10553700" cy="1929805"/>
        </p:xfrm>
        <a:graphic>
          <a:graphicData uri="http://schemas.openxmlformats.org/drawingml/2006/table">
            <a:tbl>
              <a:tblPr/>
              <a:tblGrid>
                <a:gridCol w="5276850"/>
                <a:gridCol w="5276850"/>
              </a:tblGrid>
              <a:tr h="385961">
                <a:tc>
                  <a:txBody>
                    <a:bodyPr/>
                    <a:lstStyle/>
                    <a:p>
                      <a:pPr indent="0" marL="0">
                        <a:lnSpc>
                          <a:spcPts val="1960"/>
                        </a:lnSpc>
                        <a:buNone/>
                      </a:pPr>
                      <a:r>
                        <a:rPr lang="en-US" sz="1400" b="1" dirty="0">
                          <a:solidFill>
                            <a:srgbClr val="3D4A5C"/>
                          </a:solidFill>
                          <a:latin typeface="Rubik" pitchFamily="34" charset="0"/>
                          <a:ea typeface="Rubik" pitchFamily="34" charset="-122"/>
                          <a:cs typeface="Rubik" pitchFamily="34" charset="-120"/>
                        </a:rPr>
                        <a:t>In the OOP version</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BAB9B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AB9B6"/>
                      </a:solidFill>
                      <a:prstDash val="solid"/>
                      <a:round/>
                      <a:headEnd type="none" w="med" len="med"/>
                      <a:tailEnd type="none" w="med" len="med"/>
                    </a:lnB>
                    <a:solidFill>
                      <a:srgbClr val="E9E8E4"/>
                    </a:solidFill>
                  </a:tcPr>
                </a:tc>
                <a:tc>
                  <a:txBody>
                    <a:bodyPr/>
                    <a:lstStyle/>
                    <a:p>
                      <a:pPr indent="0" marL="0">
                        <a:lnSpc>
                          <a:spcPts val="1960"/>
                        </a:lnSpc>
                        <a:buNone/>
                      </a:pPr>
                      <a:r>
                        <a:rPr lang="en-US" sz="1400" b="1" dirty="0">
                          <a:solidFill>
                            <a:srgbClr val="3D4A5C"/>
                          </a:solidFill>
                          <a:latin typeface="Rubik" pitchFamily="34" charset="0"/>
                          <a:ea typeface="Rubik" pitchFamily="34" charset="-122"/>
                          <a:cs typeface="Rubik" pitchFamily="34" charset="-120"/>
                        </a:rPr>
                        <a:t>In the FP version</a:t>
                      </a:r>
                      <a:endParaRPr lang="en-US" sz="1400" dirty="0">
                        <a:latin typeface="Rubik" charset="0"/>
                        <a:ea typeface="Rubik" charset="0"/>
                        <a:cs typeface="Rubik" charset="0"/>
                      </a:endParaRPr>
                    </a:p>
                  </a:txBody>
                  <a:tcPr marL="62230" marR="62230" marT="62230" marB="62230" anchor="t">
                    <a:lnL w="12700" cap="flat" cmpd="sng" algn="ctr">
                      <a:solidFill>
                        <a:srgbClr val="BAB9B6"/>
                      </a:solidFill>
                      <a:prstDash val="solid"/>
                      <a:round/>
                      <a:headEnd type="none" w="med" len="med"/>
                      <a:tailEnd type="none" w="med" len="med"/>
                    </a:lnL>
                    <a:lnR w="12700" cap="flat" cmpd="sng" algn="ctr">
                      <a:solidFill>
                        <a:srgbClr val="BAB9B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AB9B6"/>
                      </a:solidFill>
                      <a:prstDash val="solid"/>
                      <a:round/>
                      <a:headEnd type="none" w="med" len="med"/>
                      <a:tailEnd type="none" w="med" len="med"/>
                    </a:lnB>
                    <a:solidFill>
                      <a:srgbClr val="E9E8E4"/>
                    </a:solidFill>
                  </a:tcPr>
                </a:tc>
              </a:tr>
              <a:tr h="385961">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Rolls hidden inside an object between calls</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Rolls passed in as an argument, in plain sight</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85961">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A mutable list anything can append to</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A tuple: there’s no append to call</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85961">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Results depend on what ran before</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Results depend only on the input</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85961">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A human had to spot order-dependent failures</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No hidden state for the bug to live in</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bl>
          </a:graphicData>
        </a:graphic>
      </p:graphicFrame>
      <p:sp>
        <p:nvSpPr>
          <p:cNvPr id="5" name="Text 2"/>
          <p:cNvSpPr/>
          <p:nvPr/>
        </p:nvSpPr>
        <p:spPr>
          <a:xfrm>
            <a:off x="812800" y="4182666"/>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Rubik" pitchFamily="34" charset="0"/>
                <a:ea typeface="Rubik" pitchFamily="34" charset="-122"/>
                <a:cs typeface="Rubik" pitchFamily="34" charset="-120"/>
              </a:rPr>
              <a:t>Try to break it: run </a:t>
            </a:r>
            <a:r>
              <a:rPr lang="en-US" sz="1600" b="1" dirty="0">
                <a:solidFill>
                  <a:srgbClr val="3D4A5C"/>
                </a:solidFill>
                <a:latin typeface="Rubik" pitchFamily="34" charset="0"/>
                <a:ea typeface="Rubik" pitchFamily="34" charset="-122"/>
                <a:cs typeface="Rubik" pitchFamily="34" charset="-120"/>
              </a:rPr>
              <a:t>(1, 2).append(3)</a:t>
            </a:r>
            <a:r>
              <a:rPr lang="en-US" sz="1600" dirty="0">
                <a:solidFill>
                  <a:srgbClr val="3D4A5C"/>
                </a:solidFill>
                <a:latin typeface="Rubik" pitchFamily="34" charset="0"/>
                <a:ea typeface="Rubik" pitchFamily="34" charset="-122"/>
                <a:cs typeface="Rubik" pitchFamily="34" charset="-120"/>
              </a:rPr>
              <a:t>, then run the tests in 20 random orders.</a:t>
            </a:r>
            <a:endParaRPr lang="en-US" sz="16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85"/>
                </a:solidFill>
                <a:latin typeface="Rubik" pitchFamily="34" charset="0"/>
                <a:ea typeface="Rubik" pitchFamily="34" charset="-122"/>
                <a:cs typeface="Rubik" pitchFamily="34" charset="-120"/>
              </a:rPr>
              <a:t>Functional Programming with TDD · Part One</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BFA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A14"/>
                </a:solidFill>
                <a:latin typeface="Rubik" pitchFamily="34" charset="0"/>
                <a:ea typeface="Rubik" pitchFamily="34" charset="-122"/>
                <a:cs typeface="Rubik" pitchFamily="34" charset="-120"/>
              </a:rPr>
              <a:t>SECTION 6 · FP ON REAL PROJECTS</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Rubik" pitchFamily="34" charset="0"/>
                <a:ea typeface="Rubik" pitchFamily="34" charset="-122"/>
                <a:cs typeface="Rubik" pitchFamily="34" charset="-120"/>
              </a:rPr>
              <a:t>Take the ideas, not the whole religion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8061"/>
          <a:ext cx="10553700" cy="2676327"/>
        </p:xfrm>
        <a:graphic>
          <a:graphicData uri="http://schemas.openxmlformats.org/drawingml/2006/table">
            <a:tbl>
              <a:tblPr/>
              <a:tblGrid>
                <a:gridCol w="3166110"/>
                <a:gridCol w="3693795"/>
                <a:gridCol w="3693795"/>
              </a:tblGrid>
              <a:tr h="385961">
                <a:tc>
                  <a:txBody>
                    <a:bodyPr/>
                    <a:lstStyle/>
                    <a:p>
                      <a:pPr indent="0" marL="0">
                        <a:lnSpc>
                          <a:spcPts val="1960"/>
                        </a:lnSpc>
                        <a:buNone/>
                      </a:pPr>
                      <a:r>
                        <a:rPr lang="en-US" sz="1400" b="1" dirty="0">
                          <a:solidFill>
                            <a:srgbClr val="3D4A5C"/>
                          </a:solidFill>
                          <a:latin typeface="Rubik" pitchFamily="34" charset="0"/>
                          <a:ea typeface="Rubik" pitchFamily="34" charset="-122"/>
                          <a:cs typeface="Rubik" pitchFamily="34" charset="-120"/>
                        </a:rPr>
                        <a:t>Technique</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BAB9B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AB9B6"/>
                      </a:solidFill>
                      <a:prstDash val="solid"/>
                      <a:round/>
                      <a:headEnd type="none" w="med" len="med"/>
                      <a:tailEnd type="none" w="med" len="med"/>
                    </a:lnB>
                    <a:solidFill>
                      <a:srgbClr val="E9E8E4"/>
                    </a:solidFill>
                  </a:tcPr>
                </a:tc>
                <a:tc>
                  <a:txBody>
                    <a:bodyPr/>
                    <a:lstStyle/>
                    <a:p>
                      <a:pPr indent="0" marL="0">
                        <a:lnSpc>
                          <a:spcPts val="1960"/>
                        </a:lnSpc>
                        <a:buNone/>
                      </a:pPr>
                      <a:r>
                        <a:rPr lang="en-US" sz="1400" b="1" dirty="0">
                          <a:solidFill>
                            <a:srgbClr val="3D4A5C"/>
                          </a:solidFill>
                          <a:latin typeface="Rubik" pitchFamily="34" charset="0"/>
                          <a:ea typeface="Rubik" pitchFamily="34" charset="-122"/>
                          <a:cs typeface="Rubik" pitchFamily="34" charset="-120"/>
                        </a:rPr>
                        <a:t>Try it when</a:t>
                      </a:r>
                      <a:endParaRPr lang="en-US" sz="1400" dirty="0">
                        <a:latin typeface="Rubik" charset="0"/>
                        <a:ea typeface="Rubik" charset="0"/>
                        <a:cs typeface="Rubik" charset="0"/>
                      </a:endParaRPr>
                    </a:p>
                  </a:txBody>
                  <a:tcPr marL="62230" marR="62230" marT="62230" marB="62230" anchor="t">
                    <a:lnL w="12700" cap="flat" cmpd="sng" algn="ctr">
                      <a:solidFill>
                        <a:srgbClr val="BAB9B6"/>
                      </a:solidFill>
                      <a:prstDash val="solid"/>
                      <a:round/>
                      <a:headEnd type="none" w="med" len="med"/>
                      <a:tailEnd type="none" w="med" len="med"/>
                    </a:lnL>
                    <a:lnR w="12700" cap="flat" cmpd="sng" algn="ctr">
                      <a:solidFill>
                        <a:srgbClr val="BAB9B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AB9B6"/>
                      </a:solidFill>
                      <a:prstDash val="solid"/>
                      <a:round/>
                      <a:headEnd type="none" w="med" len="med"/>
                      <a:tailEnd type="none" w="med" len="med"/>
                    </a:lnB>
                    <a:solidFill>
                      <a:srgbClr val="E9E8E4"/>
                    </a:solidFill>
                  </a:tcPr>
                </a:tc>
                <a:tc>
                  <a:txBody>
                    <a:bodyPr/>
                    <a:lstStyle/>
                    <a:p>
                      <a:pPr indent="0" marL="0">
                        <a:lnSpc>
                          <a:spcPts val="1960"/>
                        </a:lnSpc>
                        <a:buNone/>
                      </a:pPr>
                      <a:r>
                        <a:rPr lang="en-US" sz="1400" b="1" dirty="0">
                          <a:solidFill>
                            <a:srgbClr val="3D4A5C"/>
                          </a:solidFill>
                          <a:latin typeface="Rubik" pitchFamily="34" charset="0"/>
                          <a:ea typeface="Rubik" pitchFamily="34" charset="-122"/>
                          <a:cs typeface="Rubik" pitchFamily="34" charset="-120"/>
                        </a:rPr>
                        <a:t>Careful when</a:t>
                      </a:r>
                      <a:endParaRPr lang="en-US" sz="1400" dirty="0">
                        <a:latin typeface="Rubik" charset="0"/>
                        <a:ea typeface="Rubik" charset="0"/>
                        <a:cs typeface="Rubik" charset="0"/>
                      </a:endParaRPr>
                    </a:p>
                  </a:txBody>
                  <a:tcPr marL="62230" marR="62230" marT="62230" marB="62230" anchor="t">
                    <a:lnL w="12700" cap="flat" cmpd="sng" algn="ctr">
                      <a:solidFill>
                        <a:srgbClr val="BAB9B6"/>
                      </a:solidFill>
                      <a:prstDash val="solid"/>
                      <a:round/>
                      <a:headEnd type="none" w="med" len="med"/>
                      <a:tailEnd type="none" w="med" len="med"/>
                    </a:lnL>
                    <a:lnR w="12700" cap="flat" cmpd="sng" algn="ctr">
                      <a:solidFill>
                        <a:srgbClr val="BAB9B6"/>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AB9B6"/>
                      </a:solidFill>
                      <a:prstDash val="solid"/>
                      <a:round/>
                      <a:headEnd type="none" w="med" len="med"/>
                      <a:tailEnd type="none" w="med" len="med"/>
                    </a:lnB>
                    <a:solidFill>
                      <a:srgbClr val="E9E8E4"/>
                    </a:solidFill>
                  </a:tcPr>
                </a:tc>
              </a:tr>
              <a:tr h="634802">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Pure functions</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Business rules: discounts, scoring, validation</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The logic is mostly calls to other systems</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634802">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Tuples, frozen dataclasses, sorted()</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Data passes between functions or threads</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Copying big data in a hot loop</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634802">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Core and shell</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Rules can be split from database and API code</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It’s a thin wrapper with no logic</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85961">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Recursion</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Nested data: trees, folders, JSON</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Rubik" pitchFamily="34" charset="0"/>
                          <a:ea typeface="Rubik" pitchFamily="34" charset="-122"/>
                          <a:cs typeface="Rubik" pitchFamily="34" charset="-120"/>
                        </a:rPr>
                        <a:t>Depth is unbounded in Python</a:t>
                      </a:r>
                      <a:endParaRPr lang="en-US" sz="1400" dirty="0">
                        <a:latin typeface="Rubik" charset="0"/>
                        <a:ea typeface="Rubik" charset="0"/>
                        <a:cs typeface="Rubik"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85"/>
                </a:solidFill>
                <a:latin typeface="Rubik" pitchFamily="34" charset="0"/>
                <a:ea typeface="Rubik" pitchFamily="34" charset="-122"/>
                <a:cs typeface="Rubik" pitchFamily="34" charset="-120"/>
              </a:rPr>
              <a:t>Functional Programming with TDD · Part One</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1632049"/>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65A"/>
                </a:solidFill>
                <a:latin typeface="Rubik" pitchFamily="34" charset="0"/>
                <a:ea typeface="Rubik" pitchFamily="34" charset="-122"/>
                <a:cs typeface="Rubik" pitchFamily="34" charset="-120"/>
              </a:rPr>
              <a:t>END OF PART ONE</a:t>
            </a:r>
            <a:endParaRPr lang="en-US" sz="1200" dirty="0"/>
          </a:p>
        </p:txBody>
      </p:sp>
      <p:sp>
        <p:nvSpPr>
          <p:cNvPr id="3" name="Text 1"/>
          <p:cNvSpPr/>
          <p:nvPr>
            <p:ph type="title"/>
          </p:nvPr>
        </p:nvSpPr>
        <p:spPr>
          <a:xfrm>
            <a:off x="812800" y="2200970"/>
            <a:ext cx="10883392" cy="160268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FBFAF6"/>
                </a:solidFill>
                <a:latin typeface="Rubik" pitchFamily="34" charset="0"/>
                <a:ea typeface="Rubik" pitchFamily="34" charset="-122"/>
                <a:cs typeface="Rubik" pitchFamily="34" charset="-120"/>
              </a:rPr>
              <a:t>You may never be paid to write Haskell. You will be paid to write code that’s easy to test and hard to break.</a:t>
            </a:r>
            <a:endParaRPr lang="en-US" sz="3600" dirty="0"/>
          </a:p>
        </p:txBody>
      </p:sp>
      <p:sp>
        <p:nvSpPr>
          <p:cNvPr id="4" name="Shape 2"/>
          <p:cNvSpPr/>
          <p:nvPr/>
        </p:nvSpPr>
        <p:spPr>
          <a:xfrm>
            <a:off x="812800" y="4146550"/>
            <a:ext cx="5130800" cy="0"/>
          </a:xfrm>
          <a:prstGeom prst="line">
            <a:avLst/>
          </a:prstGeom>
          <a:noFill/>
          <a:ln w="25400">
            <a:solidFill>
              <a:srgbClr val="F2A65A"/>
            </a:solidFill>
            <a:prstDash val="solid"/>
          </a:ln>
        </p:spPr>
      </p:sp>
      <p:sp>
        <p:nvSpPr>
          <p:cNvPr id="5" name="Text 3"/>
          <p:cNvSpPr/>
          <p:nvPr/>
        </p:nvSpPr>
        <p:spPr>
          <a:xfrm>
            <a:off x="812800" y="4337050"/>
            <a:ext cx="528472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A65A"/>
                </a:solidFill>
                <a:latin typeface="Rubik" pitchFamily="34" charset="0"/>
                <a:ea typeface="Rubik" pitchFamily="34" charset="-122"/>
                <a:cs typeface="Rubik" pitchFamily="34" charset="-120"/>
              </a:rPr>
              <a:t>Before you go · 3 min</a:t>
            </a:r>
            <a:endParaRPr lang="en-US" sz="1600" dirty="0"/>
          </a:p>
        </p:txBody>
      </p:sp>
      <p:sp>
        <p:nvSpPr>
          <p:cNvPr id="6" name="Text 4"/>
          <p:cNvSpPr/>
          <p:nvPr/>
        </p:nvSpPr>
        <p:spPr>
          <a:xfrm>
            <a:off x="812800" y="4657030"/>
            <a:ext cx="5284724"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FD0E6"/>
                </a:solidFill>
                <a:latin typeface="Rubik" pitchFamily="34" charset="0"/>
                <a:ea typeface="Rubik" pitchFamily="34" charset="-122"/>
                <a:cs typeface="Rubik" pitchFamily="34" charset="-120"/>
              </a:rPr>
              <a:t>Write down one function from your current project that could be made pure.</a:t>
            </a:r>
            <a:endParaRPr lang="en-US" sz="1600" dirty="0"/>
          </a:p>
        </p:txBody>
      </p:sp>
      <p:sp>
        <p:nvSpPr>
          <p:cNvPr id="7" name="Shape 5"/>
          <p:cNvSpPr/>
          <p:nvPr/>
        </p:nvSpPr>
        <p:spPr>
          <a:xfrm>
            <a:off x="6248400" y="4146550"/>
            <a:ext cx="5130800" cy="0"/>
          </a:xfrm>
          <a:prstGeom prst="line">
            <a:avLst/>
          </a:prstGeom>
          <a:noFill/>
          <a:ln w="25400">
            <a:solidFill>
              <a:srgbClr val="F2A65A"/>
            </a:solidFill>
            <a:prstDash val="solid"/>
          </a:ln>
        </p:spPr>
      </p:sp>
      <p:sp>
        <p:nvSpPr>
          <p:cNvPr id="8" name="Text 6"/>
          <p:cNvSpPr/>
          <p:nvPr/>
        </p:nvSpPr>
        <p:spPr>
          <a:xfrm>
            <a:off x="6248400" y="4337050"/>
            <a:ext cx="528472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A65A"/>
                </a:solidFill>
                <a:latin typeface="Rubik" pitchFamily="34" charset="0"/>
                <a:ea typeface="Rubik" pitchFamily="34" charset="-122"/>
                <a:cs typeface="Rubik" pitchFamily="34" charset="-120"/>
              </a:rPr>
              <a:t>Next</a:t>
            </a:r>
            <a:endParaRPr lang="en-US" sz="1600" dirty="0"/>
          </a:p>
        </p:txBody>
      </p:sp>
      <p:sp>
        <p:nvSpPr>
          <p:cNvPr id="9" name="Text 7"/>
          <p:cNvSpPr/>
          <p:nvPr/>
        </p:nvSpPr>
        <p:spPr>
          <a:xfrm>
            <a:off x="6248400" y="4657030"/>
            <a:ext cx="5284724"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FD0E6"/>
                </a:solidFill>
                <a:latin typeface="Rubik" pitchFamily="34" charset="0"/>
                <a:ea typeface="Rubik" pitchFamily="34" charset="-122"/>
                <a:cs typeface="Rubik" pitchFamily="34" charset="-120"/>
              </a:rPr>
              <a:t>A 10-minute break, then Part Two: the same ideas in Elm.</a:t>
            </a:r>
            <a:endParaRPr lang="en-US" sz="1600" dirty="0"/>
          </a:p>
        </p:txBody>
      </p:sp>
    </p:spTree>
  </p:cSld>
  <p:clrMapOvr>
    <a:masterClrMapping/>
  </p:clrMapOvr>
</p:sld>
</file>

<file path=ppt/theme/theme1.xml><?xml version="1.0" encoding="utf-8"?>
<a:theme xmlns:a="http://schemas.openxmlformats.org/drawingml/2006/main" name="FP with TDD - Part One">
  <a:themeElements>
    <a:clrScheme name="FP with TDD - Part One">
      <a:dk1>
        <a:srgbClr val="14213D"/>
      </a:dk1>
      <a:lt1>
        <a:srgbClr val="FBFAF6"/>
      </a:lt1>
      <a:dk2>
        <a:srgbClr val="4E576B"/>
      </a:dk2>
      <a:lt2>
        <a:srgbClr val="E4E4E4"/>
      </a:lt2>
      <a:accent1>
        <a:srgbClr val="A84A14"/>
      </a:accent1>
      <a:accent2>
        <a:srgbClr val="F2A65A"/>
      </a:accent2>
      <a:accent3>
        <a:srgbClr val="BFD0E6"/>
      </a:accent3>
      <a:accent4>
        <a:srgbClr val="3E5C86"/>
      </a:accent4>
      <a:accent5>
        <a:srgbClr val="8A1F1F"/>
      </a:accent5>
      <a:accent6>
        <a:srgbClr val="1E6B3A"/>
      </a:accent6>
      <a:hlink>
        <a:srgbClr val="0563C1"/>
      </a:hlink>
      <a:folHlink>
        <a:srgbClr val="954F72"/>
      </a:folHlink>
    </a:clrScheme>
    <a:fontScheme name="FP with TDD - Part One">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ubi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FP with TDD - Part One</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Rubik
Copyright 2015 The Rubik Project Authors (https://github.com/googlefonts/rubik)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2026-10-27T12:06:39Z</dcterms:created>
  <dcterms:modified xsi:type="dcterms:W3CDTF">2026-10-27T12:06:39Z</dcterms:modified>
</cp:coreProperties>
</file>